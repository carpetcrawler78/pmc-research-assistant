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2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3239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699954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PubMed Research Assistant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243147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Keyword Prediction - Literature Discovery - AI-powered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320040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Markus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31920" y="320040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Thomas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77840" y="320040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EA580C">
              <a:alpha val="15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580C"/>
                </a:solidFill>
              </a:rPr>
              <a:t>Viktor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7490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34,246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411480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Articles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37490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1,481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017520" y="411480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Journals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7490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2,749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46320" y="411480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Keywords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37490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75120" y="411480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FAISS Index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71600" y="475488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Capstone Project - neue fische AI Engineering Bootcamp 2025/2026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D97706">
              <a:alpha val="15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FEATURES - ALL RAG-POWERED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Research Assistant Can Do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417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Keyword Prediction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5216" y="17830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Author has abstract, no keywords yet. System predicts standard field terms for journal submission.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34440"/>
            <a:ext cx="54864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9856" y="1417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Similar Papers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19856" y="17830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Find the most relevant published work via semantic similarity over the full corpus.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234440"/>
            <a:ext cx="54864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417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Journal Recommender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54496" y="17830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Which journals publish papers with these keywords? Based on 1,481 journals in corpus.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54680"/>
            <a:ext cx="54864" cy="1737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3375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</a:rPr>
              <a:t>Related Keywords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5216" y="37033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'Researchers in your area also use...' — surfaced from co-occurrence clusters.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315468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154680"/>
            <a:ext cx="54864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9856" y="33375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Title Suggestions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19856" y="37033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Alternative title formulations grounded in similar published papers.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154680"/>
            <a:ext cx="2651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154680"/>
            <a:ext cx="54864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33375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Keyword Trends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54496" y="37033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Is my topic growing? Year distribution from retrieved similar papers.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2563EB">
              <a:alpha val="15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</a:rPr>
              <a:t>MOTIVATION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Keyword Prediction?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217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07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The Use Case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 researcher has written an abstract but has no keywords yet. Most journals require them for submission — standard field terms are not always obvious to the author.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6217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13432"/>
            <a:ext cx="54864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38658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Training Data Challenge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63347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Only 34.7% of PMC articles contain author-assigned keywords. These serve as ground-truth labels. Articles without keywords are the prediction target.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92424"/>
            <a:ext cx="6217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392424"/>
            <a:ext cx="54864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46557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Domain Bias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71246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We restricted to the non-commercial archive due to storage constraints. This skews the corpus toward clinical journals — a bias to account for in evaluation.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1234440"/>
            <a:ext cx="1828800" cy="32461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9440" y="13258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2563EB"/>
                </a:solidFill>
              </a:rPr>
              <a:t>CORPUS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49440" y="15727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~128k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26680" y="157276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XML files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20299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34,246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26680" y="202996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Extracted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24871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34.7%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26680" y="248716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Success rate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29443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1,481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26680" y="294436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Journals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9440" y="34015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2,749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26680" y="340156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Keywords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38587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2.26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26680" y="385876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Avg / article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94360" y="4572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STAKEHOLDERS  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920240" y="454456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/>
              <a:t>Universities - Science communicators - Scientific publishers - Students - Science journalists - Interested non-professionals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Vision &amp; Data Source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7C3AED"/>
                </a:solidFill>
              </a:rPr>
              <a:t>PROJECT IDEA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216" y="1554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Incremental modeling: start simple, increase capability each iteration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Step 1: Keyword Prediction — establish baseline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Step 2: Abstract generation from full paper text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Step 3: Prediction reliability — know when to trust output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Step 4: Full RAG system — the long-term vision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337560"/>
            <a:ext cx="54864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3401568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7C3AED"/>
                </a:solidFill>
              </a:rPr>
              <a:t>DATA SOURCE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85216" y="365760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PubMed Central (PMC) — NIH's free full-text biomedical archive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Open Access XML — structured JATS format, machine-readable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~128k articles available - 34,246 successfully extracted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0233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34440"/>
            <a:ext cx="54864" cy="2377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1456" y="1298448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7C3AED"/>
                </a:solidFill>
              </a:rPr>
              <a:t>RAG VISION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00600" y="153619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The ultimate goal: a Research Assistant where all features emerge from a single unified RAG pipeline grounded in the PMC corpus.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1456" y="219456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Abstract in -&gt; retrieve similar papers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Enrich context with domain knowledge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LLM generates all outputs from evidence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703320"/>
            <a:ext cx="4023360" cy="11887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91456" y="3767328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7C3AED"/>
                </a:solidFill>
              </a:rPr>
              <a:t>ROADMAP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00600" y="400507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OK  Keyword Prediction (Baseline)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418795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OK  Data Pipeline &amp; Cleaning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437083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WIP  RAG Integration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455371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Next  Abstract Generation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473659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Next  Reliability Scoring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DATA PIPELINE &amp; CLEANING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XML to Clean Training Data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7C3AED"/>
                </a:solidFill>
              </a:rPr>
              <a:t>EXTRACTION (Markus + Thomas)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216" y="1536192"/>
            <a:ext cx="38404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Parallel processing of ~128k XML files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Structured text: abstract, intro, methods, results, discussion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Precise keyword extraction from XML metadata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Filter: research articles only, non-empty abstracts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154680"/>
            <a:ext cx="54864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3218688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0D9488"/>
                </a:solidFill>
              </a:rPr>
              <a:t>CLEANING — All Three - final iteration: Thomas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85216" y="3456432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Encoding artefacts — mojibake fixed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Greek letter keywords removed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Chemical formula names filtered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Abbreviation expansions removed, standalone kept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Result: 2,749 valid keywords (min. 10 occurrences)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1828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3444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3441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34,246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63440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Articles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0391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after filtering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75120" y="1234440"/>
            <a:ext cx="1920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123444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3441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2,749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675120" y="1828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Keywords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20391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min. 10 occurrences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468880"/>
            <a:ext cx="4023360" cy="1371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91456" y="2532888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DC2626"/>
                </a:solidFill>
              </a:rPr>
              <a:t>⚑ KEY CHALLENGE: SPARSITY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0600" y="27614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2,749 keywords × 34,246 articles -&gt; ~94M binary cells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9809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Only 0.082% non-zero — extreme class imbalance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1821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e.g. 11 positive vs. 19,000 negative cases per keyword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931920"/>
            <a:ext cx="1920240" cy="96012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pic>
        <p:nvPicPr>
          <p:cNvPr id="29" name="Image 0" descr="/home/claude/pngs/keyword_hi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3977640"/>
            <a:ext cx="1828800" cy="86868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663440" y="491032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Keywords per article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675120" y="3931920"/>
            <a:ext cx="1920240" cy="96012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pic>
        <p:nvPicPr>
          <p:cNvPr id="32" name="Image 1" descr="/home/claude/pngs/wordclou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20840" y="3977640"/>
            <a:ext cx="1828800" cy="86868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675120" y="491032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Most frequent keywords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BASELINE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NLP: Three Iterations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852160" cy="21031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984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0D9488"/>
                </a:solidFill>
              </a:rPr>
              <a:t>EXPERIMENT PROGRESSION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5760720" cy="153619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Approach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micro-F1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Note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Term frequency + logistic regression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0.205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First run — often empty predictions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Same + stronger regularization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0.006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Over-regularized — worse than random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Term frequency + semantic compression + linear classifier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0.306</a:t>
                      </a:r>
                      <a:endParaRPr lang="en-US" sz="12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OK Best result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42900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3429000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349300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Term Frequency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37490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Converts text to numeric weights — how characteristic is each word?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423160" y="342900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23160" y="3429000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0" y="349300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Semantic Compression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60320" y="37490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Reduces 50k words to 300 latent topics — finds related concepts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389120" y="342900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89120" y="3429000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26280" y="349300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Linear Classifier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26280" y="37490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One binary classifier per keyword, class-balanced for sparsity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92240" y="1234440"/>
            <a:ext cx="2194560" cy="18288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pic>
        <p:nvPicPr>
          <p:cNvPr id="21" name="Image 0" descr="/home/claude/pngs/f1_threshol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37960" y="1280160"/>
            <a:ext cx="2103120" cy="17373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492240" y="308152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F1 vs. threshold — peak at t=0.10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519672" y="3291840"/>
            <a:ext cx="21945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492240" y="3264925"/>
            <a:ext cx="54864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92240" y="326440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0.306</a:t>
            </a:r>
            <a:endParaRPr lang="en-US" sz="3200" dirty="0"/>
          </a:p>
        </p:txBody>
      </p:sp>
      <p:sp>
        <p:nvSpPr>
          <p:cNvPr id="26" name="Text 22"/>
          <p:cNvSpPr/>
          <p:nvPr/>
        </p:nvSpPr>
        <p:spPr>
          <a:xfrm>
            <a:off x="6492240" y="37490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micro-F1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492240" y="395935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Best baseline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Baseline Reveals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0116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9844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2563EB"/>
                </a:solidFill>
              </a:rPr>
              <a:t>EXAMPLE PREDICTIONS vs. GROUND TRUTH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891192"/>
              </p:ext>
            </p:extLst>
          </p:nvPr>
        </p:nvGraphicFramePr>
        <p:xfrm>
          <a:off x="502920" y="1536192"/>
          <a:ext cx="7863840" cy="16002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9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3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Article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True Keywords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LogReg C=1.0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LinearSVC+LSA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#1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learning curve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empty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empty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#2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dog - e.coli - urinary tract infection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empty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e.coli OK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#3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cns - microglia - tnf - il interleukin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empty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empty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#4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craniotomy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empty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empty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33756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C2626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3337560"/>
            <a:ext cx="54864" cy="1554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3401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367588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Classical models see only word frequencies. They cannot know that 'microglia' implies 'neuroinflammation'.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91840" y="333756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3337560"/>
            <a:ext cx="54864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29000" y="3401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The Limitation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29000" y="367588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2,749 independent classifiers with extreme imbalance. Rare, specific keywords almost never predicted.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26480" y="333756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3337560"/>
            <a:ext cx="54864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63640" y="3401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63640" y="367588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Retrieve similar papers that already have keywords. Use their labels as evidence. Let the LLM reason over context.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Keyword Relationships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2103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EA580C"/>
                </a:solidFill>
              </a:rPr>
              <a:t>APPROACH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216" y="1554480"/>
            <a:ext cx="38404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Count how often two keywords appear together across articles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Build an adjacency matrix of keyword co-occurrences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Apply logarithmic scaling to reduce frequency dominance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Result: a graph where edge weight = semantic relatedness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4023360" cy="1463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" y="3493008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EA580C"/>
                </a:solidFill>
              </a:rPr>
              <a:t>STRONGEST RELATIONSHIPS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374904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</a:rPr>
              <a:t>140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374904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epidemiology ↔ public health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968496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</a:rPr>
              <a:t>65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96849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depression ↔ anxiety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418795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</a:rPr>
              <a:t>55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418795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ca²⁺ ↔ calcium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440740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</a:rPr>
              <a:t>49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40740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obesity ↔ body mass index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62686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</a:rPr>
              <a:t>~40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62686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public health ↔ preventive medicine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234440"/>
            <a:ext cx="4023360" cy="32004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pic>
        <p:nvPicPr>
          <p:cNvPr id="22" name="Image 0" descr="/home/claude/pngs/keyword_networ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280160"/>
            <a:ext cx="3931920" cy="31089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663440" y="445312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Force-directed keyword network — each component = research domain</a:t>
            </a:r>
            <a:endParaRPr lang="en-US" sz="90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2DA12B9A-6FBB-807E-0571-A547A15C94F6}"/>
              </a:ext>
            </a:extLst>
          </p:cNvPr>
          <p:cNvSpPr/>
          <p:nvPr/>
        </p:nvSpPr>
        <p:spPr>
          <a:xfrm>
            <a:off x="457200" y="27432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A580C">
              <a:alpha val="15000"/>
            </a:srgbClr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5DB09E37-475D-A6D2-2BD4-D40BF3C4032C}"/>
              </a:ext>
            </a:extLst>
          </p:cNvPr>
          <p:cNvSpPr/>
          <p:nvPr/>
        </p:nvSpPr>
        <p:spPr>
          <a:xfrm>
            <a:off x="45720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A580C"/>
                </a:solidFill>
              </a:rPr>
              <a:t>CLUSTERING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A580C">
              <a:alpha val="15000"/>
            </a:srgbClr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A580C"/>
                </a:solidFill>
              </a:rPr>
              <a:t>CLUSTERING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Clusters -&gt; Domain Labels for LLM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Graph-based clustering groups keywords by co-occurrence patterns into semantic domains.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54864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727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</a:rPr>
              <a:t>C0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572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Plant Biology / Genomics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8105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arabidopsis, photosynthesis, rice, transcriptome, oryza sativa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176272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76272"/>
            <a:ext cx="54864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402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</a:rPr>
              <a:t>C1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240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Clinical / Epidemiology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47802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epidemiology, laparoscopy, obesity, inflammation, depression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843784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43784"/>
            <a:ext cx="54864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077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</a:rPr>
              <a:t>C2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9077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Oncology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14553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apoptosis, cancer, tumor, cell proliferation, metastasis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511296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511296"/>
            <a:ext cx="54864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5753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</a:rPr>
              <a:t>C3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5753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Neuroscience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381304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brain, neurons, alzheimer, parkinson, neurodegeneration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178808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178808"/>
            <a:ext cx="54864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242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</a:rPr>
              <a:t>C4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42428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Immunology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448056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immune response, cytokines, t-cells, inflammation, antibody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87375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+ 5 more clusters (Cardiology, Microbiology, Biochemistry...)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1234440"/>
            <a:ext cx="25603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1234440"/>
            <a:ext cx="54864" cy="1005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13441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126480" y="18288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Semantic Clusters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203911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2,960 keywords grouped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233172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2331720"/>
            <a:ext cx="54864" cy="1828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4496" y="2395728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EA580C"/>
                </a:solidFill>
              </a:rPr>
              <a:t>RAG INTEGRATION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17920" y="2849620"/>
            <a:ext cx="2377440" cy="1329188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Assign abstract to nearest cluster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Pass domain label to LLM prompt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Narrows keyword search space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Better precision for domain terms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26480" y="4251960"/>
            <a:ext cx="2560320" cy="73152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pic>
        <p:nvPicPr>
          <p:cNvPr id="42" name="Image 0" descr="/home/claude/pngs/keyword_cooccurrence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72200" y="4297680"/>
            <a:ext cx="2468880" cy="64008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6126480" y="500176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Co-occurrence heatmap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D97706">
              <a:alpha val="15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FUTURE SYSTEM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Feed the RAG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0" y="1188720"/>
            <a:ext cx="3657600" cy="457200"/>
          </a:xfrm>
          <a:prstGeom prst="rect">
            <a:avLst/>
          </a:prstGeom>
          <a:solidFill>
            <a:srgbClr val="2563EB">
              <a:alpha val="12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INPUT: Abstract (no keywords yet)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517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213055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Candidate Keywords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" y="23408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Fast classical NLP generates a shortlist as context hint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828800"/>
            <a:ext cx="26517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A580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828800"/>
            <a:ext cx="54864" cy="1188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213055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Domain Label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19856" y="23408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Cluster assignment tells LLM which research domain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828800"/>
            <a:ext cx="26517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828800"/>
            <a:ext cx="54864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213055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Similar Papers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54496" y="23408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Semantic retrieval finds relevant published work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8229600" cy="685800"/>
          </a:xfrm>
          <a:prstGeom prst="rect">
            <a:avLst/>
          </a:prstGeom>
          <a:solidFill>
            <a:srgbClr val="D97706">
              <a:alpha val="12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54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sym typeface="Wingdings" panose="05000000000000000000" pitchFamily="2" charset="2"/>
              </a:rPr>
              <a:t></a:t>
            </a:r>
            <a:r>
              <a:rPr lang="en-US" sz="1200" b="1" dirty="0">
                <a:solidFill>
                  <a:srgbClr val="D97706"/>
                </a:solidFill>
              </a:rPr>
              <a:t> RAG PIPELINE  —  Context = Similar Papers + Candidate Keywords + Domain Label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5021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</a:rPr>
              <a:t>LLM reasons over evidence -&gt; </a:t>
            </a:r>
            <a:r>
              <a:rPr lang="en-US" sz="1000" b="1" dirty="0">
                <a:solidFill>
                  <a:srgbClr val="0F172A"/>
                </a:solidFill>
              </a:rPr>
              <a:t>generates all outputs</a:t>
            </a:r>
            <a:endParaRPr lang="en-US" sz="1000" b="1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776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KWD  Keywords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397764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9776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SIM  Similar Papers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97764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39776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JRN  Journal Recommender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361688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3616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REL  Related Keywords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91840" y="4361688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43616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TTL  Title Suggestions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4361688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43616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</a:rPr>
              <a:t>TRD  Keyword Trends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D97706">
              <a:alpha val="15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TECHNICAL CHALLENGES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Development to Production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2743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0D9488"/>
                </a:solidFill>
              </a:rPr>
              <a:t>Dev:  DURING DEVELOPMENT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216" y="1554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Semantic index build: one-time ~10 min on CPU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Classical NLP components: already trained, milliseconds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Local LLM: 10–30s per response on CPU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Bottleneck: LLM latency slows iteration cycles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Pragmatic approach: hosted LLM API during prototyping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069080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406908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4133088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2563EB"/>
                </a:solidFill>
              </a:rPr>
              <a:t>DEMO STACK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43708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Semantic index - allenai-specter  |  LLM - Claude API  |  Frontend - Lovable.dev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02336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34440"/>
            <a:ext cx="54864" cy="2743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1456" y="1298448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D97706"/>
                </a:solidFill>
              </a:rPr>
              <a:t>Prod:  FOR PRODUCTION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54480"/>
          <a:ext cx="3840480" cy="19202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Requirement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Minimum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Comfortable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Semantic search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Any CPU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Any CPU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LLM inference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GPU 8GB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GPU 16GB+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Total RAM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16 GB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32 GB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Response time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&lt; 5s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&lt; 2s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Concurrent users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1 (local)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Dedicated server</a:t>
                      </a:r>
                      <a:endParaRPr lang="en-US" sz="1000" dirty="0"/>
                    </a:p>
                  </a:txBody>
                  <a:tcPr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663440" y="4069080"/>
            <a:ext cx="4023360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791456" y="4133088"/>
            <a:ext cx="3895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2563EB"/>
                </a:solidFill>
              </a:rPr>
              <a:t>TRADEOFF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00600" y="43708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Local LLM: full control, higher latency  -  Hosted API: fast, external dependency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kern="0" spc="200" dirty="0">
                <a:solidFill>
                  <a:srgbClr val="D97706"/>
                </a:solidFill>
              </a:rPr>
              <a:t>SUMMARY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71600" y="7772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27889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475569"/>
                </a:solidFill>
              </a:rPr>
              <a:t>POSSIBLE FUTURE DIRECTIONS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71600" y="3090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-&gt;  Connect all components into a full RAG pipeline and evaluate against baseline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343814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-&gt;  Journal recommendation based on keyword-to-journal mapping in the corpus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37856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-&gt;  Keyword trend analysis using publication year distribution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4133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-&gt;  Abstract generation from full paper text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4480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-&gt;  Prediction reliability scoring — know when to trust the output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1242</Words>
  <Application>Microsoft Office PowerPoint</Application>
  <PresentationFormat>Bildschirmpräsentation (16:9)</PresentationFormat>
  <Paragraphs>266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PMC Research Assistant — Capstone 1</dc:title>
  <dc:subject>PptxGenJS Presentation</dc:subject>
  <dc:creator>PptxGenJS</dc:creator>
  <cp:lastModifiedBy>Th Heger</cp:lastModifiedBy>
  <cp:revision>3</cp:revision>
  <dcterms:created xsi:type="dcterms:W3CDTF">2026-03-15T21:48:11Z</dcterms:created>
  <dcterms:modified xsi:type="dcterms:W3CDTF">2026-03-16T12:16:05Z</dcterms:modified>
</cp:coreProperties>
</file>