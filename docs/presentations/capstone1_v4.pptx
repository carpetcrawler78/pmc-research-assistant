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6" r:id="rId6"/>
    <p:sldId id="267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9B015E-D2EA-4518-9D0B-C1605433E9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0FDDDE8-5EB9-47B9-A8A8-6656519D5D9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C562CE4-1409-4C83-8B23-EA1BE338E3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4BDBF26-B40A-4A9F-B31A-DD109BCC6B4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3BF69B9-5C13-438A-98E5-E60D197AF27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AD31409-9DCC-4578-B457-C142D687EE6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9439C31-3FC1-4A33-850C-0F26BA9CD9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371600" y="1394623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PaperForge</a:t>
            </a:r>
            <a: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– </a:t>
            </a:r>
            <a:b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PubMed Research Assistant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828800" y="3131657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Keyword Trends · Literature Discovery · Offline RAG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286000" y="3634577"/>
            <a:ext cx="1371240" cy="32868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2286000" y="3634577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Markus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931920" y="3634577"/>
            <a:ext cx="1371240" cy="328680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931920" y="3634577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Thomas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577840" y="3634577"/>
            <a:ext cx="1371240" cy="328680"/>
          </a:xfrm>
          <a:prstGeom prst="roundRect">
            <a:avLst>
              <a:gd name="adj" fmla="val 50000"/>
            </a:avLst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577840" y="3634577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Viktor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371600" y="4754880"/>
            <a:ext cx="6400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Capstone 1 · neue fische AI Engineering Bootcamp 2025/2026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457200" y="182880"/>
            <a:ext cx="2559960" cy="23724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18288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dirty="0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THE OBJECTIVE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The Objective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57200" y="1097280"/>
            <a:ext cx="40230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Build an offline RAG system over PubMed Open Access papers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Multi-hop reasoning across papers — draw conclusions, check plausibility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gg sans"/>
                <a:ea typeface="Calibri"/>
              </a:rPr>
              <a:t>Predict reliablilty before anwer generation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Stakeholders: Academia · Companies with offline RAG needs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457200" y="2697480"/>
            <a:ext cx="1234080" cy="8226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5720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PubMed XML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2.3 Mio → 10K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1691640" y="3108960"/>
            <a:ext cx="18288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1874520" y="2697480"/>
            <a:ext cx="1234080" cy="822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187452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Parse &amp;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3108960" y="3108960"/>
            <a:ext cx="18288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3291840" y="2697480"/>
            <a:ext cx="1234080" cy="822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329184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Baseline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4526280" y="3108960"/>
            <a:ext cx="18288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4709160" y="2697480"/>
            <a:ext cx="1234080" cy="822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470916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Semantic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Clusters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6"/>
          <p:cNvSpPr/>
          <p:nvPr/>
        </p:nvSpPr>
        <p:spPr>
          <a:xfrm>
            <a:off x="5943600" y="3108960"/>
            <a:ext cx="18288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6126480" y="2697480"/>
            <a:ext cx="1234080" cy="822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612648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FAISS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Index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7360920" y="3108960"/>
            <a:ext cx="18288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7543800" y="2697480"/>
            <a:ext cx="1234080" cy="822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7543800" y="2697480"/>
            <a:ext cx="1234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RAG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Pipeline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457200" y="3794760"/>
            <a:ext cx="1508400" cy="292320"/>
          </a:xfrm>
          <a:prstGeom prst="roundRect">
            <a:avLst>
              <a:gd name="adj" fmla="val 31250"/>
            </a:avLst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457200" y="379476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Multi Agent RAG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2148840" y="3794760"/>
            <a:ext cx="1508400" cy="292320"/>
          </a:xfrm>
          <a:prstGeom prst="roundRect">
            <a:avLst>
              <a:gd name="adj" fmla="val 31250"/>
            </a:avLst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2148840" y="379476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Similar Papers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3840480" y="3794760"/>
            <a:ext cx="1508400" cy="292320"/>
          </a:xfrm>
          <a:prstGeom prst="roundRect">
            <a:avLst>
              <a:gd name="adj" fmla="val 31250"/>
            </a:avLst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7"/>
          <p:cNvSpPr/>
          <p:nvPr/>
        </p:nvSpPr>
        <p:spPr>
          <a:xfrm>
            <a:off x="3840480" y="379476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Journal Recommendation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8"/>
          <p:cNvSpPr/>
          <p:nvPr/>
        </p:nvSpPr>
        <p:spPr>
          <a:xfrm>
            <a:off x="5532120" y="3794760"/>
            <a:ext cx="1508400" cy="292320"/>
          </a:xfrm>
          <a:prstGeom prst="roundRect">
            <a:avLst>
              <a:gd name="adj" fmla="val 31250"/>
            </a:avLst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5532120" y="379476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Keyword Trends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0"/>
          <p:cNvSpPr/>
          <p:nvPr/>
        </p:nvSpPr>
        <p:spPr>
          <a:xfrm>
            <a:off x="7223760" y="3794760"/>
            <a:ext cx="1508400" cy="292320"/>
          </a:xfrm>
          <a:prstGeom prst="roundRect">
            <a:avLst>
              <a:gd name="adj" fmla="val 31250"/>
            </a:avLst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7223760" y="379476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Title Suggestions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2"/>
          <p:cNvSpPr/>
          <p:nvPr/>
        </p:nvSpPr>
        <p:spPr>
          <a:xfrm>
            <a:off x="457200" y="413316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Possible outputs (future)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457200" y="182880"/>
            <a:ext cx="2377080" cy="23724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18288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dirty="0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WHAT WE HAVE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What We Have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457200" y="1143000"/>
            <a:ext cx="8229240" cy="731160"/>
          </a:xfrm>
          <a:prstGeom prst="rect">
            <a:avLst/>
          </a:prstGeom>
          <a:solidFill>
            <a:srgbClr val="0D9488">
              <a:alpha val="8000"/>
            </a:srgbClr>
          </a:solidFill>
          <a:ln w="762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457200" y="1143000"/>
            <a:ext cx="54360" cy="731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640080" y="12070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Data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640080" y="14904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10k articles · 16 columns · full text sections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57200" y="2057400"/>
            <a:ext cx="8229240" cy="731160"/>
          </a:xfrm>
          <a:prstGeom prst="rect">
            <a:avLst/>
          </a:prstGeom>
          <a:solidFill>
            <a:srgbClr val="0D9488">
              <a:alpha val="8000"/>
            </a:srgbClr>
          </a:solidFill>
          <a:ln w="762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457200" y="2057400"/>
            <a:ext cx="54360" cy="731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640080" y="21214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Simple Retrieval 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640080" y="24048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 Benchmarks yet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457200" y="2971800"/>
            <a:ext cx="8229240" cy="731160"/>
          </a:xfrm>
          <a:prstGeom prst="rect">
            <a:avLst/>
          </a:prstGeom>
          <a:solidFill>
            <a:srgbClr val="EA580C">
              <a:alpha val="8000"/>
            </a:srgbClr>
          </a:solidFill>
          <a:ln w="762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457200" y="2971800"/>
            <a:ext cx="54360" cy="731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640080" y="30358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Semantic Clusters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640080" y="33192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domain clusters stored in DataFrame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457200" y="3886200"/>
            <a:ext cx="8229240" cy="731160"/>
          </a:xfrm>
          <a:prstGeom prst="rect">
            <a:avLst/>
          </a:prstGeom>
          <a:solidFill>
            <a:srgbClr val="2563EB">
              <a:alpha val="8000"/>
            </a:srgbClr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457200" y="3886200"/>
            <a:ext cx="54360" cy="731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640080" y="39502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FAISS Index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640080" y="42336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started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— semantic similarity over abstracts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2.6Mio articles from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 in XML format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baseline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focused on a 127,999 XML file due to storage constraints</a:t>
            </a:r>
            <a:endParaRPr lang="en-US" sz="1200" b="1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→ 44,393 raw articles</a:t>
            </a:r>
            <a:b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articles only, no articles without 	keywords, or sections too short</a:t>
            </a:r>
            <a:endParaRPr lang="en-US" sz="1200" i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→ 34,246 clean articles</a:t>
            </a:r>
          </a:p>
          <a:p>
            <a:pPr lvl="2">
              <a:spcAft>
                <a:spcPts val="400"/>
              </a:spcAft>
              <a:buSzPct val="100000"/>
            </a:pP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 symbols in keywords removed</a:t>
            </a:r>
            <a:b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&gt;= 10x frequency of each keyword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b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keywords: 2749</a:t>
            </a:r>
          </a:p>
          <a:p>
            <a:pPr lvl="2">
              <a:spcAft>
                <a:spcPts val="400"/>
              </a:spcAft>
              <a:buSzPct val="100000"/>
            </a:pPr>
            <a:endParaRPr lang="en-US" sz="12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9D2F929-E157-4B2D-9C51-55E43A76F4A5}"/>
              </a:ext>
            </a:extLst>
          </p:cNvPr>
          <p:cNvGrpSpPr/>
          <p:nvPr/>
        </p:nvGrpSpPr>
        <p:grpSpPr>
          <a:xfrm>
            <a:off x="4572000" y="1097280"/>
            <a:ext cx="4023360" cy="498883"/>
            <a:chOff x="4572000" y="1097280"/>
            <a:chExt cx="4023360" cy="498883"/>
          </a:xfrm>
        </p:grpSpPr>
        <p:sp>
          <p:nvSpPr>
            <p:cNvPr id="7" name="Shape 5"/>
            <p:cNvSpPr/>
            <p:nvPr/>
          </p:nvSpPr>
          <p:spPr>
            <a:xfrm>
              <a:off x="4572000" y="1097280"/>
              <a:ext cx="4023360" cy="498883"/>
            </a:xfrm>
            <a:prstGeom prst="rect">
              <a:avLst/>
            </a:prstGeom>
            <a:solidFill>
              <a:srgbClr val="64748B">
                <a:alpha val="20000"/>
              </a:srgbClr>
            </a:solidFill>
            <a:ln w="10160">
              <a:solidFill>
                <a:srgbClr val="64748B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572000" y="1124712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2.6Mio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669280" y="1261872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XML files in </a:t>
              </a:r>
              <a:r>
                <a:rPr lang="en-US" sz="1000" dirty="0" err="1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Pubmed</a:t>
              </a: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Central archives</a:t>
              </a:r>
              <a:endParaRPr lang="en-US" sz="1000" dirty="0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01D7FBF-142F-E8EE-228F-C84392C3D0FD}"/>
              </a:ext>
            </a:extLst>
          </p:cNvPr>
          <p:cNvGrpSpPr/>
          <p:nvPr/>
        </p:nvGrpSpPr>
        <p:grpSpPr>
          <a:xfrm>
            <a:off x="4754880" y="2710300"/>
            <a:ext cx="3657600" cy="498472"/>
            <a:chOff x="4754880" y="2617160"/>
            <a:chExt cx="3657600" cy="498472"/>
          </a:xfrm>
        </p:grpSpPr>
        <p:sp>
          <p:nvSpPr>
            <p:cNvPr id="10" name="Shape 8"/>
            <p:cNvSpPr/>
            <p:nvPr/>
          </p:nvSpPr>
          <p:spPr>
            <a:xfrm>
              <a:off x="4754880" y="2617160"/>
              <a:ext cx="3657600" cy="498472"/>
            </a:xfrm>
            <a:prstGeom prst="rect">
              <a:avLst/>
            </a:prstGeom>
            <a:solidFill>
              <a:srgbClr val="0D9488">
                <a:alpha val="20000"/>
              </a:srgbClr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754880" y="2644592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44,393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852160" y="278175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articles extracted</a:t>
              </a:r>
              <a:endParaRPr lang="en-US" sz="1000" dirty="0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5EA84859-EACC-B654-7AC9-9DE167B49F0B}"/>
              </a:ext>
            </a:extLst>
          </p:cNvPr>
          <p:cNvGrpSpPr/>
          <p:nvPr/>
        </p:nvGrpSpPr>
        <p:grpSpPr>
          <a:xfrm>
            <a:off x="4937760" y="3500610"/>
            <a:ext cx="3291840" cy="468156"/>
            <a:chOff x="4937760" y="3197928"/>
            <a:chExt cx="3291840" cy="468156"/>
          </a:xfrm>
        </p:grpSpPr>
        <p:sp>
          <p:nvSpPr>
            <p:cNvPr id="13" name="Shape 11"/>
            <p:cNvSpPr/>
            <p:nvPr/>
          </p:nvSpPr>
          <p:spPr>
            <a:xfrm>
              <a:off x="4937760" y="3197928"/>
              <a:ext cx="3291840" cy="468156"/>
            </a:xfrm>
            <a:prstGeom prst="rect">
              <a:avLst/>
            </a:prstGeom>
            <a:solidFill>
              <a:srgbClr val="0D9488">
                <a:alpha val="20000"/>
              </a:srgbClr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937760" y="3225360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34,246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035040" y="3362520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 articles (filtered)</a:t>
              </a:r>
              <a:endParaRPr lang="en-US" sz="1000" dirty="0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C2AC6F18-02A2-8C91-6401-888FC62CABBD}"/>
              </a:ext>
            </a:extLst>
          </p:cNvPr>
          <p:cNvGrpSpPr/>
          <p:nvPr/>
        </p:nvGrpSpPr>
        <p:grpSpPr>
          <a:xfrm>
            <a:off x="5120640" y="4260605"/>
            <a:ext cx="2926080" cy="512723"/>
            <a:chOff x="5120640" y="4112328"/>
            <a:chExt cx="2926080" cy="512723"/>
          </a:xfrm>
        </p:grpSpPr>
        <p:sp>
          <p:nvSpPr>
            <p:cNvPr id="16" name="Shape 14"/>
            <p:cNvSpPr/>
            <p:nvPr/>
          </p:nvSpPr>
          <p:spPr>
            <a:xfrm>
              <a:off x="5120640" y="4112328"/>
              <a:ext cx="2926080" cy="512723"/>
            </a:xfrm>
            <a:prstGeom prst="rect">
              <a:avLst/>
            </a:prstGeom>
            <a:solidFill>
              <a:srgbClr val="EA580C">
                <a:alpha val="20000"/>
              </a:srgbClr>
            </a:solidFill>
            <a:ln w="10160">
              <a:solidFill>
                <a:srgbClr val="EA580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120640" y="4139760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2,749</a:t>
              </a:r>
              <a:endParaRPr lang="en-US" sz="1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17920" y="427692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 keywords (min. 10×)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4572000" y="48006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Funnel</a:t>
            </a:r>
            <a:endParaRPr lang="en-US" sz="800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D606B2A-712E-53A5-ACD9-7D98A5672147}"/>
              </a:ext>
            </a:extLst>
          </p:cNvPr>
          <p:cNvGrpSpPr/>
          <p:nvPr/>
        </p:nvGrpSpPr>
        <p:grpSpPr>
          <a:xfrm>
            <a:off x="4721926" y="1904585"/>
            <a:ext cx="3657600" cy="513877"/>
            <a:chOff x="4721926" y="1756308"/>
            <a:chExt cx="3657600" cy="513877"/>
          </a:xfrm>
        </p:grpSpPr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9F466B49-05D6-14B1-99DA-E6CF05141707}"/>
                </a:ext>
              </a:extLst>
            </p:cNvPr>
            <p:cNvSpPr/>
            <p:nvPr/>
          </p:nvSpPr>
          <p:spPr>
            <a:xfrm>
              <a:off x="4721926" y="1756308"/>
              <a:ext cx="3657600" cy="513877"/>
            </a:xfrm>
            <a:prstGeom prst="rect">
              <a:avLst/>
            </a:prstGeom>
            <a:solidFill>
              <a:srgbClr val="0D9488">
                <a:alpha val="20000"/>
              </a:srgbClr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01343E8B-A1B2-BB48-0729-9A440274CB30}"/>
                </a:ext>
              </a:extLst>
            </p:cNvPr>
            <p:cNvSpPr/>
            <p:nvPr/>
          </p:nvSpPr>
          <p:spPr>
            <a:xfrm>
              <a:off x="4721926" y="1783740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127,999</a:t>
              </a:r>
              <a:endParaRPr lang="en-US" sz="18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150B339C-0A55-6F99-A60A-0C546DBC9945}"/>
                </a:ext>
              </a:extLst>
            </p:cNvPr>
            <p:cNvSpPr/>
            <p:nvPr/>
          </p:nvSpPr>
          <p:spPr>
            <a:xfrm>
              <a:off x="5819206" y="1920900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articles extracted from a part of the overall dataset:</a:t>
              </a:r>
              <a:b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(open-access, non-commercial, baseline)</a:t>
              </a:r>
              <a:endParaRPr lang="en-US" sz="1000" dirty="0"/>
            </a:p>
          </p:txBody>
        </p: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DF62751F-0922-2BC7-1ED0-1ED1A44B5851}"/>
              </a:ext>
            </a:extLst>
          </p:cNvPr>
          <p:cNvSpPr txBox="1"/>
          <p:nvPr/>
        </p:nvSpPr>
        <p:spPr>
          <a:xfrm>
            <a:off x="4635433" y="1612559"/>
            <a:ext cx="150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FOR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Metric: Baseline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75099"/>
            <a:ext cx="3931920" cy="3543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from article titles and abstracts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each article has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keywords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imbalance – only few keywords per article out of 2749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b="1" dirty="0"/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BASELINE:</a:t>
            </a:r>
            <a:br>
              <a:rPr lang="en-US" sz="11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We trained a separate linear classifier for each of the 2,749 keywords — does this article belong to keyword X, yes or no?</a:t>
            </a:r>
          </a:p>
          <a:p>
            <a:pPr>
              <a:spcAft>
                <a:spcPts val="400"/>
              </a:spcAft>
              <a:buSzPct val="100000"/>
            </a:pPr>
            <a:endParaRPr lang="en-US" sz="11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micro-F1: weighted by </a:t>
            </a: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equal weight </a:t>
            </a: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shows rare keyword weakness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lowered by threshold tuning:</a:t>
            </a:r>
            <a:b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t=0.10 optimal (default 0.5 too high)</a:t>
            </a:r>
          </a:p>
          <a:p>
            <a:pPr>
              <a:spcAft>
                <a:spcPts val="400"/>
              </a:spcAft>
              <a:buSzPct val="100000"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micro-F1 = 0.306 · macro-F1 = 0.156</a:t>
            </a:r>
            <a:endParaRPr lang="en-US" sz="1100" b="1" i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outlook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Precision@k (retrieval) + end-to-end F1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114800" cy="19659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pngs/f1_threshol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9432" y="1078992"/>
            <a:ext cx="4059936" cy="1911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303580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vs. threshold — peak at t=0.10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651760" cy="21031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7" name="Image 0" descr="/home/claude/pngs/keyword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106424"/>
            <a:ext cx="2596896" cy="20482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20040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per article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246120" y="1078992"/>
            <a:ext cx="2651760" cy="21031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10" name="Image 1" descr="/home/claude/pngs/wordclou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3552" y="1106424"/>
            <a:ext cx="2596896" cy="2048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320040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keywords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6126480" y="1078992"/>
            <a:ext cx="2651760" cy="21031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13" name="Image 2" descr="/home/claude/pngs/abstract_length_his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53912" y="1106424"/>
            <a:ext cx="2596896" cy="20482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20040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length (chars)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65760" y="3401568"/>
            <a:ext cx="2743200" cy="384048"/>
          </a:xfrm>
          <a:prstGeom prst="rect">
            <a:avLst/>
          </a:prstGeom>
          <a:solidFill>
            <a:srgbClr val="0D9488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2,749 valid keywords after 5 cleaning iterations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46120" y="3401568"/>
            <a:ext cx="2743200" cy="384048"/>
          </a:xfrm>
          <a:prstGeom prst="rect">
            <a:avLst/>
          </a:prstGeom>
          <a:solidFill>
            <a:srgbClr val="EA580C">
              <a:alpha val="10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33756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0.082% matrix density → extreme class imbalance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26480" y="3401568"/>
            <a:ext cx="2743200" cy="384048"/>
          </a:xfrm>
          <a:prstGeom prst="rect">
            <a:avLst/>
          </a:prstGeom>
          <a:solidFill>
            <a:srgbClr val="64748B">
              <a:alpha val="1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2.26 keywords/article · Abstracts: 500–3,000 chars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457200" y="182880"/>
            <a:ext cx="2194200" cy="237240"/>
          </a:xfrm>
          <a:prstGeom prst="roundRect">
            <a:avLst>
              <a:gd name="adj" fmla="val 50000"/>
            </a:avLst>
          </a:prstGeom>
          <a:solidFill>
            <a:srgbClr val="EA580C">
              <a:alpha val="15000"/>
            </a:srgbClr>
          </a:solidFill>
          <a:ln w="635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57200" y="182880"/>
            <a:ext cx="2194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dirty="0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457200" y="435798"/>
            <a:ext cx="393156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Co-occurrence matrix → adjacency graph → Graph Laplacian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Spectral Clustering: robust for sparse keyword graphs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201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000" b="0" u="none" strike="noStrike" dirty="0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semantic clusters, stored in </a:t>
            </a:r>
            <a:r>
              <a:rPr lang="en-US" sz="1000" b="0" u="none" strike="noStrike" dirty="0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DataFrame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TF-IDF + N-grams on text sections (abstract, intro, methods)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72A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FAISS: cluster labels retrieved alongside similar papers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4572000" y="1097280"/>
            <a:ext cx="4114440" cy="402120"/>
          </a:xfrm>
          <a:prstGeom prst="rect">
            <a:avLst/>
          </a:prstGeom>
          <a:solidFill>
            <a:srgbClr val="EA580C">
              <a:alpha val="10000"/>
            </a:srgbClr>
          </a:solidFill>
          <a:ln w="762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617720" y="11520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C0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5029200" y="11703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Plant Biology / Genomics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572000" y="1600200"/>
            <a:ext cx="4114440" cy="402120"/>
          </a:xfrm>
          <a:prstGeom prst="rect">
            <a:avLst/>
          </a:prstGeom>
          <a:solidFill>
            <a:srgbClr val="EA580C">
              <a:alpha val="10000"/>
            </a:srgbClr>
          </a:solidFill>
          <a:ln w="762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4617720" y="16549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C1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5029200" y="16732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Clinical / Epidemiology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572000" y="2103120"/>
            <a:ext cx="4114440" cy="402120"/>
          </a:xfrm>
          <a:prstGeom prst="rect">
            <a:avLst/>
          </a:prstGeom>
          <a:solidFill>
            <a:srgbClr val="0D9488">
              <a:alpha val="10000"/>
            </a:srgbClr>
          </a:solidFill>
          <a:ln w="762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4617720" y="21578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5029200" y="21762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Oncology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4572000" y="2606040"/>
            <a:ext cx="4114440" cy="402120"/>
          </a:xfrm>
          <a:prstGeom prst="rect">
            <a:avLst/>
          </a:prstGeom>
          <a:solidFill>
            <a:srgbClr val="0D9488">
              <a:alpha val="10000"/>
            </a:srgbClr>
          </a:solidFill>
          <a:ln w="762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4617720" y="26607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5029200" y="26791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Neuroscience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4572000" y="3108960"/>
            <a:ext cx="4114440" cy="402120"/>
          </a:xfrm>
          <a:prstGeom prst="rect">
            <a:avLst/>
          </a:prstGeom>
          <a:solidFill>
            <a:srgbClr val="2563EB">
              <a:alpha val="10000"/>
            </a:srgbClr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4617720" y="3163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C4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5029200" y="3182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Immunology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4572000" y="365760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+ 5 more clusters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/home/claude/pngs/keyword_network.png"/>
          <p:cNvPicPr/>
          <p:nvPr/>
        </p:nvPicPr>
        <p:blipFill>
          <a:blip r:embed="rId3"/>
          <a:stretch/>
        </p:blipFill>
        <p:spPr>
          <a:xfrm>
            <a:off x="224280" y="2137523"/>
            <a:ext cx="4114440" cy="286916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22"/>
          <p:cNvSpPr/>
          <p:nvPr/>
        </p:nvSpPr>
        <p:spPr>
          <a:xfrm>
            <a:off x="365760" y="497448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Force-directed keyword network — 22 components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4480560" y="3767400"/>
            <a:ext cx="4205880" cy="11883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/home/claude/pngs/keyword_cooccurrence_heatmap.png"/>
          <p:cNvPicPr/>
          <p:nvPr/>
        </p:nvPicPr>
        <p:blipFill>
          <a:blip r:embed="rId4"/>
          <a:stretch/>
        </p:blipFill>
        <p:spPr>
          <a:xfrm>
            <a:off x="4416480" y="3720960"/>
            <a:ext cx="4151160" cy="11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24"/>
          <p:cNvSpPr/>
          <p:nvPr/>
        </p:nvSpPr>
        <p:spPr>
          <a:xfrm>
            <a:off x="4480560" y="4974480"/>
            <a:ext cx="4205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Co-occurrence heatmap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457200" y="182880"/>
            <a:ext cx="1371240" cy="23724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1828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TIMELINE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Timeline &amp; Current Status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457200" y="114300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457200" y="11430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1143000" y="11797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 extraction 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457200" y="154548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457200" y="15454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1143000" y="158184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Keyword cleaning &amp; EDA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457200" y="194760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457200" y="19476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1143000" y="19843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Baseline: TF-IDF → Latent Semantic Analysis (LSA) → SuportVectorMachines (LinearSVC)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457200" y="235008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EA580C">
              <a:alpha val="20000"/>
            </a:srgbClr>
          </a:solidFill>
          <a:ln w="635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457200" y="23500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1143000" y="238644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Co-occurrence graph + Spectral Clustering → 10 clusters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457200" y="275220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457200" y="27522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1143000" y="27889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Parser iterations, section extraction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9"/>
          <p:cNvSpPr/>
          <p:nvPr/>
        </p:nvSpPr>
        <p:spPr>
          <a:xfrm>
            <a:off x="457200" y="315468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 w="635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457200" y="31546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WIP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1"/>
          <p:cNvSpPr/>
          <p:nvPr/>
        </p:nvSpPr>
        <p:spPr>
          <a:xfrm>
            <a:off x="1143000" y="319140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FAISS index — allenai-specter embeddings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2"/>
          <p:cNvSpPr/>
          <p:nvPr/>
        </p:nvSpPr>
        <p:spPr>
          <a:xfrm>
            <a:off x="457200" y="355716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457200" y="355716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WIP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1143000" y="35935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RAG pipeline — connecting components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5"/>
          <p:cNvSpPr/>
          <p:nvPr/>
        </p:nvSpPr>
        <p:spPr>
          <a:xfrm>
            <a:off x="457200" y="395928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6"/>
          <p:cNvSpPr/>
          <p:nvPr/>
        </p:nvSpPr>
        <p:spPr>
          <a:xfrm>
            <a:off x="457200" y="39592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Next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7"/>
          <p:cNvSpPr/>
          <p:nvPr/>
        </p:nvSpPr>
        <p:spPr>
          <a:xfrm>
            <a:off x="1143000" y="399600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End-to-end evaluation: RAG vs. baseline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8"/>
          <p:cNvSpPr/>
          <p:nvPr/>
        </p:nvSpPr>
        <p:spPr>
          <a:xfrm>
            <a:off x="457200" y="4361760"/>
            <a:ext cx="594000" cy="2556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457200" y="436176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Calibri"/>
              </a:rPr>
              <a:t>Next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1143000" y="43981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Features: Journal Recommender, Keyword Trends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1371600" y="502920"/>
            <a:ext cx="6400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POSSIBLE FUTURE DIRECTIONS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1371600" y="777240"/>
            <a:ext cx="6400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Where We Could Go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1371600" y="141732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1371600" y="1417320"/>
            <a:ext cx="4536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508760" y="147204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Full RAG pipeline — evaluate vs. baseline (0.306)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371600" y="189288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1371600" y="1892880"/>
            <a:ext cx="45360" cy="365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1508760" y="194760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N-gram + TF-IDF on full text sections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1371600" y="236844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0"/>
          <p:cNvSpPr/>
          <p:nvPr/>
        </p:nvSpPr>
        <p:spPr>
          <a:xfrm>
            <a:off x="1371600" y="2368440"/>
            <a:ext cx="45360" cy="365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1508760" y="242316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Journal Recommender · Keyword Trends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1371600" y="284364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1371600" y="2843640"/>
            <a:ext cx="45360" cy="365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1508760" y="289872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Abstract generation from full paper 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1371600" y="331920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1371600" y="3319200"/>
            <a:ext cx="45360" cy="365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1508760" y="337428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Reliability scoring — know when to trust output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8"/>
          <p:cNvSpPr/>
          <p:nvPr/>
        </p:nvSpPr>
        <p:spPr>
          <a:xfrm>
            <a:off x="1371600" y="3794760"/>
            <a:ext cx="6400440" cy="365400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9"/>
          <p:cNvSpPr/>
          <p:nvPr/>
        </p:nvSpPr>
        <p:spPr>
          <a:xfrm>
            <a:off x="1371600" y="3794760"/>
            <a:ext cx="45360" cy="365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1508760" y="3849480"/>
            <a:ext cx="6126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Production: local LLM on GPU server (offline)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636</Words>
  <Application>Microsoft Office PowerPoint</Application>
  <PresentationFormat>Bildschirmpräsentation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Calibri</vt:lpstr>
      <vt:lpstr>gg sans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Th Heger</cp:lastModifiedBy>
  <cp:revision>18</cp:revision>
  <dcterms:created xsi:type="dcterms:W3CDTF">2026-03-16T12:01:51Z</dcterms:created>
  <dcterms:modified xsi:type="dcterms:W3CDTF">2026-03-16T16:03:11Z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Bildschirmpräsentation (16:9)</vt:lpwstr>
  </property>
  <property fmtid="{D5CDD505-2E9C-101B-9397-08002B2CF9AE}" pid="4" name="Slides">
    <vt:i4>9</vt:i4>
  </property>
</Properties>
</file>