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6" r:id="rId7"/>
    <p:sldId id="260" r:id="rId8"/>
    <p:sldId id="261" r:id="rId9"/>
    <p:sldId id="265" r:id="rId10"/>
    <p:sldId id="263" r:id="rId11"/>
    <p:sldId id="26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5A2B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23" autoAdjust="0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20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97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NEUE FISCHE · CAPSTONE I · 2025/26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15452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PMC Research
</a:t>
            </a:r>
            <a:r>
              <a:rPr lang="en-US" sz="4400" b="1" i="1" dirty="0">
                <a:solidFill>
                  <a:srgbClr val="12B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21454" y="2818572"/>
            <a:ext cx="78255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  <a:latin typeface="Palatino Linotype" panose="02040502050505030304" pitchFamily="18" charset="0"/>
              </a:rPr>
              <a:t>Access to millions of biomedical research papers</a:t>
            </a:r>
          </a:p>
        </p:txBody>
      </p:sp>
      <p:sp>
        <p:nvSpPr>
          <p:cNvPr id="5" name="Shape 3"/>
          <p:cNvSpPr/>
          <p:nvPr/>
        </p:nvSpPr>
        <p:spPr>
          <a:xfrm>
            <a:off x="521454" y="4485502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0D2137">
              <a:alpha val="6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454" y="448550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Thomas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71262" y="4485502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0D2137">
              <a:alpha val="6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1262" y="448550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Viktor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21070" y="4485502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0D2137">
              <a:alpha val="6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1070" y="448550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Markus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2">
            <a:extLst>
              <a:ext uri="{FF2B5EF4-FFF2-40B4-BE49-F238E27FC236}">
                <a16:creationId xmlns:a16="http://schemas.microsoft.com/office/drawing/2014/main" id="{46F62FBD-3593-A172-6A31-C74990CD75C6}"/>
              </a:ext>
            </a:extLst>
          </p:cNvPr>
          <p:cNvSpPr/>
          <p:nvPr/>
        </p:nvSpPr>
        <p:spPr>
          <a:xfrm>
            <a:off x="411479" y="3031019"/>
            <a:ext cx="3949413" cy="1802723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DATA SOURCE</a:t>
            </a:r>
            <a:endParaRPr lang="en-US" sz="1100" b="1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PubMed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79" y="1143000"/>
            <a:ext cx="3949413" cy="1802723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801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PUBMED / PMC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9729" y="1647648"/>
            <a:ext cx="3552563" cy="2595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largest 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literature database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- 30+ million research articles
	- 9+   million open access full-text articles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Covers journals worldwide, going back to 1965
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1249" y="3180643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A7C6E"/>
                </a:solidFill>
                <a:latin typeface="Courier New" pitchFamily="34" charset="0"/>
                <a:cs typeface="Courier New" pitchFamily="34" charset="-120"/>
              </a:rPr>
              <a:t>ARTICLE STRUCTURE: SECTIONS</a:t>
            </a:r>
          </a:p>
        </p:txBody>
      </p: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3BE14FD8-2ABF-7E0F-5569-5C70FA1C9476}"/>
              </a:ext>
            </a:extLst>
          </p:cNvPr>
          <p:cNvGrpSpPr/>
          <p:nvPr/>
        </p:nvGrpSpPr>
        <p:grpSpPr>
          <a:xfrm>
            <a:off x="753626" y="3511635"/>
            <a:ext cx="1217981" cy="1130096"/>
            <a:chOff x="753626" y="3451631"/>
            <a:chExt cx="1217981" cy="1291700"/>
          </a:xfrm>
        </p:grpSpPr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F90515C6-D49F-599B-029F-A7096502B96F}"/>
                </a:ext>
              </a:extLst>
            </p:cNvPr>
            <p:cNvGrpSpPr/>
            <p:nvPr/>
          </p:nvGrpSpPr>
          <p:grpSpPr>
            <a:xfrm>
              <a:off x="753626" y="3451631"/>
              <a:ext cx="1217981" cy="256032"/>
              <a:chOff x="594360" y="3057275"/>
              <a:chExt cx="1217981" cy="256032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594360" y="3057275"/>
                <a:ext cx="1217981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9" name="Text 7"/>
              <p:cNvSpPr/>
              <p:nvPr/>
            </p:nvSpPr>
            <p:spPr>
              <a:xfrm>
                <a:off x="594360" y="3057275"/>
                <a:ext cx="1217981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Title &amp; Abstract</a:t>
                </a:r>
                <a:endParaRPr lang="en-US" sz="900" dirty="0"/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DA731A99-54F6-D684-9D1E-62DC1DD4E23E}"/>
                </a:ext>
              </a:extLst>
            </p:cNvPr>
            <p:cNvGrpSpPr/>
            <p:nvPr/>
          </p:nvGrpSpPr>
          <p:grpSpPr>
            <a:xfrm>
              <a:off x="753626" y="3710548"/>
              <a:ext cx="954634" cy="256032"/>
              <a:chOff x="1829832" y="3057275"/>
              <a:chExt cx="954634" cy="256032"/>
            </a:xfrm>
          </p:grpSpPr>
          <p:sp>
            <p:nvSpPr>
              <p:cNvPr id="10" name="Shape 8"/>
              <p:cNvSpPr/>
              <p:nvPr/>
            </p:nvSpPr>
            <p:spPr>
              <a:xfrm>
                <a:off x="1829832" y="3057275"/>
                <a:ext cx="954634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11" name="Text 9"/>
              <p:cNvSpPr/>
              <p:nvPr/>
            </p:nvSpPr>
            <p:spPr>
              <a:xfrm>
                <a:off x="1829832" y="3057275"/>
                <a:ext cx="954634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Introduction</a:t>
                </a:r>
                <a:endParaRPr lang="en-US" sz="900" dirty="0"/>
              </a:p>
            </p:txBody>
          </p:sp>
        </p:grpSp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CC9D9370-C6D7-98D7-6FC2-2733EACB4FC0}"/>
                </a:ext>
              </a:extLst>
            </p:cNvPr>
            <p:cNvGrpSpPr/>
            <p:nvPr/>
          </p:nvGrpSpPr>
          <p:grpSpPr>
            <a:xfrm>
              <a:off x="753626" y="3969465"/>
              <a:ext cx="633398" cy="256032"/>
              <a:chOff x="2913278" y="3057275"/>
              <a:chExt cx="633398" cy="256032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2913278" y="3057275"/>
                <a:ext cx="625450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13" name="Text 11"/>
              <p:cNvSpPr/>
              <p:nvPr/>
            </p:nvSpPr>
            <p:spPr>
              <a:xfrm>
                <a:off x="2921226" y="3057275"/>
                <a:ext cx="62545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Methods</a:t>
                </a:r>
                <a:endParaRPr lang="en-US" sz="900" dirty="0"/>
              </a:p>
            </p:txBody>
          </p:sp>
        </p:grp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6805766E-71BB-3D13-BFC2-CA9DB66ED801}"/>
                </a:ext>
              </a:extLst>
            </p:cNvPr>
            <p:cNvGrpSpPr/>
            <p:nvPr/>
          </p:nvGrpSpPr>
          <p:grpSpPr>
            <a:xfrm>
              <a:off x="753626" y="4228382"/>
              <a:ext cx="625450" cy="256032"/>
              <a:chOff x="3611880" y="1975897"/>
              <a:chExt cx="625450" cy="256032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3611880" y="1975897"/>
                <a:ext cx="625450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15" name="Text 13"/>
              <p:cNvSpPr/>
              <p:nvPr/>
            </p:nvSpPr>
            <p:spPr>
              <a:xfrm>
                <a:off x="3611880" y="1975897"/>
                <a:ext cx="62545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Results</a:t>
                </a:r>
                <a:endParaRPr lang="en-US" sz="900" dirty="0"/>
              </a:p>
            </p:txBody>
          </p:sp>
        </p:grpSp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F49A7AFF-4104-BAA1-1CDF-5897CE0C3198}"/>
                </a:ext>
              </a:extLst>
            </p:cNvPr>
            <p:cNvGrpSpPr/>
            <p:nvPr/>
          </p:nvGrpSpPr>
          <p:grpSpPr>
            <a:xfrm>
              <a:off x="753626" y="4487299"/>
              <a:ext cx="822960" cy="256032"/>
              <a:chOff x="3571010" y="3057275"/>
              <a:chExt cx="822960" cy="256032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3571010" y="3057275"/>
                <a:ext cx="822960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17" name="Text 15"/>
              <p:cNvSpPr/>
              <p:nvPr/>
            </p:nvSpPr>
            <p:spPr>
              <a:xfrm>
                <a:off x="3571010" y="3057275"/>
                <a:ext cx="82296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Discussion</a:t>
                </a:r>
                <a:endParaRPr lang="en-US" sz="900" dirty="0"/>
              </a:p>
            </p:txBody>
          </p:sp>
        </p:grpSp>
      </p:grpSp>
      <p:sp>
        <p:nvSpPr>
          <p:cNvPr id="18" name="Text 16"/>
          <p:cNvSpPr/>
          <p:nvPr/>
        </p:nvSpPr>
        <p:spPr>
          <a:xfrm>
            <a:off x="2099622" y="3634487"/>
            <a:ext cx="1979173" cy="577081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indexed</a:t>
            </a:r>
          </a:p>
          <a:p>
            <a:pPr marL="0" indent="0">
              <a:buNone/>
            </a:pPr>
            <a:endParaRPr lang="en-US" sz="1050" i="1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as PDF, </a:t>
            </a:r>
            <a:r>
              <a:rPr lang="en-US" sz="10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…</a:t>
            </a:r>
            <a:endParaRPr lang="en-US" sz="1050" dirty="0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82AB41CE-9976-2FB9-3115-8C540DE634F7}"/>
              </a:ext>
            </a:extLst>
          </p:cNvPr>
          <p:cNvGrpSpPr/>
          <p:nvPr/>
        </p:nvGrpSpPr>
        <p:grpSpPr>
          <a:xfrm>
            <a:off x="6540500" y="165100"/>
            <a:ext cx="1917700" cy="1482121"/>
            <a:chOff x="411480" y="2148840"/>
            <a:chExt cx="2651760" cy="2049449"/>
          </a:xfrm>
        </p:grpSpPr>
        <p:sp>
          <p:nvSpPr>
            <p:cNvPr id="58" name="Shape 5"/>
            <p:cNvSpPr/>
            <p:nvPr/>
          </p:nvSpPr>
          <p:spPr>
            <a:xfrm>
              <a:off x="411480" y="2148840"/>
              <a:ext cx="2651760" cy="20494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59" name="Text 6"/>
            <p:cNvSpPr/>
            <p:nvPr/>
          </p:nvSpPr>
          <p:spPr>
            <a:xfrm>
              <a:off x="411480" y="2331720"/>
              <a:ext cx="265176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0A7C6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3–5k</a:t>
              </a:r>
              <a:endParaRPr lang="en-US" sz="3200" dirty="0"/>
            </a:p>
          </p:txBody>
        </p:sp>
        <p:sp>
          <p:nvSpPr>
            <p:cNvPr id="60" name="Text 7"/>
            <p:cNvSpPr/>
            <p:nvPr/>
          </p:nvSpPr>
          <p:spPr>
            <a:xfrm>
              <a:off x="502920" y="3127248"/>
              <a:ext cx="24688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new biomedical papers</a:t>
              </a:r>
              <a:endParaRPr lang="en-US" sz="110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published daily</a:t>
              </a:r>
              <a:endParaRPr lang="en-US" sz="1100" dirty="0"/>
            </a:p>
          </p:txBody>
        </p:sp>
        <p:sp>
          <p:nvSpPr>
            <p:cNvPr id="61" name="Text 8"/>
            <p:cNvSpPr/>
            <p:nvPr/>
          </p:nvSpPr>
          <p:spPr>
            <a:xfrm>
              <a:off x="502921" y="3703320"/>
              <a:ext cx="24688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(ResearchGate / SciReader 2018)</a:t>
              </a:r>
              <a:endParaRPr lang="en-US" sz="900" i="1" dirty="0"/>
            </a:p>
          </p:txBody>
        </p:sp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9839C0F1-8EC0-9770-F233-FC6E9DD6B360}"/>
              </a:ext>
            </a:extLst>
          </p:cNvPr>
          <p:cNvGrpSpPr/>
          <p:nvPr/>
        </p:nvGrpSpPr>
        <p:grpSpPr>
          <a:xfrm>
            <a:off x="6356507" y="1750426"/>
            <a:ext cx="2207764" cy="1482121"/>
            <a:chOff x="3022050" y="2148840"/>
            <a:chExt cx="3052855" cy="2049449"/>
          </a:xfrm>
        </p:grpSpPr>
        <p:sp>
          <p:nvSpPr>
            <p:cNvPr id="63" name="Shape 9"/>
            <p:cNvSpPr/>
            <p:nvPr/>
          </p:nvSpPr>
          <p:spPr>
            <a:xfrm>
              <a:off x="3246120" y="2148840"/>
              <a:ext cx="2651760" cy="20494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64" name="Text 10"/>
            <p:cNvSpPr/>
            <p:nvPr/>
          </p:nvSpPr>
          <p:spPr>
            <a:xfrm>
              <a:off x="3246120" y="2331720"/>
              <a:ext cx="265176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0A7C6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~4 h</a:t>
              </a:r>
              <a:endParaRPr lang="en-US" sz="3200" dirty="0"/>
            </a:p>
          </p:txBody>
        </p:sp>
        <p:sp>
          <p:nvSpPr>
            <p:cNvPr id="65" name="Text 11"/>
            <p:cNvSpPr/>
            <p:nvPr/>
          </p:nvSpPr>
          <p:spPr>
            <a:xfrm>
              <a:off x="3172244" y="3162370"/>
              <a:ext cx="2651760" cy="54864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literature reading per clinician</a:t>
              </a:r>
              <a:endParaRPr lang="en-US" sz="110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 week — 63% abstracts only</a:t>
              </a:r>
              <a:endParaRPr lang="en-US" sz="1100" dirty="0"/>
            </a:p>
          </p:txBody>
        </p:sp>
        <p:sp>
          <p:nvSpPr>
            <p:cNvPr id="66" name="Text 12"/>
            <p:cNvSpPr/>
            <p:nvPr/>
          </p:nvSpPr>
          <p:spPr>
            <a:xfrm>
              <a:off x="3022050" y="3919621"/>
              <a:ext cx="3052855" cy="2409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(Saint et al., J Gen Intern Med 2000)</a:t>
              </a:r>
              <a:endParaRPr lang="en-US" sz="900" i="1" dirty="0"/>
            </a:p>
          </p:txBody>
        </p:sp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04125DAA-BEB7-BA1E-D73E-EF0DE5A25C85}"/>
              </a:ext>
            </a:extLst>
          </p:cNvPr>
          <p:cNvGrpSpPr/>
          <p:nvPr/>
        </p:nvGrpSpPr>
        <p:grpSpPr>
          <a:xfrm>
            <a:off x="6540500" y="3344299"/>
            <a:ext cx="1917700" cy="1482121"/>
            <a:chOff x="6080760" y="2148840"/>
            <a:chExt cx="2651760" cy="2049449"/>
          </a:xfrm>
        </p:grpSpPr>
        <p:sp>
          <p:nvSpPr>
            <p:cNvPr id="68" name="Shape 13"/>
            <p:cNvSpPr/>
            <p:nvPr/>
          </p:nvSpPr>
          <p:spPr>
            <a:xfrm>
              <a:off x="6080760" y="2148840"/>
              <a:ext cx="2651760" cy="20494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69" name="Text 14"/>
            <p:cNvSpPr/>
            <p:nvPr/>
          </p:nvSpPr>
          <p:spPr>
            <a:xfrm>
              <a:off x="6080760" y="2331720"/>
              <a:ext cx="265176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0A7C6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17 yr</a:t>
              </a:r>
              <a:endParaRPr lang="en-US" sz="3200" dirty="0"/>
            </a:p>
          </p:txBody>
        </p:sp>
        <p:sp>
          <p:nvSpPr>
            <p:cNvPr id="70" name="Text 15"/>
            <p:cNvSpPr/>
            <p:nvPr/>
          </p:nvSpPr>
          <p:spPr>
            <a:xfrm>
              <a:off x="6172200" y="3127248"/>
              <a:ext cx="24688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average: research finding</a:t>
              </a:r>
              <a:endParaRPr lang="en-US" sz="110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clinical practice</a:t>
              </a:r>
              <a:endParaRPr lang="en-US" sz="1100" dirty="0"/>
            </a:p>
          </p:txBody>
        </p:sp>
        <p:sp>
          <p:nvSpPr>
            <p:cNvPr id="71" name="Text 16"/>
            <p:cNvSpPr/>
            <p:nvPr/>
          </p:nvSpPr>
          <p:spPr>
            <a:xfrm>
              <a:off x="6172200" y="3703320"/>
              <a:ext cx="24688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(Morris et al., J R Soc Med 2011)</a:t>
              </a:r>
              <a:endParaRPr lang="en-US" sz="900" i="1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400" dirty="0">
                <a:solidFill>
                  <a:srgbClr val="0A7C6E"/>
                </a:solidFill>
                <a:latin typeface="Courier New" pitchFamily="34" charset="0"/>
                <a:cs typeface="Courier New" pitchFamily="34" charset="-120"/>
              </a:rPr>
              <a:t>THE PROBLEM</a:t>
            </a:r>
          </a:p>
        </p:txBody>
      </p:sp>
      <p:sp>
        <p:nvSpPr>
          <p:cNvPr id="3" name="Shape 1"/>
          <p:cNvSpPr/>
          <p:nvPr/>
        </p:nvSpPr>
        <p:spPr>
          <a:xfrm>
            <a:off x="411480" y="1241448"/>
            <a:ext cx="4105656" cy="357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20624" y="1241447"/>
            <a:ext cx="54864" cy="3566159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6896" y="1486319"/>
            <a:ext cx="384484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50" dirty="0">
                <a:solidFill>
                  <a:srgbClr val="E05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QUESTION – Real World: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298217"/>
            <a:ext cx="3757383" cy="373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  <a:tabLst>
                <a:tab pos="1797050" algn="l"/>
              </a:tabLst>
            </a:pP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"Three of my patients on nivolumab developed severe liver inflammation within 4 weeks. Is this pattern documented? Are there predictive markers?”</a:t>
            </a:r>
            <a:b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question is hard?</a:t>
            </a:r>
            <a:br>
              <a:rPr lang="de-DE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		</a:t>
            </a:r>
            <a:endParaRPr lang="en-US" sz="1000" dirty="0">
              <a:solidFill>
                <a:srgbClr val="E05A2B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91050" y="1254368"/>
            <a:ext cx="4114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91050" y="1234344"/>
            <a:ext cx="54864" cy="356616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0506" y="1403159"/>
            <a:ext cx="3749040" cy="367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E05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DIRECT SEARCH OFTEN FAILS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930" y="1845776"/>
            <a:ext cx="3822192" cy="3061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Requires boolean syntax — </a:t>
            </a: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standardized Keywords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b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Returns full papers to read — not answers
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synthesis across multiple sources: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0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517CC8EE-6548-79E7-1D6A-FA2974536A48}"/>
              </a:ext>
            </a:extLst>
          </p:cNvPr>
          <p:cNvSpPr txBox="1"/>
          <p:nvPr/>
        </p:nvSpPr>
        <p:spPr>
          <a:xfrm>
            <a:off x="5092540" y="3023428"/>
            <a:ext cx="1955985" cy="907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28650" lvl="1" indent="-171450">
              <a:lnSpc>
                <a:spcPct val="140000"/>
              </a:lnSpc>
              <a:buFontTx/>
              <a:buChar char="-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A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Method 1</a:t>
            </a:r>
          </a:p>
          <a:p>
            <a:pPr marL="628650" lvl="1" indent="-171450">
              <a:lnSpc>
                <a:spcPct val="140000"/>
              </a:lnSpc>
              <a:buFontTx/>
              <a:buChar char="-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Article B  Method 2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…</a:t>
            </a:r>
            <a:endParaRPr lang="en-US" sz="1000" dirty="0"/>
          </a:p>
          <a:p>
            <a:endParaRPr lang="de-DE" sz="11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417F77F-5DE1-7607-0819-DF6C2126692E}"/>
              </a:ext>
            </a:extLst>
          </p:cNvPr>
          <p:cNvSpPr txBox="1"/>
          <p:nvPr/>
        </p:nvSpPr>
        <p:spPr>
          <a:xfrm>
            <a:off x="914332" y="2932359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Complexity</a:t>
            </a:r>
            <a:endParaRPr lang="de-DE" altLang="de-DE" sz="1000" i="1" dirty="0">
              <a:solidFill>
                <a:srgbClr val="0D2137"/>
              </a:solidFill>
              <a:latin typeface="Georgia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Needs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linking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of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many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papers</a:t>
            </a:r>
            <a:endParaRPr lang="de-DE" altLang="de-DE" sz="1000" i="1" dirty="0">
              <a:solidFill>
                <a:srgbClr val="0D2137"/>
              </a:solidFill>
              <a:latin typeface="Georgia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Clinical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language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for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answer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required</a:t>
            </a:r>
            <a:endParaRPr lang="de-DE" altLang="de-DE" sz="1000" i="1" dirty="0">
              <a:solidFill>
                <a:srgbClr val="0D2137"/>
              </a:solidFill>
              <a:latin typeface="Georgia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BB89B12-73F0-C4BC-3E66-3B0EC6FCFE98}"/>
              </a:ext>
            </a:extLst>
          </p:cNvPr>
          <p:cNvSpPr txBox="1"/>
          <p:nvPr/>
        </p:nvSpPr>
        <p:spPr>
          <a:xfrm>
            <a:off x="594360" y="3737474"/>
            <a:ext cx="3922776" cy="52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1797050" algn="l"/>
              </a:tabLst>
            </a:pP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PubMed returns </a:t>
            </a:r>
            <a:r>
              <a:rPr lang="en-US" sz="1000" b="1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results for this exact question</a:t>
            </a: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b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If simplified: </a:t>
            </a:r>
            <a:r>
              <a:rPr lang="en-US" sz="1000" b="1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thousands of unrelated papers</a:t>
            </a: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7F59971-9AA6-71CB-5969-09318DD04C55}"/>
              </a:ext>
            </a:extLst>
          </p:cNvPr>
          <p:cNvSpPr txBox="1"/>
          <p:nvPr/>
        </p:nvSpPr>
        <p:spPr>
          <a:xfrm>
            <a:off x="594360" y="4430053"/>
            <a:ext cx="3832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E0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appropriate answer either way.</a:t>
            </a:r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7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54864" cy="1234440"/>
          </a:xfrm>
          <a:prstGeom prst="rect">
            <a:avLst/>
          </a:prstGeom>
          <a:solidFill>
            <a:srgbClr val="12B39A"/>
          </a:solidFill>
          <a:ln w="12700">
            <a:solidFill>
              <a:srgbClr val="12B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7955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hours to seconds —</a:t>
            </a:r>
            <a:endParaRPr lang="en-US" sz="2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Answerable questions instead of hundreds of results.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2103120"/>
            <a:ext cx="4023360" cy="2606040"/>
          </a:xfrm>
          <a:prstGeom prst="rect">
            <a:avLst/>
          </a:prstGeom>
          <a:solidFill>
            <a:srgbClr val="FFFFFF">
              <a:alpha val="8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2128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487168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PubMed → hundreds of results → manual reading → maybe an answer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2103120"/>
            <a:ext cx="4023360" cy="2606040"/>
          </a:xfrm>
          <a:prstGeom prst="rect">
            <a:avLst/>
          </a:prstGeom>
          <a:solidFill>
            <a:srgbClr val="FFFFFF">
              <a:alpha val="15000"/>
            </a:srgbClr>
          </a:solidFill>
          <a:ln w="10160">
            <a:solidFill>
              <a:srgbClr val="12B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2128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846320" y="2487168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PMC Assistant → structured answer + evidence strength + citable sources → 30 seconds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Model + Retrieval — why both?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023360" cy="1417320"/>
          </a:xfrm>
          <a:prstGeom prst="rect">
            <a:avLst/>
          </a:prstGeom>
          <a:solidFill>
            <a:srgbClr val="F7F4E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76072" y="1115568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 MODEL ALONE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76072" y="1353312"/>
            <a:ext cx="37033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Trained on general language corpus </a:t>
            </a:r>
            <a:b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on current biomedical literature 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Answers may sound plausible </a:t>
            </a:r>
            <a:b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citation of real source </a:t>
            </a:r>
            <a:b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Can diverge from current evidence.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024128"/>
            <a:ext cx="4023360" cy="1417320"/>
          </a:xfrm>
          <a:prstGeom prst="rect">
            <a:avLst/>
          </a:prstGeom>
          <a:solidFill>
            <a:srgbClr val="0D2137"/>
          </a:solidFill>
          <a:ln w="6350">
            <a:solidFill>
              <a:srgbClr val="0D213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115568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 MODEL + RETRIEVAL PIPELINE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828032" y="1353312"/>
            <a:ext cx="37033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query time the model receives the most relevant passages from 44,393 PubMed articles. It synthesises an answer grounded exclusively in that retrieved evidence — with citable sources and measurable accuracy.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606040"/>
            <a:ext cx="4023360" cy="1353312"/>
          </a:xfrm>
          <a:prstGeom prst="rect">
            <a:avLst/>
          </a:prstGeom>
          <a:solidFill>
            <a:srgbClr val="F0F9F8"/>
          </a:solidFill>
          <a:ln w="6350">
            <a:solidFill>
              <a:srgbClr val="B2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697480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RETRIEVAL ADDS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76072" y="2944368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passages ranked by biomedical semantic similarity · Source article, year, and journal visible · Grounding measurable on held-out benchmark [68% on PubMedQA golden-69]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606040"/>
            <a:ext cx="4023360" cy="1353312"/>
          </a:xfrm>
          <a:prstGeom prst="rect">
            <a:avLst/>
          </a:prstGeom>
          <a:solidFill>
            <a:srgbClr val="FDF6EF"/>
          </a:solidFill>
          <a:ln w="6350">
            <a:solidFill>
              <a:srgbClr val="E8D8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2697480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8A6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 LIMITS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28032" y="2944368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gap: −35 percentage points vs. direct paper access · Index covers Open Access articles only · Answers are not a substitute for clinical judgement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4069080"/>
            <a:ext cx="8321040" cy="713232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133088"/>
            <a:ext cx="7955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language model receives the most relevant passages from the index before each response — and grounds its answer in citable evidence rather than general training.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461BEE4-1354-B597-5D44-A2FB7AC63B26}"/>
              </a:ext>
            </a:extLst>
          </p:cNvPr>
          <p:cNvSpPr txBox="1"/>
          <p:nvPr/>
        </p:nvSpPr>
        <p:spPr>
          <a:xfrm>
            <a:off x="3337226" y="1848823"/>
            <a:ext cx="665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Teil II</a:t>
            </a:r>
          </a:p>
        </p:txBody>
      </p:sp>
    </p:spTree>
    <p:extLst>
      <p:ext uri="{BB962C8B-B14F-4D97-AF65-F5344CB8AC3E}">
        <p14:creationId xmlns:p14="http://schemas.microsoft.com/office/powerpoint/2010/main" val="996617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Pipeline — Clinical Question to Answer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built once offline (10,000 articles · 46,853 chunks)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1786890"/>
            <a:ext cx="1143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66344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36192" y="2198370"/>
            <a:ext cx="164592" cy="0"/>
          </a:xfrm>
          <a:prstGeom prst="line">
            <a:avLst/>
          </a:prstGeom>
          <a:noFill/>
          <a:ln w="15240">
            <a:solidFill>
              <a:srgbClr val="0A7C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2768" y="2033778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C6E"/>
                </a:solidFill>
              </a:rPr>
              <a:t>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19072" y="1786890"/>
            <a:ext cx="1143000" cy="822960"/>
          </a:xfrm>
          <a:prstGeom prst="rect">
            <a:avLst/>
          </a:prstGeom>
          <a:solidFill>
            <a:srgbClr val="F7F4E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19072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773936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55648" y="2408682"/>
            <a:ext cx="10698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[BM25]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843784" y="2042922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+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26664" y="1786890"/>
            <a:ext cx="1143000" cy="822960"/>
          </a:xfrm>
          <a:prstGeom prst="rect">
            <a:avLst/>
          </a:prstGeom>
          <a:solidFill>
            <a:srgbClr val="0D2137"/>
          </a:solidFill>
          <a:ln w="6350">
            <a:solidFill>
              <a:srgbClr val="0D213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26664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081528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2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63240" y="2408682"/>
            <a:ext cx="10698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[FAISS · PubMedBERT]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151376" y="2198370"/>
            <a:ext cx="164592" cy="0"/>
          </a:xfrm>
          <a:prstGeom prst="line">
            <a:avLst/>
          </a:prstGeom>
          <a:noFill/>
          <a:ln w="15240">
            <a:solidFill>
              <a:srgbClr val="0A7C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7952" y="2033778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C6E"/>
                </a:solidFill>
              </a:rPr>
              <a:t>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34256" y="1786890"/>
            <a:ext cx="1143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34256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389120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70832" y="2408682"/>
            <a:ext cx="10698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[RRF]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458968" y="2198370"/>
            <a:ext cx="164592" cy="0"/>
          </a:xfrm>
          <a:prstGeom prst="line">
            <a:avLst/>
          </a:prstGeom>
          <a:noFill/>
          <a:ln w="15240">
            <a:solidFill>
              <a:srgbClr val="0A7C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95544" y="2033778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C6E"/>
                </a:solidFill>
              </a:rPr>
              <a:t>›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41848" y="1786890"/>
            <a:ext cx="1143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41848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696712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766560" y="2198370"/>
            <a:ext cx="164592" cy="0"/>
          </a:xfrm>
          <a:prstGeom prst="line">
            <a:avLst/>
          </a:prstGeom>
          <a:noFill/>
          <a:ln w="15240">
            <a:solidFill>
              <a:srgbClr val="0A7C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03136" y="2033778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C6E"/>
                </a:solidFill>
              </a:rPr>
              <a:t>›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1786890"/>
            <a:ext cx="1143000" cy="822960"/>
          </a:xfrm>
          <a:prstGeom prst="rect">
            <a:avLst/>
          </a:prstGeom>
          <a:solidFill>
            <a:srgbClr val="0D2137"/>
          </a:solidFill>
          <a:ln w="6350">
            <a:solidFill>
              <a:srgbClr val="0D213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49440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7004304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2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86016" y="2408682"/>
            <a:ext cx="10698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[Llama-3 70B]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11480" y="268300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question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719072" y="268300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tokenised · scored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46k chunks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026664" y="268300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embedded · biomedical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nearest-neighbour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334256" y="268300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lists merged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deduped to article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41848" y="268300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highest-scoring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excerpts as context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949440" y="268300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 · context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· no general training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11480" y="3273298"/>
            <a:ext cx="5669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11480" y="3273298"/>
            <a:ext cx="54864" cy="594360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3319018"/>
            <a:ext cx="5394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accuracy on 69 standardised benchmark questions  ·  Retrieval gap to direct paper access: −35 pp — main remaining lever.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THE SYSTEM IMPROVED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Stages — Same Question, Different Quality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54864" cy="45720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326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E05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PHYSICIAN’S QUERY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057400" y="923544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"Nivolumab — grade 3 liver inflammation in 3 patients within 4 weeks. Documented? Predictive markers? Management?"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2697480" cy="31363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444752"/>
            <a:ext cx="2697480" cy="54864"/>
          </a:xfrm>
          <a:prstGeom prst="rect">
            <a:avLst/>
          </a:prstGeom>
          <a:solidFill>
            <a:srgbClr val="E5C9C3"/>
          </a:solidFill>
          <a:ln w="12700">
            <a:solidFill>
              <a:srgbClr val="E5C9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53619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kern="0" spc="150" dirty="0">
                <a:solidFill>
                  <a:srgbClr val="8B2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1 · First Prototype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21208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→ [BM25 only] → Small AI (flan-t5-s)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02920" y="2395728"/>
            <a:ext cx="2514600" cy="2038406"/>
          </a:xfrm>
          <a:prstGeom prst="rect">
            <a:avLst/>
          </a:prstGeom>
          <a:solidFill>
            <a:srgbClr val="F7F4EF"/>
          </a:solidFill>
          <a:ln w="6350">
            <a:solidFill>
              <a:srgbClr val="EA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3826" y="2173302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Hepatotoxicity is a known adverse event in oncology patients. Monitoring of liver enzymes is generally recommended during treatment.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839774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No paper retrieved. </a:t>
            </a:r>
          </a:p>
          <a:p>
            <a:pPr marL="171450" indent="-171450">
              <a:lnSpc>
                <a:spcPct val="135000"/>
              </a:lnSpc>
              <a:buFontTx/>
              <a:buChar char="-"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answered from general training only </a:t>
            </a:r>
          </a:p>
          <a:p>
            <a:pPr marL="171450" indent="-171450">
              <a:lnSpc>
                <a:spcPct val="135000"/>
              </a:lnSpc>
              <a:buFontTx/>
              <a:buChar char="-"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context, no citations.</a:t>
            </a:r>
            <a:endParaRPr lang="en-US" sz="750" b="1" dirty="0"/>
          </a:p>
        </p:txBody>
      </p:sp>
      <p:sp>
        <p:nvSpPr>
          <p:cNvPr id="16" name="Shape 14"/>
          <p:cNvSpPr/>
          <p:nvPr/>
        </p:nvSpPr>
        <p:spPr>
          <a:xfrm>
            <a:off x="3264408" y="1444752"/>
            <a:ext cx="2697480" cy="31363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444752"/>
            <a:ext cx="2697480" cy="54864"/>
          </a:xfrm>
          <a:prstGeom prst="rect">
            <a:avLst/>
          </a:prstGeom>
          <a:solidFill>
            <a:srgbClr val="D4B96A"/>
          </a:solidFill>
          <a:ln w="12700">
            <a:solidFill>
              <a:srgbClr val="D4B9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153619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kern="0" spc="150" dirty="0">
                <a:solidFill>
                  <a:srgbClr val="8A6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Semantic Search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374136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→ BM25 + FAISS (MiniLM) → Llama 8B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355848" y="2395728"/>
            <a:ext cx="2514600" cy="2038406"/>
          </a:xfrm>
          <a:prstGeom prst="rect">
            <a:avLst/>
          </a:prstGeom>
          <a:solidFill>
            <a:srgbClr val="F7F4EF"/>
          </a:solidFill>
          <a:ln w="6350">
            <a:solidFill>
              <a:srgbClr val="EAED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2257167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Immune-related hepatotoxicity has been reported with checkpoint inhibitors. General management includes holding treatment and considering corticosteroids. [Chang et al., 2019]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55848" y="3808514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A paper retrieved,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—Not very specific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Answer partially grounded</a:t>
            </a:r>
          </a:p>
        </p:txBody>
      </p:sp>
      <p:sp>
        <p:nvSpPr>
          <p:cNvPr id="24" name="Shape 22"/>
          <p:cNvSpPr/>
          <p:nvPr/>
        </p:nvSpPr>
        <p:spPr>
          <a:xfrm>
            <a:off x="6117336" y="1444752"/>
            <a:ext cx="2697480" cy="31363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17336" y="1444752"/>
            <a:ext cx="2697480" cy="54864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7064" y="153619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kern="0" spc="15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3 · Full Pipeline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227064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→ PubMedBERT + BM25 → FAISS + RRF → Llama 70B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208776" y="2395727"/>
            <a:ext cx="2514600" cy="1982713"/>
          </a:xfrm>
          <a:prstGeom prst="rect">
            <a:avLst/>
          </a:prstGeom>
          <a:solidFill>
            <a:srgbClr val="F7F4EF"/>
          </a:solidFill>
          <a:ln w="6350">
            <a:solidFill>
              <a:srgbClr val="EAED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0216" y="2450592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Nivolumab-induced grade ≥3 hepatotoxicity occurs in 1–2% of cases and is immune-mediated. [Brahmer et al., NEJM 2018] Predictive markers include elevated baseline AST and IL-6 levels. [Wang et al., JCO 2020] Management: hold nivolumab, initiate prednisone 1–2 mg/kg. [Puzanov et al., JCO 2017]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02482" y="3657836"/>
            <a:ext cx="2459736" cy="883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Biomedical embeddings get the correct papers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Grounded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citable answer covering all three aspects.</a:t>
            </a:r>
            <a:endParaRPr lang="en-US" sz="75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valuation Results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0292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</a:rPr>
              <a:t>PIPELINE EVALUATION</a:t>
            </a:r>
          </a:p>
        </p:txBody>
      </p:sp>
      <p:sp>
        <p:nvSpPr>
          <p:cNvPr id="3" name="Title"/>
          <p:cNvSpPr/>
          <p:nvPr/>
        </p:nvSpPr>
        <p:spPr>
          <a:xfrm>
            <a:off x="502920" y="355000"/>
            <a:ext cx="82296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kern="0" dirty="0">
                <a:solidFill>
                  <a:srgbClr val="1A1A2E"/>
                </a:solidFill>
                <a:latin typeface="Georgia"/>
              </a:rPr>
              <a:t>Which pipeline answers best?</a:t>
            </a:r>
          </a:p>
        </p:txBody>
      </p:sp>
      <p:sp>
        <p:nvSpPr>
          <p:cNvPr id="4" name="Subtitle"/>
          <p:cNvSpPr/>
          <p:nvPr/>
        </p:nvSpPr>
        <p:spPr>
          <a:xfrm>
            <a:off x="502920" y="760000"/>
            <a:ext cx="82296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dirty="0">
                <a:solidFill>
                  <a:srgbClr val="555555"/>
                </a:solidFill>
                <a:latin typeface="Calibri"/>
              </a:rPr>
              <a:t>8 clinical questions • scored by 2 independent raters (Auto1 + Auto2) • scale 1–5</a:t>
            </a:r>
          </a:p>
        </p:txBody>
      </p:sp>
      <p:pic>
        <p:nvPicPr>
          <p:cNvPr id="5" name="MeanSco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00" y="1050000"/>
            <a:ext cx="4000000" cy="3100000"/>
          </a:xfrm>
          <a:prstGeom prst="rect">
            <a:avLst/>
          </a:prstGeom>
        </p:spPr>
      </p:pic>
      <p:pic>
        <p:nvPicPr>
          <p:cNvPr id="6" name="Per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000" y="1050000"/>
            <a:ext cx="4260000" cy="3100000"/>
          </a:xfrm>
          <a:prstGeom prst="rect">
            <a:avLst/>
          </a:prstGeom>
        </p:spPr>
      </p:pic>
      <p:sp>
        <p:nvSpPr>
          <p:cNvPr id="7" name="Cap1"/>
          <p:cNvSpPr/>
          <p:nvPr/>
        </p:nvSpPr>
        <p:spPr>
          <a:xfrm>
            <a:off x="320000" y="4200000"/>
            <a:ext cx="40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A7C6E"/>
                </a:solidFill>
                <a:latin typeface="Calibri"/>
              </a:rPr>
              <a:t>V2 Hybrid + 8B wins  (3.61 / 5)</a:t>
            </a:r>
          </a:p>
        </p:txBody>
      </p:sp>
      <p:sp>
        <p:nvSpPr>
          <p:cNvPr id="8" name="Cap2"/>
          <p:cNvSpPr/>
          <p:nvPr/>
        </p:nvSpPr>
        <p:spPr>
          <a:xfrm>
            <a:off x="4624000" y="4200000"/>
            <a:ext cx="426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555555"/>
                </a:solidFill>
                <a:latin typeface="Calibri"/>
              </a:rPr>
              <a:t>Q4 (LRRK2) weak across all  —  topic gap in corpus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· PMC RESEARCH ASSISTANT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7315200" y="228600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BB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runs live at presentation time — requires local backend + API key.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Biomarkers for EGFR-mutated NSCLC?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53128" y="1115568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3128" y="1115568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Cardiotoxicity with checkpoint inhibitors?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1426464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26464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Immunotherapy melanoma phase II trials?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53128" y="1426464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1426464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expression and treatment response?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1901952"/>
            <a:ext cx="7132320" cy="347472"/>
          </a:xfrm>
          <a:prstGeom prst="rect">
            <a:avLst/>
          </a:prstGeom>
          <a:solidFill>
            <a:srgbClr val="FFFFFF">
              <a:alpha val="4000"/>
            </a:srgbClr>
          </a:solidFill>
          <a:ln w="508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0195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clinical question…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62672" y="1901952"/>
            <a:ext cx="1024128" cy="347472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62672" y="190195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Ask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395728"/>
            <a:ext cx="8275320" cy="2103120"/>
          </a:xfrm>
          <a:prstGeom prst="rect">
            <a:avLst/>
          </a:prstGeom>
          <a:solidFill>
            <a:srgbClr val="FFFFFF">
              <a:alpha val="2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395728"/>
            <a:ext cx="8275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a clinical question to see a live response…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8275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 — this interface calls a language model directly. It does not connect to the retrieval index at runtime. For a full demonstration including live retrieval, run the backend locally. Requires an Anthropic API key.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WE ARE — WHERE THIS COULD GO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&amp; Outlook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275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2529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13385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pipeline — biomedical index built and evaluated on standardised benchmark questions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2285" y="1207008"/>
            <a:ext cx="464515" cy="27432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2285" y="1207008"/>
            <a:ext cx="4645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11480" y="1792224"/>
            <a:ext cx="8275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99339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190195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 integration — grounded answer generation with cited sources from retrieved evidence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2285" y="1975104"/>
            <a:ext cx="464515" cy="27432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2285" y="1975104"/>
            <a:ext cx="4645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1480" y="2560320"/>
            <a:ext cx="8275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76148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67004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evaluation — comparison against established baselines; gap analysis between retrieval and model quality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2285" y="2743200"/>
            <a:ext cx="464515" cy="27432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2285" y="2743200"/>
            <a:ext cx="4645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11480" y="3328416"/>
            <a:ext cx="8275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52958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43814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improvement — closing the gap between retrieved-context accuracy and upper-bound accuracy is the next measurable step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29754" y="3511296"/>
            <a:ext cx="1057046" cy="2743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9754" y="3511296"/>
            <a:ext cx="1057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priority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" y="4096512"/>
            <a:ext cx="8275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429768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42062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extensions — real-time index updates, specialty-specific fine-tuning, multi-language support, integration into clinical workflow tools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24774" y="4279392"/>
            <a:ext cx="662026" cy="27432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24774" y="4279392"/>
            <a:ext cx="662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759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Outlook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18D6B52-B8ED-46DB-BCEB-3FE5BB29F05F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1105</Words>
  <Application>Microsoft Office PowerPoint</Application>
  <PresentationFormat>Bildschirmpräsentation (16:9)</PresentationFormat>
  <Paragraphs>172</Paragraphs>
  <Slides>11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Georgia</vt:lpstr>
      <vt:lpstr>Palatino Linotype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PMC Research Assistant</dc:title>
  <dc:subject>PptxGenJS Presentation</dc:subject>
  <dc:creator>Neue Fische Capstone I 2025/26</dc:creator>
  <cp:lastModifiedBy>Th Heger</cp:lastModifiedBy>
  <cp:revision>13</cp:revision>
  <dcterms:created xsi:type="dcterms:W3CDTF">2026-03-21T14:59:04Z</dcterms:created>
  <dcterms:modified xsi:type="dcterms:W3CDTF">2026-03-23T15:25:12Z</dcterms:modified>
</cp:coreProperties>
</file>