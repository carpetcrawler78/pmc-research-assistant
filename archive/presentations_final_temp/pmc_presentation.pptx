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62" r:id="rId6"/>
    <p:sldId id="260" r:id="rId7"/>
    <p:sldId id="261" r:id="rId8"/>
    <p:sldId id="269" r:id="rId9"/>
    <p:sldId id="266" r:id="rId10"/>
    <p:sldId id="265" r:id="rId11"/>
    <p:sldId id="267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A2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2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2" y="-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7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NEUE FISCHE · CAPSTONE I · 2025/26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15452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PMC Research
</a:t>
            </a:r>
            <a:r>
              <a:rPr lang="en-US" sz="4400" b="1" i="1" dirty="0">
                <a:solidFill>
                  <a:srgbClr val="12B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21454" y="2818572"/>
            <a:ext cx="78255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Palatino Linotype" panose="02040502050505030304" pitchFamily="18" charset="0"/>
              </a:rPr>
              <a:t>Access to millions of biomedical research papers</a:t>
            </a:r>
          </a:p>
        </p:txBody>
      </p:sp>
      <p:sp>
        <p:nvSpPr>
          <p:cNvPr id="5" name="Shape 3"/>
          <p:cNvSpPr/>
          <p:nvPr/>
        </p:nvSpPr>
        <p:spPr>
          <a:xfrm>
            <a:off x="521454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454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Thomas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71262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262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1070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1070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2">
            <a:extLst>
              <a:ext uri="{FF2B5EF4-FFF2-40B4-BE49-F238E27FC236}">
                <a16:creationId xmlns:a16="http://schemas.microsoft.com/office/drawing/2014/main" id="{46F62FBD-3593-A172-6A31-C74990CD75C6}"/>
              </a:ext>
            </a:extLst>
          </p:cNvPr>
          <p:cNvSpPr/>
          <p:nvPr/>
        </p:nvSpPr>
        <p:spPr>
          <a:xfrm>
            <a:off x="411479" y="3031019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SOURCE</a:t>
            </a:r>
            <a:endParaRPr lang="en-US" sz="1100" b="1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PubMed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79" y="1143000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PUBMED / PMC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9729" y="1647648"/>
            <a:ext cx="3552563" cy="2595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largest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literature database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- 30+ million research articles
	- 9+   million open access full-text articles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journals worldwide, going back to 1965
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1249" y="3180643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ARTICLE STRUCTURE: SECTIONS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BE14FD8-2ABF-7E0F-5569-5C70FA1C9476}"/>
              </a:ext>
            </a:extLst>
          </p:cNvPr>
          <p:cNvGrpSpPr/>
          <p:nvPr/>
        </p:nvGrpSpPr>
        <p:grpSpPr>
          <a:xfrm>
            <a:off x="753626" y="3511635"/>
            <a:ext cx="1217981" cy="1130096"/>
            <a:chOff x="753626" y="3451631"/>
            <a:chExt cx="1217981" cy="129170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90515C6-D49F-599B-029F-A7096502B96F}"/>
                </a:ext>
              </a:extLst>
            </p:cNvPr>
            <p:cNvGrpSpPr/>
            <p:nvPr/>
          </p:nvGrpSpPr>
          <p:grpSpPr>
            <a:xfrm>
              <a:off x="753626" y="3451631"/>
              <a:ext cx="1217981" cy="256032"/>
              <a:chOff x="594360" y="3057275"/>
              <a:chExt cx="1217981" cy="25603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94360" y="3057275"/>
                <a:ext cx="1217981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594360" y="3057275"/>
                <a:ext cx="1217981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Title &amp; Abstract</a:t>
                </a:r>
                <a:endParaRPr lang="en-US" sz="900" dirty="0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A731A99-54F6-D684-9D1E-62DC1DD4E23E}"/>
                </a:ext>
              </a:extLst>
            </p:cNvPr>
            <p:cNvGrpSpPr/>
            <p:nvPr/>
          </p:nvGrpSpPr>
          <p:grpSpPr>
            <a:xfrm>
              <a:off x="753626" y="3710548"/>
              <a:ext cx="954634" cy="256032"/>
              <a:chOff x="1829832" y="3057275"/>
              <a:chExt cx="954634" cy="256032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829832" y="3057275"/>
                <a:ext cx="954634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1829832" y="3057275"/>
                <a:ext cx="95463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Introduction</a:t>
                </a:r>
                <a:endParaRPr lang="en-US" sz="900" dirty="0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CC9D9370-C6D7-98D7-6FC2-2733EACB4FC0}"/>
                </a:ext>
              </a:extLst>
            </p:cNvPr>
            <p:cNvGrpSpPr/>
            <p:nvPr/>
          </p:nvGrpSpPr>
          <p:grpSpPr>
            <a:xfrm>
              <a:off x="753626" y="3969465"/>
              <a:ext cx="633398" cy="256032"/>
              <a:chOff x="2913278" y="3057275"/>
              <a:chExt cx="633398" cy="25603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2913278" y="3057275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2921226" y="3057275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Methods</a:t>
                </a:r>
                <a:endParaRPr lang="en-US" sz="9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805766E-71BB-3D13-BFC2-CA9DB66ED801}"/>
                </a:ext>
              </a:extLst>
            </p:cNvPr>
            <p:cNvGrpSpPr/>
            <p:nvPr/>
          </p:nvGrpSpPr>
          <p:grpSpPr>
            <a:xfrm>
              <a:off x="753626" y="4228382"/>
              <a:ext cx="625450" cy="256032"/>
              <a:chOff x="3611880" y="1975897"/>
              <a:chExt cx="625450" cy="25603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3611880" y="1975897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3611880" y="1975897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Results</a:t>
                </a:r>
                <a:endParaRPr lang="en-US" sz="900" dirty="0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F49A7AFF-4104-BAA1-1CDF-5897CE0C3198}"/>
                </a:ext>
              </a:extLst>
            </p:cNvPr>
            <p:cNvGrpSpPr/>
            <p:nvPr/>
          </p:nvGrpSpPr>
          <p:grpSpPr>
            <a:xfrm>
              <a:off x="753626" y="4487299"/>
              <a:ext cx="822960" cy="256032"/>
              <a:chOff x="3571010" y="3057275"/>
              <a:chExt cx="822960" cy="25603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571010" y="3057275"/>
                <a:ext cx="82296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3571010" y="3057275"/>
                <a:ext cx="8229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Discussion</a:t>
                </a:r>
                <a:endParaRPr lang="en-US" sz="900" dirty="0"/>
              </a:p>
            </p:txBody>
          </p:sp>
        </p:grpSp>
      </p:grpSp>
      <p:sp>
        <p:nvSpPr>
          <p:cNvPr id="18" name="Text 16"/>
          <p:cNvSpPr/>
          <p:nvPr/>
        </p:nvSpPr>
        <p:spPr>
          <a:xfrm>
            <a:off x="2099622" y="3634487"/>
            <a:ext cx="1979173" cy="57708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indexed</a:t>
            </a:r>
          </a:p>
          <a:p>
            <a:pPr marL="0" indent="0">
              <a:buNone/>
            </a:pPr>
            <a:endParaRPr lang="en-US" sz="105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as PDF,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…</a:t>
            </a:r>
            <a:endParaRPr lang="en-US" sz="105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2AB41CE-9976-2FB9-3115-8C540DE634F7}"/>
              </a:ext>
            </a:extLst>
          </p:cNvPr>
          <p:cNvGrpSpPr/>
          <p:nvPr/>
        </p:nvGrpSpPr>
        <p:grpSpPr>
          <a:xfrm>
            <a:off x="6540500" y="165100"/>
            <a:ext cx="1917700" cy="1482121"/>
            <a:chOff x="411480" y="2148840"/>
            <a:chExt cx="2651760" cy="2049449"/>
          </a:xfrm>
        </p:grpSpPr>
        <p:sp>
          <p:nvSpPr>
            <p:cNvPr id="58" name="Shape 5"/>
            <p:cNvSpPr/>
            <p:nvPr/>
          </p:nvSpPr>
          <p:spPr>
            <a:xfrm>
              <a:off x="41148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9" name="Text 6"/>
            <p:cNvSpPr/>
            <p:nvPr/>
          </p:nvSpPr>
          <p:spPr>
            <a:xfrm>
              <a:off x="41148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3–5k</a:t>
              </a:r>
              <a:endParaRPr lang="en-US" sz="3200" dirty="0"/>
            </a:p>
          </p:txBody>
        </p:sp>
        <p:sp>
          <p:nvSpPr>
            <p:cNvPr id="60" name="Text 7"/>
            <p:cNvSpPr/>
            <p:nvPr/>
          </p:nvSpPr>
          <p:spPr>
            <a:xfrm>
              <a:off x="50292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biomedical papers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published daily</a:t>
              </a:r>
              <a:endParaRPr lang="en-US" sz="1100" dirty="0"/>
            </a:p>
          </p:txBody>
        </p:sp>
        <p:sp>
          <p:nvSpPr>
            <p:cNvPr id="61" name="Text 8"/>
            <p:cNvSpPr/>
            <p:nvPr/>
          </p:nvSpPr>
          <p:spPr>
            <a:xfrm>
              <a:off x="502921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(ResearchGate / SciReader 2018)</a:t>
              </a:r>
              <a:endParaRPr lang="en-US" sz="900" i="1" dirty="0"/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839C0F1-8EC0-9770-F233-FC6E9DD6B360}"/>
              </a:ext>
            </a:extLst>
          </p:cNvPr>
          <p:cNvGrpSpPr/>
          <p:nvPr/>
        </p:nvGrpSpPr>
        <p:grpSpPr>
          <a:xfrm>
            <a:off x="6356507" y="1750426"/>
            <a:ext cx="2207764" cy="1482121"/>
            <a:chOff x="3022050" y="2148840"/>
            <a:chExt cx="3052855" cy="2049449"/>
          </a:xfrm>
        </p:grpSpPr>
        <p:sp>
          <p:nvSpPr>
            <p:cNvPr id="63" name="Shape 9"/>
            <p:cNvSpPr/>
            <p:nvPr/>
          </p:nvSpPr>
          <p:spPr>
            <a:xfrm>
              <a:off x="324612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4" name="Text 10"/>
            <p:cNvSpPr/>
            <p:nvPr/>
          </p:nvSpPr>
          <p:spPr>
            <a:xfrm>
              <a:off x="324612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~4 h</a:t>
              </a:r>
              <a:endParaRPr lang="en-US" sz="3200" dirty="0"/>
            </a:p>
          </p:txBody>
        </p:sp>
        <p:sp>
          <p:nvSpPr>
            <p:cNvPr id="65" name="Text 11"/>
            <p:cNvSpPr/>
            <p:nvPr/>
          </p:nvSpPr>
          <p:spPr>
            <a:xfrm>
              <a:off x="3172244" y="3162370"/>
              <a:ext cx="2651760" cy="5486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literature reading per clinician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 week — 63% abstracts only</a:t>
              </a:r>
              <a:endParaRPr lang="en-US" sz="1100" dirty="0"/>
            </a:p>
          </p:txBody>
        </p:sp>
        <p:sp>
          <p:nvSpPr>
            <p:cNvPr id="66" name="Text 12"/>
            <p:cNvSpPr/>
            <p:nvPr/>
          </p:nvSpPr>
          <p:spPr>
            <a:xfrm>
              <a:off x="3022050" y="3919621"/>
              <a:ext cx="3052855" cy="240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(Saint et al., J Gen Intern Med 2000)</a:t>
              </a:r>
              <a:endParaRPr lang="en-US" sz="900" i="1" dirty="0"/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4125DAA-BEB7-BA1E-D73E-EF0DE5A25C85}"/>
              </a:ext>
            </a:extLst>
          </p:cNvPr>
          <p:cNvGrpSpPr/>
          <p:nvPr/>
        </p:nvGrpSpPr>
        <p:grpSpPr>
          <a:xfrm>
            <a:off x="6540500" y="3344299"/>
            <a:ext cx="1917700" cy="1482121"/>
            <a:chOff x="6080760" y="2148840"/>
            <a:chExt cx="2651760" cy="2049449"/>
          </a:xfrm>
        </p:grpSpPr>
        <p:sp>
          <p:nvSpPr>
            <p:cNvPr id="68" name="Shape 13"/>
            <p:cNvSpPr/>
            <p:nvPr/>
          </p:nvSpPr>
          <p:spPr>
            <a:xfrm>
              <a:off x="608076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9" name="Text 14"/>
            <p:cNvSpPr/>
            <p:nvPr/>
          </p:nvSpPr>
          <p:spPr>
            <a:xfrm>
              <a:off x="608076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 yr</a:t>
              </a:r>
              <a:endParaRPr lang="en-US" sz="3200" dirty="0"/>
            </a:p>
          </p:txBody>
        </p:sp>
        <p:sp>
          <p:nvSpPr>
            <p:cNvPr id="70" name="Text 15"/>
            <p:cNvSpPr/>
            <p:nvPr/>
          </p:nvSpPr>
          <p:spPr>
            <a:xfrm>
              <a:off x="617220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average: research finding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clinical practice</a:t>
              </a:r>
              <a:endParaRPr lang="en-US" sz="1100" dirty="0"/>
            </a:p>
          </p:txBody>
        </p:sp>
        <p:sp>
          <p:nvSpPr>
            <p:cNvPr id="71" name="Text 16"/>
            <p:cNvSpPr/>
            <p:nvPr/>
          </p:nvSpPr>
          <p:spPr>
            <a:xfrm>
              <a:off x="6172200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(Morris et al., J R Soc Med 2011)</a:t>
              </a:r>
              <a:endParaRPr lang="en-US" sz="900" i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THE PROBLEM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1241448"/>
            <a:ext cx="4105656" cy="357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0624" y="1241447"/>
            <a:ext cx="54864" cy="3566159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6896" y="1486319"/>
            <a:ext cx="38448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QUESTION – Real World: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98217"/>
            <a:ext cx="3757383" cy="373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"Three of my patients on nivolumab developed severe liver inflammation within 4 weeks. Is this pattern documented? Are there predictive markers?”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endParaRPr lang="en-US" sz="1000" i="1" dirty="0">
              <a:solidFill>
                <a:srgbClr val="0D2137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question is hard?</a:t>
            </a:r>
            <a:br>
              <a:rPr lang="de-DE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		</a:t>
            </a:r>
            <a:endParaRPr lang="en-US" sz="1000" dirty="0">
              <a:solidFill>
                <a:srgbClr val="E05A2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91050" y="1254368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1050" y="1241018"/>
            <a:ext cx="54864" cy="3566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0506" y="1403159"/>
            <a:ext cx="3749040" cy="367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DIRECT SEARCH OFTEN FAILS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930" y="1845776"/>
            <a:ext cx="3822192" cy="3061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Requires boolean syntax — </a:t>
            </a: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standardized Keywords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b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Returns full papers to read — not answers
-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synonyme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erfasst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abkürzungen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(chem.)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synthesis across multiple sources: (multi hopping)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17CC8EE-6548-79E7-1D6A-FA2974536A48}"/>
              </a:ext>
            </a:extLst>
          </p:cNvPr>
          <p:cNvSpPr txBox="1"/>
          <p:nvPr/>
        </p:nvSpPr>
        <p:spPr>
          <a:xfrm>
            <a:off x="5092540" y="3023428"/>
            <a:ext cx="1955985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Method 1</a:t>
            </a:r>
          </a:p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Article B  Method 2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…</a:t>
            </a:r>
            <a:endParaRPr lang="en-US" sz="1000" dirty="0"/>
          </a:p>
          <a:p>
            <a:endParaRPr lang="de-DE" sz="11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417F77F-5DE1-7607-0819-DF6C2126692E}"/>
              </a:ext>
            </a:extLst>
          </p:cNvPr>
          <p:cNvSpPr txBox="1"/>
          <p:nvPr/>
        </p:nvSpPr>
        <p:spPr>
          <a:xfrm>
            <a:off x="914332" y="2932359"/>
            <a:ext cx="26306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Complexity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Needs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linking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of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many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papers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Clinical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language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for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answer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required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B89B12-73F0-C4BC-3E66-3B0EC6FCFE98}"/>
              </a:ext>
            </a:extLst>
          </p:cNvPr>
          <p:cNvSpPr txBox="1"/>
          <p:nvPr/>
        </p:nvSpPr>
        <p:spPr>
          <a:xfrm>
            <a:off x="594360" y="3737474"/>
            <a:ext cx="3922776" cy="52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PubMed returns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results for this exact question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If simplified: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of unrelated papers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F59971-9AA6-71CB-5969-09318DD04C55}"/>
              </a:ext>
            </a:extLst>
          </p:cNvPr>
          <p:cNvSpPr txBox="1"/>
          <p:nvPr/>
        </p:nvSpPr>
        <p:spPr>
          <a:xfrm>
            <a:off x="594360" y="4430053"/>
            <a:ext cx="3832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appropriate answer either way.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7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54864" cy="1234440"/>
          </a:xfrm>
          <a:prstGeom prst="rect">
            <a:avLst/>
          </a:prstGeom>
          <a:solidFill>
            <a:srgbClr val="12B39A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seconds —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Answerable questions instead of hundreds of results.</a:t>
            </a:r>
            <a:endParaRPr lang="en-US" sz="2200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CE9F3FB-62B8-72B0-E36E-763DF9A4FCC5}"/>
              </a:ext>
            </a:extLst>
          </p:cNvPr>
          <p:cNvGrpSpPr/>
          <p:nvPr/>
        </p:nvGrpSpPr>
        <p:grpSpPr>
          <a:xfrm>
            <a:off x="2225040" y="2103120"/>
            <a:ext cx="4023360" cy="2606040"/>
            <a:chOff x="4663440" y="2103120"/>
            <a:chExt cx="4023360" cy="2606040"/>
          </a:xfrm>
        </p:grpSpPr>
        <p:sp>
          <p:nvSpPr>
            <p:cNvPr id="8" name="Shape 6"/>
            <p:cNvSpPr/>
            <p:nvPr/>
          </p:nvSpPr>
          <p:spPr>
            <a:xfrm>
              <a:off x="4663440" y="2103120"/>
              <a:ext cx="4023360" cy="2606040"/>
            </a:xfrm>
            <a:prstGeom prst="rect">
              <a:avLst/>
            </a:prstGeom>
            <a:solidFill>
              <a:srgbClr val="FFFFFF">
                <a:alpha val="15000"/>
              </a:srgbClr>
            </a:solidFill>
            <a:ln w="10160">
              <a:solidFill>
                <a:srgbClr val="12B39A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846320" y="2212848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kern="0" spc="2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PMC ASSISTENT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846320" y="2487168"/>
              <a:ext cx="3657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 → PMC Assistant → structured answer + evidence strength + citable sources → 30 seconds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b="1" dirty="0">
              <a:solidFill>
                <a:srgbClr val="0D2137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RAG? Retrieval?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Erklärung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LLMs: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halluzinationen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unsicherunge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Verbesserung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00" b="1" dirty="0" err="1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durch</a:t>
            </a: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RAG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 + Retrieval — why both?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23360" cy="1417320"/>
          </a:xfrm>
          <a:prstGeom prst="rect">
            <a:avLst/>
          </a:prstGeom>
          <a:solidFill>
            <a:srgbClr val="F7F4E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ALONE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7607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language generation, but trained on general corpora — not on current biomedical literature. Answers may sound plausible but cite no real source and can diverge from current evidence.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24128"/>
            <a:ext cx="402336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+ RETRIEVAL PIPELINE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 the model receives the most relevant passages from 44,393 PubMed articles. It synthesises an answer grounded exclusively in that retrieved evidence — with citable sources and measurable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023360" cy="1353312"/>
          </a:xfrm>
          <a:prstGeom prst="rect">
            <a:avLst/>
          </a:prstGeom>
          <a:solidFill>
            <a:srgbClr val="F0F9F8"/>
          </a:solidFill>
          <a:ln w="6350">
            <a:solidFill>
              <a:srgbClr val="B2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RETRIEVAL ADDS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7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passages ranked by biomedical semantic similarity · Source article, year, and journal visible · Grounding measurable on held-out benchmark [68% on PubMedQA golden-69]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353312"/>
          </a:xfrm>
          <a:prstGeom prst="rect">
            <a:avLst/>
          </a:prstGeom>
          <a:solidFill>
            <a:srgbClr val="FDF6EF"/>
          </a:solidFill>
          <a:ln w="6350">
            <a:solidFill>
              <a:srgbClr val="E8D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803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gap: −35 percentage points vs. direct paper access · Index covers Open Access articles only · Answers are not a substitute for clinical judgement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71323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model receives the most relevant passages from the index before each response — and grounds its answer in citable evidence rather than general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</a:t>
            </a:r>
            <a:r>
              <a:rPr lang="en-US" sz="9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— Clinical Question to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built once offline (10,000 articles · 46,853 chunks)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634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36192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19072" y="1786890"/>
            <a:ext cx="1143000" cy="822960"/>
          </a:xfrm>
          <a:prstGeom prst="rect">
            <a:avLst/>
          </a:prstGeom>
          <a:solidFill>
            <a:srgbClr val="F7F4E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773936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43784" y="204292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280"/>
                </a:solidFill>
              </a:rPr>
              <a:t>+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026664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26664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81528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51376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34256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34256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89120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41848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41848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96712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00430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6016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[Llama-3 70B]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11480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719072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· scored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46k chunks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026664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· biomedical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nearest-neighbour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34256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merged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deduped to article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41848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as 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27933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· context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· no general training</a:t>
            </a:r>
            <a:endParaRPr lang="en-US" sz="9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9008211-F093-27DC-2A35-E002EA6D919A}"/>
              </a:ext>
            </a:extLst>
          </p:cNvPr>
          <p:cNvSpPr txBox="1"/>
          <p:nvPr/>
        </p:nvSpPr>
        <p:spPr>
          <a:xfrm>
            <a:off x="2807208" y="4067503"/>
            <a:ext cx="2671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Suchmech</a:t>
            </a:r>
            <a:r>
              <a:rPr lang="de-DE" dirty="0"/>
              <a:t>: </a:t>
            </a:r>
            <a:r>
              <a:rPr lang="de-DE" dirty="0" err="1"/>
              <a:t>wörter</a:t>
            </a:r>
            <a:r>
              <a:rPr lang="de-DE" dirty="0"/>
              <a:t> findet…</a:t>
            </a:r>
          </a:p>
          <a:p>
            <a:r>
              <a:rPr lang="de-DE" dirty="0"/>
              <a:t>Hintergrund -&gt; Blöcke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80D9BB2-8FC2-0287-135C-7B473D641141}"/>
              </a:ext>
            </a:extLst>
          </p:cNvPr>
          <p:cNvSpPr/>
          <p:nvPr/>
        </p:nvSpPr>
        <p:spPr>
          <a:xfrm>
            <a:off x="2093976" y="111937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Chunkg</a:t>
            </a:r>
            <a:r>
              <a:rPr lang="de-DE" dirty="0"/>
              <a:t> / </a:t>
            </a:r>
            <a:r>
              <a:rPr lang="de-DE" dirty="0" err="1"/>
              <a:t>emmbedding</a:t>
            </a:r>
            <a:r>
              <a:rPr lang="de-DE" dirty="0"/>
              <a:t> 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SYSTEM IMPROVED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Iterative Evaluation of Models: From Simple to Complex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44752"/>
            <a:ext cx="2697480" cy="54864"/>
          </a:xfrm>
          <a:prstGeom prst="rect">
            <a:avLst/>
          </a:prstGeom>
          <a:solidFill>
            <a:srgbClr val="E5C9C3"/>
          </a:solidFill>
          <a:ln w="12700">
            <a:solidFill>
              <a:srgbClr val="E5C9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B2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First Prototype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[BM25 only] → Small AI (flan-t5-s)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" y="246430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No paper retrieved. LLM answered from general training only — no context, no citations.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64408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444752"/>
            <a:ext cx="2697480" cy="54864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Semantic 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413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BM25 + FAISS (MiniLM) → Llama 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55848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4414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 paper retrieved, but not the most specific. Answer partially grounded; key markers missing.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117336" y="1444752"/>
            <a:ext cx="269748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1444752"/>
            <a:ext cx="2697480" cy="5486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536192"/>
            <a:ext cx="22402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Full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706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PubMedBERT + BM25 → FAISS + RRF → Llama 70B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08776" y="2395728"/>
            <a:ext cx="2514600" cy="1444752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279806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Biomedical embeddings surface the right papers. Grounded, citable answer covering all three aspects.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254B78F-EE17-C86B-788A-F535F3EE362D}"/>
              </a:ext>
            </a:extLst>
          </p:cNvPr>
          <p:cNvSpPr txBox="1"/>
          <p:nvPr/>
        </p:nvSpPr>
        <p:spPr>
          <a:xfrm>
            <a:off x="2736850" y="1930400"/>
            <a:ext cx="257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Einführung 8 Q&amp;A Fragen</a:t>
            </a:r>
          </a:p>
        </p:txBody>
      </p:sp>
    </p:spTree>
    <p:extLst>
      <p:ext uri="{BB962C8B-B14F-4D97-AF65-F5344CB8AC3E}">
        <p14:creationId xmlns:p14="http://schemas.microsoft.com/office/powerpoint/2010/main" val="909190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90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DATA COVERAGE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4191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</a:rPr>
              <a:t>2 of 8 questions fit the corpus — 6 at the edge</a:t>
            </a:r>
          </a:p>
        </p:txBody>
      </p:sp>
      <p:pic>
        <p:nvPicPr>
          <p:cNvPr id="4" name="Cluster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28" y="876300"/>
            <a:ext cx="6557650" cy="3733200"/>
          </a:xfrm>
          <a:prstGeom prst="rect">
            <a:avLst/>
          </a:prstGeom>
        </p:spPr>
      </p:pic>
      <p:sp>
        <p:nvSpPr>
          <p:cNvPr id="5" name="Conclusion"/>
          <p:cNvSpPr/>
          <p:nvPr/>
        </p:nvSpPr>
        <p:spPr>
          <a:xfrm>
            <a:off x="411480" y="4685400"/>
            <a:ext cx="8321040" cy="330000"/>
          </a:xfrm>
          <a:prstGeom prst="rect">
            <a:avLst/>
          </a:prstGeom>
          <a:solidFill>
            <a:srgbClr val="0A7C6E"/>
          </a:solidFill>
          <a:ln>
            <a:noFill/>
          </a:ln>
        </p:spPr>
        <p:txBody>
          <a:bodyPr wrap="square" lIns="114300" rIns="1143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Q1 &amp; Q2 land in the largest cluster (Oncology) — Q4 (LRKK2 / Parkinson) has no matching domain in the training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aluation Results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PIPELINE EVALUATION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355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A1A2E"/>
                </a:solidFill>
                <a:latin typeface="Georgia"/>
              </a:rPr>
              <a:t>Which pipeline answers best?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760000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555555"/>
                </a:solidFill>
                <a:latin typeface="Calibri"/>
              </a:rPr>
              <a:t>8 clinical questions • scored by 2 independent raters (Auto1 + Auto2) • scale 1–5</a:t>
            </a:r>
          </a:p>
        </p:txBody>
      </p:sp>
      <p:pic>
        <p:nvPicPr>
          <p:cNvPr id="5" name="Mean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1050000"/>
            <a:ext cx="4000000" cy="3100000"/>
          </a:xfrm>
          <a:prstGeom prst="rect">
            <a:avLst/>
          </a:prstGeom>
        </p:spPr>
      </p:pic>
      <p:pic>
        <p:nvPicPr>
          <p:cNvPr id="6" name="Per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000" y="1050000"/>
            <a:ext cx="4260000" cy="3100000"/>
          </a:xfrm>
          <a:prstGeom prst="rect">
            <a:avLst/>
          </a:prstGeom>
        </p:spPr>
      </p:pic>
      <p:sp>
        <p:nvSpPr>
          <p:cNvPr id="7" name="Cap1"/>
          <p:cNvSpPr/>
          <p:nvPr/>
        </p:nvSpPr>
        <p:spPr>
          <a:xfrm>
            <a:off x="320000" y="4200000"/>
            <a:ext cx="4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A7C6E"/>
                </a:solidFill>
                <a:latin typeface="Calibri"/>
              </a:rPr>
              <a:t>V2 Hybrid + 8B wins  (3.61 / 5)</a:t>
            </a:r>
          </a:p>
        </p:txBody>
      </p:sp>
      <p:sp>
        <p:nvSpPr>
          <p:cNvPr id="8" name="Cap2"/>
          <p:cNvSpPr/>
          <p:nvPr/>
        </p:nvSpPr>
        <p:spPr>
          <a:xfrm>
            <a:off x="4624000" y="4200000"/>
            <a:ext cx="426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/>
              </a:rPr>
              <a:t>Q4 (LRRK2) weak across all  —  topic gap in corpus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531FE04-F065-B8F4-4CFD-3E24D7B9ECAA}"/>
              </a:ext>
            </a:extLst>
          </p:cNvPr>
          <p:cNvSpPr txBox="1"/>
          <p:nvPr/>
        </p:nvSpPr>
        <p:spPr>
          <a:xfrm>
            <a:off x="2190000" y="3996800"/>
            <a:ext cx="426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 stufen:</a:t>
            </a:r>
            <a:br>
              <a:rPr lang="de-DE" dirty="0"/>
            </a:br>
            <a:r>
              <a:rPr lang="de-DE" dirty="0" err="1"/>
              <a:t>Entwicfklungsphase</a:t>
            </a:r>
            <a:r>
              <a:rPr lang="de-DE" dirty="0"/>
              <a:t>: - ja/nein: welche </a:t>
            </a:r>
            <a:r>
              <a:rPr lang="de-DE" dirty="0" err="1"/>
              <a:t>chunks</a:t>
            </a:r>
            <a:r>
              <a:rPr lang="de-DE" dirty="0"/>
              <a:t> -&gt; F1… quantifizierbare Metrik</a:t>
            </a:r>
          </a:p>
          <a:p>
            <a:r>
              <a:rPr lang="de-DE" dirty="0"/>
              <a:t>- 2. Stufe: Q&amp;A = </a:t>
            </a:r>
            <a:r>
              <a:rPr lang="de-DE" dirty="0" err="1"/>
              <a:t>proof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Evaluation um RAG als </a:t>
            </a:r>
            <a:r>
              <a:rPr lang="de-DE" dirty="0" err="1"/>
              <a:t>geanzes</a:t>
            </a:r>
            <a:r>
              <a:rPr lang="de-DE" dirty="0"/>
              <a:t> zu testen -&gt; </a:t>
            </a:r>
            <a:r>
              <a:rPr lang="de-DE" dirty="0" err="1"/>
              <a:t>difficult</a:t>
            </a:r>
            <a:r>
              <a:rPr lang="de-DE" dirty="0"/>
              <a:t> -&gt;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905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DATA COVERAGE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4191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</a:rPr>
              <a:t>Closer to the training data = better answers</a:t>
            </a:r>
          </a:p>
        </p:txBody>
      </p:sp>
      <p:pic>
        <p:nvPicPr>
          <p:cNvPr id="4" name="Score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69" y="876300"/>
            <a:ext cx="6567662" cy="3733200"/>
          </a:xfrm>
          <a:prstGeom prst="rect">
            <a:avLst/>
          </a:prstGeom>
        </p:spPr>
      </p:pic>
      <p:sp>
        <p:nvSpPr>
          <p:cNvPr id="5" name="Conclusion"/>
          <p:cNvSpPr/>
          <p:nvPr/>
        </p:nvSpPr>
        <p:spPr>
          <a:xfrm>
            <a:off x="411480" y="4685400"/>
            <a:ext cx="8321040" cy="330000"/>
          </a:xfrm>
          <a:prstGeom prst="rect">
            <a:avLst/>
          </a:prstGeom>
          <a:solidFill>
            <a:srgbClr val="0A7C6E"/>
          </a:solidFill>
          <a:ln>
            <a:noFill/>
          </a:ln>
        </p:spPr>
        <p:txBody>
          <a:bodyPr wrap="square" lIns="114300" rIns="1143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The further a question sits from a known cluster, the lower the answer quality — not a model problem, a data coverage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PMC RESEARCH ASSISTANT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22860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runs live at presentation time — requires local backend + API key.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for EGFR-mutated NSCLC?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53128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Cardiotoxicity with checkpoint inhibitors?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melanoma phase II trials?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53128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and treatment response?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713232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clinical question…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solidFill>
            <a:srgbClr val="FFFFFF">
              <a:alpha val="2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clinical question to see a live response…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— this interface calls a language model directly. It does not connect to the retrieval index at runtime. For a full demonstration including live retrieval, run the backend locally. Requires an Anthropic API key.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 — WHERE THIS COULD 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Outlook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252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1338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— biomedical index built and evaluated on standardised benchmark questions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2285" y="1207008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2285" y="1207008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792224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933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integration — grounded answer generation with cited sources from retrieved 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2285" y="1975104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2285" y="1975104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614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700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 — comparison against established baselines; gap analysis between retrieval and model quality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2285" y="2743200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2285" y="2743200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328416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295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improvement — closing the gap between retrieved-context accuracy and upper-bound accuracy is the next measurable step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29754" y="3511296"/>
            <a:ext cx="1057046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9754" y="3511296"/>
            <a:ext cx="1057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priority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976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extensions — real-time index updates, specialty-specific fine-tuning, multi-language support, integration into clinical workflow tools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4774" y="4279392"/>
            <a:ext cx="662026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4774" y="4279392"/>
            <a:ext cx="66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8D6B52-B8ED-46DB-BCEB-3FE5BB29F05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Office PowerPoint</Application>
  <PresentationFormat>Bildschirmpräsentation (16:9)</PresentationFormat>
  <Paragraphs>168</Paragraphs>
  <Slides>13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Georgia</vt:lpstr>
      <vt:lpstr>Palatino Linotype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</dc:title>
  <dc:subject>PptxGenJS Presentation</dc:subject>
  <dc:creator>Neue Fische Capstone I 2025/26</dc:creator>
  <cp:lastModifiedBy>Th Heger</cp:lastModifiedBy>
  <cp:revision>11</cp:revision>
  <dcterms:created xsi:type="dcterms:W3CDTF">2026-03-21T14:59:04Z</dcterms:created>
  <dcterms:modified xsi:type="dcterms:W3CDTF">2026-03-23T15:17:29Z</dcterms:modified>
</cp:coreProperties>
</file>