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66" r:id="rId3"/>
    <p:sldId id="267" r:id="rId4"/>
    <p:sldId id="268" r:id="rId5"/>
    <p:sldId id="269" r:id="rId6"/>
    <p:sldId id="270" r:id="rId7"/>
    <p:sldId id="261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90" r:id="rId18"/>
    <p:sldId id="26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137"/>
    <a:srgbClr val="1F877A"/>
    <a:srgbClr val="FAFAF8"/>
    <a:srgbClr val="F7F4EF"/>
    <a:srgbClr val="D9DFDC"/>
    <a:srgbClr val="1F5B4F"/>
    <a:srgbClr val="0A7C6E"/>
    <a:srgbClr val="8A6D20"/>
    <a:srgbClr val="D4B96A"/>
    <a:srgbClr val="155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9" autoAdjust="0"/>
    <p:restoredTop sz="76445" autoAdjust="0"/>
  </p:normalViewPr>
  <p:slideViewPr>
    <p:cSldViewPr snapToGrid="0" snapToObjects="1">
      <p:cViewPr varScale="1">
        <p:scale>
          <a:sx n="121" d="100"/>
          <a:sy n="121" d="100"/>
        </p:scale>
        <p:origin x="17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68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C3B7F-7F8F-495D-AFBA-48EEF50CD110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99A8D-40AF-45B8-9A1B-DDA6279BC051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459CFD-2770-4717-8906-211B7D60A8C7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42AFDA-835F-4B6E-A94C-D6EA4D9EF778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DBBBCA-B0DD-4392-A2D7-7F32EDF21475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845FB6-9D6D-41D9-8E71-97068FBB03FB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FA11E7-F5E2-47AA-9D78-24F5FFF20711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422920-9F6C-43AA-BBBE-D5175B14D623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D785-03A3-41AB-9B1D-AE1E87AF5778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D9F1E1-29FA-40DF-9896-36BA5FB967C0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239CC2-E413-4BBB-890E-D023981728E4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5631DE-5CF1-4716-8106-E25DB6C5FA3A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B0E5A-B9A1-4047-8FAD-363A2F248E34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45ABC2-D346-4D7E-9699-A71722E50BA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zx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5ECFF1-18F7-4ACC-B9D4-0E8867ECC6C8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9B352AC-CB13-4B83-9B75-4AAE1BA0B05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0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8814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0" i="0" u="none" strike="noStrike" kern="1200" cap="none" spc="400" normalizeH="0" baseline="0" noProof="0">
                <a:ln>
                  <a:noFill/>
                </a:ln>
                <a:solidFill>
                  <a:srgbClr val="12B39A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NEUE FISCHE · CAPSTONE I · 2025/26</a:t>
            </a:r>
            <a:endParaRPr kumimoji="0" lang="zxx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02920" y="1189080"/>
            <a:ext cx="79552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RAG The Research</a:t>
            </a:r>
            <a:endParaRPr kumimoji="0" lang="zxx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12B39A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                             With a knowledge-based AI Assistant  </a:t>
            </a:r>
            <a:endParaRPr kumimoji="0" lang="zxx" sz="2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721680" y="2726640"/>
            <a:ext cx="4736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5B70528-E5D9-13BC-4A44-7FAB919FD85B}"/>
              </a:ext>
            </a:extLst>
          </p:cNvPr>
          <p:cNvGrpSpPr/>
          <p:nvPr/>
        </p:nvGrpSpPr>
        <p:grpSpPr>
          <a:xfrm>
            <a:off x="6749280" y="4485600"/>
            <a:ext cx="639720" cy="255600"/>
            <a:chOff x="6749280" y="4485600"/>
            <a:chExt cx="639720" cy="255600"/>
          </a:xfrm>
        </p:grpSpPr>
        <p:sp>
          <p:nvSpPr>
            <p:cNvPr id="13" name="Shape 3"/>
            <p:cNvSpPr/>
            <p:nvPr/>
          </p:nvSpPr>
          <p:spPr>
            <a:xfrm>
              <a:off x="6749280" y="4485600"/>
              <a:ext cx="639720" cy="255600"/>
            </a:xfrm>
            <a:prstGeom prst="roundRect">
              <a:avLst>
                <a:gd name="adj" fmla="val 50000"/>
              </a:avLst>
            </a:prstGeom>
            <a:solidFill>
              <a:srgbClr val="0D2137">
                <a:alpha val="60000"/>
              </a:srgbClr>
            </a:solidFill>
            <a:ln w="6350">
              <a:solidFill>
                <a:srgbClr val="FFFFFF">
                  <a:alpha val="25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x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Text 4"/>
            <p:cNvSpPr/>
            <p:nvPr/>
          </p:nvSpPr>
          <p:spPr>
            <a:xfrm>
              <a:off x="6749280" y="4485600"/>
              <a:ext cx="639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DDDDDD"/>
                  </a:solidFill>
                  <a:effectLst/>
                  <a:uLnTx/>
                  <a:uFillTx/>
                  <a:latin typeface="Courier New"/>
                  <a:ea typeface="Courier New"/>
                  <a:cs typeface="+mn-cs"/>
                </a:rPr>
                <a:t>Thomas</a:t>
              </a:r>
              <a:endParaRPr kumimoji="0" lang="zxx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217787A-63AA-BE67-C8FE-7215E0446204}"/>
              </a:ext>
            </a:extLst>
          </p:cNvPr>
          <p:cNvGrpSpPr/>
          <p:nvPr/>
        </p:nvGrpSpPr>
        <p:grpSpPr>
          <a:xfrm>
            <a:off x="7499160" y="4485600"/>
            <a:ext cx="639720" cy="255600"/>
            <a:chOff x="7499160" y="4485600"/>
            <a:chExt cx="639720" cy="255600"/>
          </a:xfrm>
        </p:grpSpPr>
        <p:sp>
          <p:nvSpPr>
            <p:cNvPr id="15" name="Shape 5"/>
            <p:cNvSpPr/>
            <p:nvPr/>
          </p:nvSpPr>
          <p:spPr>
            <a:xfrm>
              <a:off x="7499160" y="4485600"/>
              <a:ext cx="639720" cy="255600"/>
            </a:xfrm>
            <a:prstGeom prst="roundRect">
              <a:avLst>
                <a:gd name="adj" fmla="val 50000"/>
              </a:avLst>
            </a:prstGeom>
            <a:solidFill>
              <a:srgbClr val="0D2137">
                <a:alpha val="60000"/>
              </a:srgbClr>
            </a:solidFill>
            <a:ln w="6350">
              <a:solidFill>
                <a:srgbClr val="FFFFFF">
                  <a:alpha val="25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x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Text 6"/>
            <p:cNvSpPr/>
            <p:nvPr/>
          </p:nvSpPr>
          <p:spPr>
            <a:xfrm>
              <a:off x="7499160" y="4485600"/>
              <a:ext cx="639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DDDDDD"/>
                  </a:solidFill>
                  <a:effectLst/>
                  <a:uLnTx/>
                  <a:uFillTx/>
                  <a:latin typeface="Courier New"/>
                  <a:ea typeface="Courier New"/>
                  <a:cs typeface="+mn-cs"/>
                </a:rPr>
                <a:t>Viktor</a:t>
              </a:r>
              <a:endParaRPr kumimoji="0" lang="zxx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7" name="Shape 7"/>
          <p:cNvSpPr/>
          <p:nvPr/>
        </p:nvSpPr>
        <p:spPr>
          <a:xfrm>
            <a:off x="8249040" y="4485600"/>
            <a:ext cx="639720" cy="255600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 8"/>
          <p:cNvSpPr/>
          <p:nvPr/>
        </p:nvSpPr>
        <p:spPr>
          <a:xfrm>
            <a:off x="8249040" y="448560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DDDDD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Markus</a:t>
            </a:r>
            <a:endParaRPr kumimoji="0" lang="zxx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BRAVE NEW AI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1" name="Grafik 20"/>
          <p:cNvPicPr/>
          <p:nvPr/>
        </p:nvPicPr>
        <p:blipFill>
          <a:blip r:embed="rId3"/>
          <a:stretch/>
        </p:blipFill>
        <p:spPr>
          <a:xfrm>
            <a:off x="951120" y="685800"/>
            <a:ext cx="7507080" cy="420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rafik 21"/>
          <p:cNvPicPr/>
          <p:nvPr/>
        </p:nvPicPr>
        <p:blipFill>
          <a:blip r:embed="rId4"/>
          <a:stretch/>
        </p:blipFill>
        <p:spPr>
          <a:xfrm>
            <a:off x="2843640" y="1261800"/>
            <a:ext cx="3328560" cy="2395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60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WHEN YOU ASK AN LLM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61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37"/>
          <p:cNvSpPr/>
          <p:nvPr/>
        </p:nvSpPr>
        <p:spPr>
          <a:xfrm>
            <a:off x="457200" y="1143000"/>
            <a:ext cx="39319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Access to an immense amount of data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Reasoning capabilities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Context based answers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Summaries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	</a:t>
            </a:r>
            <a:endParaRPr kumimoji="0" lang="zxx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447480" y="671040"/>
            <a:ext cx="5267520" cy="47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You get: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62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WHEN YOU ASK AN LLM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 63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Shape 39"/>
          <p:cNvSpPr/>
          <p:nvPr/>
        </p:nvSpPr>
        <p:spPr>
          <a:xfrm>
            <a:off x="457200" y="1143000"/>
            <a:ext cx="39319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Access to an immense amount of data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Reasoning capabilities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Context based answers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Summaries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	</a:t>
            </a:r>
            <a:endParaRPr kumimoji="0" lang="zxx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447480" y="671040"/>
            <a:ext cx="5267520" cy="47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You get: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1" name="Grafik 30"/>
          <p:cNvPicPr/>
          <p:nvPr/>
        </p:nvPicPr>
        <p:blipFill>
          <a:blip r:embed="rId3"/>
          <a:stretch/>
        </p:blipFill>
        <p:spPr>
          <a:xfrm>
            <a:off x="5486400" y="804600"/>
            <a:ext cx="2468880" cy="331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feld 31"/>
          <p:cNvSpPr txBox="1"/>
          <p:nvPr/>
        </p:nvSpPr>
        <p:spPr>
          <a:xfrm>
            <a:off x="5486400" y="4114800"/>
            <a:ext cx="2286000" cy="4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End of Story?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120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PROBLEM 1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121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Reliability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5" name="Grafik 34"/>
          <p:cNvPicPr/>
          <p:nvPr/>
        </p:nvPicPr>
        <p:blipFill>
          <a:blip r:embed="rId3"/>
          <a:stretch/>
        </p:blipFill>
        <p:spPr>
          <a:xfrm>
            <a:off x="1371600" y="1225440"/>
            <a:ext cx="6355080" cy="3575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122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WHY IS RELIABILITY A PROBLEM FOR AI?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123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No Traceability, No Reliability  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8" name="Grafik 37"/>
          <p:cNvPicPr/>
          <p:nvPr/>
        </p:nvPicPr>
        <p:blipFill>
          <a:blip r:embed="rId3"/>
          <a:stretch/>
        </p:blipFill>
        <p:spPr>
          <a:xfrm>
            <a:off x="3429000" y="1828800"/>
            <a:ext cx="2395800" cy="2395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30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PROBLEM 2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31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Data Availability / Security 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1" name="Grafik 40"/>
          <p:cNvPicPr/>
          <p:nvPr/>
        </p:nvPicPr>
        <p:blipFill>
          <a:blip r:embed="rId3"/>
          <a:stretch/>
        </p:blipFill>
        <p:spPr>
          <a:xfrm>
            <a:off x="2002680" y="1143000"/>
            <a:ext cx="4855320" cy="3657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64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THE BEST OF ALL WORLDS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65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Retrieval Augmented Generation RAG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4" name="Grafik 43"/>
          <p:cNvPicPr/>
          <p:nvPr/>
        </p:nvPicPr>
        <p:blipFill>
          <a:blip r:embed="rId3"/>
          <a:stretch/>
        </p:blipFill>
        <p:spPr>
          <a:xfrm>
            <a:off x="1134000" y="1143000"/>
            <a:ext cx="6867000" cy="2971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136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THE BEST OF ALL WORLDS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137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Retrieval Augmented Generation RAG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7" name="Grafik 46"/>
          <p:cNvPicPr/>
          <p:nvPr/>
        </p:nvPicPr>
        <p:blipFill>
          <a:blip r:embed="rId3"/>
          <a:stretch/>
        </p:blipFill>
        <p:spPr>
          <a:xfrm>
            <a:off x="1134000" y="1143000"/>
            <a:ext cx="6867000" cy="29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Grafik 47"/>
          <p:cNvPicPr/>
          <p:nvPr/>
        </p:nvPicPr>
        <p:blipFill>
          <a:blip r:embed="rId4"/>
          <a:stretch/>
        </p:blipFill>
        <p:spPr>
          <a:xfrm>
            <a:off x="1828800" y="2057400"/>
            <a:ext cx="1581840" cy="73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rafik 48"/>
          <p:cNvPicPr/>
          <p:nvPr/>
        </p:nvPicPr>
        <p:blipFill>
          <a:blip r:embed="rId5"/>
          <a:stretch/>
        </p:blipFill>
        <p:spPr>
          <a:xfrm>
            <a:off x="5806440" y="1463040"/>
            <a:ext cx="1737360" cy="1737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66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OUR GOAL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67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Building a Locally Running RAG from Scratch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40"/>
          <p:cNvSpPr/>
          <p:nvPr/>
        </p:nvSpPr>
        <p:spPr>
          <a:xfrm>
            <a:off x="2057400" y="1600200"/>
            <a:ext cx="50292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Proof of concept for many business applications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Make sensitive data reliably accessible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Harness the capabilities of LLMs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32000" marR="0" lvl="1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Semantic searching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32000" marR="0" lvl="1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Conclusion Drawing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32000" marR="0" lvl="1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Inconsistency detection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56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OUR USE CASE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57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The PubMed Scientific Database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5" name="Grafik 54"/>
          <p:cNvPicPr/>
          <p:nvPr/>
        </p:nvPicPr>
        <p:blipFill>
          <a:blip r:embed="rId3"/>
          <a:stretch/>
        </p:blipFill>
        <p:spPr>
          <a:xfrm>
            <a:off x="4910400" y="685800"/>
            <a:ext cx="4005000" cy="14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Shape 36"/>
          <p:cNvSpPr/>
          <p:nvPr/>
        </p:nvSpPr>
        <p:spPr>
          <a:xfrm>
            <a:off x="457200" y="1143000"/>
            <a:ext cx="3931920" cy="320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National Library of Medicine (NIH), USA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Over 40 million citations and abstracts (since 1966)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10.9 million open access papers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Clinical studies, medicine, life sciences 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Well curated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Available in XML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	</a:t>
            </a:r>
            <a:endParaRPr kumimoji="0" lang="zxx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58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OUR USE CASE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59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The PubMed Scientific Database</a:t>
            </a:r>
            <a:endParaRPr kumimoji="0" lang="zxx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9" name="Grafik 58"/>
          <p:cNvPicPr/>
          <p:nvPr/>
        </p:nvPicPr>
        <p:blipFill>
          <a:blip r:embed="rId3"/>
          <a:stretch/>
        </p:blipFill>
        <p:spPr>
          <a:xfrm>
            <a:off x="4910400" y="685800"/>
            <a:ext cx="4005000" cy="14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Shape 9"/>
          <p:cNvSpPr/>
          <p:nvPr/>
        </p:nvSpPr>
        <p:spPr>
          <a:xfrm>
            <a:off x="457200" y="1143000"/>
            <a:ext cx="3931920" cy="320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National Library of Medicine (NIH), USA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Over 40 million citations and abstracts (since 1966)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10.9 million open access papers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Clinical studies, medicine, life sciences 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Well curated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Available in XML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	</a:t>
            </a:r>
            <a:endParaRPr kumimoji="0" lang="zxx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38"/>
          <p:cNvSpPr/>
          <p:nvPr/>
        </p:nvSpPr>
        <p:spPr>
          <a:xfrm>
            <a:off x="4966200" y="2743200"/>
            <a:ext cx="3949200" cy="157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1000 Questions and Answers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Yes/No + Fulltext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16000" marR="0" lvl="0" indent="-2160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Only 69 in Open Access </a:t>
            </a:r>
            <a:endParaRPr kumimoji="0" lang="zxx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4980600" y="2271240"/>
            <a:ext cx="3934800" cy="47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The PubMed Q&amp;A Dataset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126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OUR DATA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 127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Shape 41"/>
          <p:cNvSpPr/>
          <p:nvPr/>
        </p:nvSpPr>
        <p:spPr>
          <a:xfrm>
            <a:off x="1143000" y="1143360"/>
            <a:ext cx="7086600" cy="320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6" name="Grafik 65"/>
          <p:cNvPicPr/>
          <p:nvPr/>
        </p:nvPicPr>
        <p:blipFill>
          <a:blip r:embed="rId3"/>
          <a:stretch/>
        </p:blipFill>
        <p:spPr>
          <a:xfrm>
            <a:off x="1600200" y="1371600"/>
            <a:ext cx="2514600" cy="25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feld 66"/>
          <p:cNvSpPr txBox="1"/>
          <p:nvPr/>
        </p:nvSpPr>
        <p:spPr>
          <a:xfrm>
            <a:off x="4066200" y="1585440"/>
            <a:ext cx="2334600" cy="33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40 million PubMed paper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3886200" y="2181600"/>
            <a:ext cx="2682720" cy="33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10 million open access paper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Textfeld 68"/>
          <p:cNvSpPr txBox="1"/>
          <p:nvPr/>
        </p:nvSpPr>
        <p:spPr>
          <a:xfrm>
            <a:off x="3657600" y="2802240"/>
            <a:ext cx="3657600" cy="398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2.3 million paper for non-commercial use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Textfeld 69"/>
          <p:cNvSpPr txBox="1"/>
          <p:nvPr/>
        </p:nvSpPr>
        <p:spPr>
          <a:xfrm>
            <a:off x="3389400" y="3429000"/>
            <a:ext cx="4383000" cy="33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10K paper in our data set (incl. 69 golden paper)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Textfeld 70"/>
          <p:cNvSpPr txBox="1"/>
          <p:nvPr/>
        </p:nvSpPr>
        <p:spPr>
          <a:xfrm>
            <a:off x="457200" y="502920"/>
            <a:ext cx="6172200" cy="4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Reduced to a Feasible Amount of Data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68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SCIENTIFIC PAPER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 69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Shape 42"/>
          <p:cNvSpPr/>
          <p:nvPr/>
        </p:nvSpPr>
        <p:spPr>
          <a:xfrm>
            <a:off x="1143000" y="914400"/>
            <a:ext cx="70866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5" name="Grafik 74"/>
          <p:cNvPicPr/>
          <p:nvPr/>
        </p:nvPicPr>
        <p:blipFill>
          <a:blip r:embed="rId3"/>
          <a:stretch/>
        </p:blipFill>
        <p:spPr>
          <a:xfrm>
            <a:off x="2514600" y="1316880"/>
            <a:ext cx="4544640" cy="30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feld 75"/>
          <p:cNvSpPr txBox="1"/>
          <p:nvPr/>
        </p:nvSpPr>
        <p:spPr>
          <a:xfrm>
            <a:off x="457200" y="442440"/>
            <a:ext cx="4620600" cy="47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The Structure of Knowledge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70"/>
          <p:cNvSpPr/>
          <p:nvPr/>
        </p:nvSpPr>
        <p:spPr>
          <a:xfrm>
            <a:off x="502920" y="274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00" b="1" i="0" u="none" strike="noStrike" kern="1200" cap="none" spc="400" normalizeH="0" baseline="0" noProof="0">
                <a:ln>
                  <a:noFill/>
                </a:ln>
                <a:solidFill>
                  <a:srgbClr val="0A7C6E"/>
                </a:solidFill>
                <a:effectLst/>
                <a:uLnTx/>
                <a:uFillTx/>
                <a:latin typeface="Courier New"/>
                <a:ea typeface="Courier New"/>
                <a:cs typeface="+mn-cs"/>
              </a:rPr>
              <a:t>SCIENTIFIC PAPER</a:t>
            </a:r>
            <a:endParaRPr kumimoji="0" lang="zxx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 71"/>
          <p:cNvSpPr/>
          <p:nvPr/>
        </p:nvSpPr>
        <p:spPr>
          <a:xfrm>
            <a:off x="50292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Shape 43"/>
          <p:cNvSpPr/>
          <p:nvPr/>
        </p:nvSpPr>
        <p:spPr>
          <a:xfrm>
            <a:off x="1143000" y="914400"/>
            <a:ext cx="70866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76320" dist="25455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x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457200" y="442440"/>
            <a:ext cx="4620600" cy="47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Georgia"/>
                <a:ea typeface="Georgia"/>
                <a:cs typeface="+mn-cs"/>
              </a:rPr>
              <a:t>The Structure of the Data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1" name="Grafik 80"/>
          <p:cNvPicPr/>
          <p:nvPr/>
        </p:nvPicPr>
        <p:blipFill>
          <a:blip r:embed="rId3"/>
          <a:stretch/>
        </p:blipFill>
        <p:spPr>
          <a:xfrm>
            <a:off x="1828800" y="1353240"/>
            <a:ext cx="5513760" cy="13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rafik 81"/>
          <p:cNvPicPr/>
          <p:nvPr/>
        </p:nvPicPr>
        <p:blipFill>
          <a:blip r:embed="rId4"/>
          <a:stretch/>
        </p:blipFill>
        <p:spPr>
          <a:xfrm>
            <a:off x="1828800" y="2935080"/>
            <a:ext cx="6062400" cy="1389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E0E2BF7-385B-5A69-6B1E-FD6EF5101E92}"/>
              </a:ext>
            </a:extLst>
          </p:cNvPr>
          <p:cNvSpPr/>
          <p:nvPr/>
        </p:nvSpPr>
        <p:spPr>
          <a:xfrm>
            <a:off x="457380" y="1451530"/>
            <a:ext cx="8229240" cy="10755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chemeClr val="bg1"/>
                </a:solidFill>
                <a:effectLst/>
                <a:uFillTx/>
                <a:latin typeface="Georgia"/>
                <a:ea typeface="Georgia"/>
              </a:rPr>
              <a:t>From  A 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chemeClr val="bg1"/>
                </a:solidFill>
                <a:effectLst/>
                <a:uFillTx/>
                <a:latin typeface="Georgia"/>
                <a:ea typeface="Georgia"/>
              </a:rPr>
              <a:t>Clinical Question 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chemeClr val="bg1"/>
                </a:solidFill>
                <a:effectLst/>
                <a:uFillTx/>
                <a:latin typeface="Georgia"/>
                <a:ea typeface="Georgia"/>
              </a:rPr>
              <a:t>To an Reliable Answer</a:t>
            </a:r>
            <a:br>
              <a:rPr lang="en-US" sz="2200" b="1" u="none" strike="noStrike" dirty="0">
                <a:solidFill>
                  <a:schemeClr val="bg1"/>
                </a:solidFill>
                <a:effectLst/>
                <a:uFillTx/>
                <a:latin typeface="Georgia"/>
                <a:ea typeface="Georgia"/>
              </a:rPr>
            </a:br>
            <a:r>
              <a:rPr lang="en-US" sz="2200" b="1" u="none" strike="noStrike" dirty="0">
                <a:solidFill>
                  <a:schemeClr val="bg1"/>
                </a:solidFill>
                <a:effectLst/>
                <a:uFillTx/>
                <a:latin typeface="Georgia"/>
                <a:ea typeface="Georgia"/>
              </a:rPr>
              <a:t>- </a:t>
            </a:r>
            <a:r>
              <a:rPr lang="en-US" sz="2200" b="1" i="1" u="none" strike="noStrike" dirty="0">
                <a:solidFill>
                  <a:schemeClr val="bg1"/>
                </a:solidFill>
                <a:effectLst/>
                <a:uFillTx/>
                <a:latin typeface="Georgia"/>
                <a:ea typeface="Georgia"/>
              </a:rPr>
              <a:t>The Pipeline </a:t>
            </a:r>
            <a:r>
              <a:rPr lang="en-US" sz="2200" b="1" u="none" strike="noStrike" dirty="0">
                <a:solidFill>
                  <a:schemeClr val="bg1"/>
                </a:solidFill>
                <a:effectLst/>
                <a:uFillTx/>
                <a:latin typeface="Georgia"/>
                <a:ea typeface="Georgia"/>
              </a:rPr>
              <a:t>-</a:t>
            </a:r>
            <a:endParaRPr lang="de-DE" sz="22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47A6E78-96BB-4696-B386-0F1F3628AD3B}"/>
              </a:ext>
            </a:extLst>
          </p:cNvPr>
          <p:cNvGrpSpPr/>
          <p:nvPr/>
        </p:nvGrpSpPr>
        <p:grpSpPr>
          <a:xfrm>
            <a:off x="4175267" y="3711877"/>
            <a:ext cx="639720" cy="255600"/>
            <a:chOff x="7499160" y="4485600"/>
            <a:chExt cx="639720" cy="25560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D45A7C44-E882-DF64-16E7-E74FBDF3904D}"/>
                </a:ext>
              </a:extLst>
            </p:cNvPr>
            <p:cNvSpPr/>
            <p:nvPr/>
          </p:nvSpPr>
          <p:spPr>
            <a:xfrm>
              <a:off x="7499160" y="4485600"/>
              <a:ext cx="639720" cy="255600"/>
            </a:xfrm>
            <a:prstGeom prst="roundRect">
              <a:avLst>
                <a:gd name="adj" fmla="val 50000"/>
              </a:avLst>
            </a:prstGeom>
            <a:solidFill>
              <a:srgbClr val="0D2137">
                <a:alpha val="60000"/>
              </a:srgbClr>
            </a:solidFill>
            <a:ln w="6350">
              <a:solidFill>
                <a:srgbClr val="FFFFFF">
                  <a:alpha val="25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x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3F3AF740-86E7-E982-4860-8800FBD6C794}"/>
                </a:ext>
              </a:extLst>
            </p:cNvPr>
            <p:cNvSpPr/>
            <p:nvPr/>
          </p:nvSpPr>
          <p:spPr>
            <a:xfrm>
              <a:off x="7499160" y="4485600"/>
              <a:ext cx="639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DDDDDD"/>
                  </a:solidFill>
                  <a:effectLst/>
                  <a:uLnTx/>
                  <a:uFillTx/>
                  <a:latin typeface="Courier New"/>
                  <a:ea typeface="Courier New"/>
                  <a:cs typeface="+mn-cs"/>
                </a:rPr>
                <a:t>Viktor</a:t>
              </a:r>
              <a:endParaRPr kumimoji="0" lang="zxx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0625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02920" y="201240"/>
            <a:ext cx="1869344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400" dirty="0">
                <a:solidFill>
                  <a:srgbClr val="0A7C6E"/>
                </a:solidFill>
                <a:effectLst/>
                <a:uFillTx/>
                <a:latin typeface="Courier New"/>
                <a:ea typeface="Courier New"/>
              </a:rPr>
              <a:t>HOW IT WORKS</a:t>
            </a:r>
            <a:endParaRPr lang="de-DE" sz="11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02920" y="4204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D2137"/>
                </a:solidFill>
                <a:effectLst/>
                <a:uFillTx/>
                <a:latin typeface="Georgia"/>
                <a:ea typeface="Georgia"/>
              </a:rPr>
              <a:t>The Pipeline — Clinical Question to Answer</a:t>
            </a:r>
            <a:endParaRPr lang="de-DE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502920" y="9327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0A7C6E"/>
                </a:solidFill>
                <a:effectLst/>
                <a:uFillTx/>
                <a:latin typeface="Courier New"/>
                <a:ea typeface="Courier New"/>
              </a:rPr>
              <a:t>Index built once offline (10,000 articles · 46,853 chunks)</a:t>
            </a:r>
            <a:endParaRPr lang="de-DE" sz="1000" b="0" u="none" strike="noStrike" dirty="0">
              <a:solidFill>
                <a:srgbClr val="0A7C6E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731700" y="1997175"/>
            <a:ext cx="114264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73170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8642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Query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2039220" y="1997175"/>
            <a:ext cx="1142640" cy="822600"/>
          </a:xfrm>
          <a:prstGeom prst="rect">
            <a:avLst/>
          </a:prstGeom>
          <a:solidFill>
            <a:schemeClr val="bg1"/>
          </a:solidFill>
          <a:ln w="6350">
            <a:solidFill>
              <a:srgbClr val="DDDDDD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203922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2a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209430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Keyword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Search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3206700" y="2166463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7C6E"/>
                </a:solidFill>
                <a:effectLst/>
                <a:uFillTx/>
                <a:latin typeface="Calibri"/>
              </a:rPr>
              <a:t>+</a:t>
            </a:r>
            <a:endParaRPr lang="de-DE" sz="2800" b="0" u="none" strike="noStrike" dirty="0">
              <a:solidFill>
                <a:srgbClr val="0A7C6E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334674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88888"/>
                </a:solidFill>
                <a:effectLst/>
                <a:uFillTx/>
                <a:latin typeface="Courier New"/>
                <a:ea typeface="Courier New"/>
              </a:rPr>
              <a:t>2b</a:t>
            </a:r>
            <a:endParaRPr lang="de-DE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473AED0-C07A-E38E-2C20-A114DFACA959}"/>
              </a:ext>
            </a:extLst>
          </p:cNvPr>
          <p:cNvGrpSpPr/>
          <p:nvPr/>
        </p:nvGrpSpPr>
        <p:grpSpPr>
          <a:xfrm>
            <a:off x="3380220" y="2434533"/>
            <a:ext cx="1142640" cy="822600"/>
            <a:chOff x="3060000" y="3242306"/>
            <a:chExt cx="1142640" cy="822600"/>
          </a:xfrm>
        </p:grpSpPr>
        <p:sp>
          <p:nvSpPr>
            <p:cNvPr id="106" name="Shape 13"/>
            <p:cNvSpPr/>
            <p:nvPr/>
          </p:nvSpPr>
          <p:spPr>
            <a:xfrm>
              <a:off x="3060000" y="3242306"/>
              <a:ext cx="1142640" cy="822600"/>
            </a:xfrm>
            <a:prstGeom prst="rect">
              <a:avLst/>
            </a:prstGeom>
            <a:solidFill>
              <a:srgbClr val="0D2137"/>
            </a:solidFill>
            <a:ln w="6350">
              <a:solidFill>
                <a:srgbClr val="0D2137"/>
              </a:solidFill>
              <a:round/>
            </a:ln>
            <a:effectLst>
              <a:outerShdw blurRad="50760" dist="12218" dir="8100000" algn="bl" rotWithShape="0">
                <a:srgbClr val="000000">
                  <a:alpha val="7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de-DE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Text 15"/>
            <p:cNvSpPr/>
            <p:nvPr/>
          </p:nvSpPr>
          <p:spPr>
            <a:xfrm>
              <a:off x="3081600" y="3486320"/>
              <a:ext cx="103284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12B39A"/>
                  </a:solidFill>
                  <a:effectLst/>
                  <a:uFillTx/>
                  <a:latin typeface="Calibri"/>
                  <a:ea typeface="Calibri"/>
                </a:rPr>
                <a:t>Semantic</a:t>
              </a:r>
              <a:endParaRPr lang="de-DE" sz="1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12B39A"/>
                  </a:solidFill>
                  <a:effectLst/>
                  <a:uFillTx/>
                  <a:latin typeface="Calibri"/>
                  <a:ea typeface="Calibri"/>
                </a:rPr>
                <a:t>Search</a:t>
              </a:r>
              <a:endParaRPr lang="de-DE" sz="1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Shape 19"/>
          <p:cNvSpPr/>
          <p:nvPr/>
        </p:nvSpPr>
        <p:spPr>
          <a:xfrm>
            <a:off x="4654620" y="1997175"/>
            <a:ext cx="114264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465462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470934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Fusion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5"/>
          <p:cNvSpPr/>
          <p:nvPr/>
        </p:nvSpPr>
        <p:spPr>
          <a:xfrm>
            <a:off x="5962140" y="1997175"/>
            <a:ext cx="114264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6"/>
          <p:cNvSpPr/>
          <p:nvPr/>
        </p:nvSpPr>
        <p:spPr>
          <a:xfrm>
            <a:off x="596214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7"/>
          <p:cNvSpPr/>
          <p:nvPr/>
        </p:nvSpPr>
        <p:spPr>
          <a:xfrm>
            <a:off x="601686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Top-K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2137"/>
                </a:solidFill>
                <a:effectLst/>
                <a:uFillTx/>
                <a:latin typeface="Calibri"/>
                <a:ea typeface="Calibri"/>
              </a:rPr>
              <a:t>Articles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0"/>
          <p:cNvSpPr/>
          <p:nvPr/>
        </p:nvSpPr>
        <p:spPr>
          <a:xfrm>
            <a:off x="7269660" y="1997175"/>
            <a:ext cx="1142640" cy="82260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round/>
          </a:ln>
          <a:effectLst>
            <a:outerShdw blurRad="5076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1"/>
          <p:cNvSpPr/>
          <p:nvPr/>
        </p:nvSpPr>
        <p:spPr>
          <a:xfrm>
            <a:off x="7269660" y="2051895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888888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2"/>
          <p:cNvSpPr/>
          <p:nvPr/>
        </p:nvSpPr>
        <p:spPr>
          <a:xfrm>
            <a:off x="7324380" y="2234775"/>
            <a:ext cx="103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2B39A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2B39A"/>
                </a:solidFill>
                <a:effectLst/>
                <a:uFillTx/>
                <a:latin typeface="Calibri"/>
                <a:ea typeface="Calibri"/>
              </a:rPr>
              <a:t>Answer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4"/>
          <p:cNvSpPr/>
          <p:nvPr/>
        </p:nvSpPr>
        <p:spPr>
          <a:xfrm>
            <a:off x="73170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plain-language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clinical question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5"/>
          <p:cNvSpPr/>
          <p:nvPr/>
        </p:nvSpPr>
        <p:spPr>
          <a:xfrm>
            <a:off x="1884060" y="3003375"/>
            <a:ext cx="1480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tokenised</a:t>
            </a: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 ·</a:t>
            </a:r>
            <a:b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 scored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against 46k chunks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6"/>
          <p:cNvSpPr/>
          <p:nvPr/>
        </p:nvSpPr>
        <p:spPr>
          <a:xfrm>
            <a:off x="3401820" y="356713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query embedded · biomedical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model · nearest-</a:t>
            </a:r>
            <a:r>
              <a:rPr lang="en-US" sz="1050" b="0" u="none" strike="noStrike" dirty="0" err="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neighbour</a:t>
            </a:r>
            <a:endParaRPr lang="de-DE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7"/>
          <p:cNvSpPr/>
          <p:nvPr/>
        </p:nvSpPr>
        <p:spPr>
          <a:xfrm>
            <a:off x="465462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both lists merged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· remove duplicates/deduping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8"/>
          <p:cNvSpPr/>
          <p:nvPr/>
        </p:nvSpPr>
        <p:spPr>
          <a:xfrm>
            <a:off x="596214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highest-scoring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excerpts as context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9"/>
          <p:cNvSpPr/>
          <p:nvPr/>
        </p:nvSpPr>
        <p:spPr>
          <a:xfrm>
            <a:off x="7269660" y="3003375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cited answer · context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only · no general training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feld 44"/>
          <p:cNvSpPr/>
          <p:nvPr/>
        </p:nvSpPr>
        <p:spPr>
          <a:xfrm>
            <a:off x="3127500" y="3510027"/>
            <a:ext cx="2197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hteck 45"/>
          <p:cNvSpPr/>
          <p:nvPr/>
        </p:nvSpPr>
        <p:spPr>
          <a:xfrm>
            <a:off x="3368312" y="1531669"/>
            <a:ext cx="1109160" cy="7200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Chunking</a:t>
            </a:r>
            <a:br>
              <a:rPr lang="de-DE" sz="11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</a:br>
            <a:r>
              <a:rPr lang="de-DE" sz="1100" b="0" u="none" strike="noStrike" dirty="0" err="1">
                <a:solidFill>
                  <a:schemeClr val="lt1"/>
                </a:solidFill>
                <a:effectLst/>
                <a:uFillTx/>
                <a:latin typeface="Calibri"/>
              </a:rPr>
              <a:t>emmbedding</a:t>
            </a:r>
            <a:endParaRPr lang="de-DE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erader Verbinder 131"/>
          <p:cNvSpPr/>
          <p:nvPr/>
        </p:nvSpPr>
        <p:spPr>
          <a:xfrm flipV="1">
            <a:off x="3181860" y="1813575"/>
            <a:ext cx="164880" cy="556560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erader Verbinder 132"/>
          <p:cNvSpPr/>
          <p:nvPr/>
        </p:nvSpPr>
        <p:spPr>
          <a:xfrm>
            <a:off x="3181860" y="2370135"/>
            <a:ext cx="210240" cy="571786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erader Verbinder 133"/>
          <p:cNvSpPr/>
          <p:nvPr/>
        </p:nvSpPr>
        <p:spPr>
          <a:xfrm>
            <a:off x="4486832" y="1847907"/>
            <a:ext cx="167788" cy="560388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erader Verbinder 134"/>
          <p:cNvSpPr/>
          <p:nvPr/>
        </p:nvSpPr>
        <p:spPr>
          <a:xfrm flipV="1">
            <a:off x="4540860" y="2408295"/>
            <a:ext cx="113760" cy="516372"/>
          </a:xfrm>
          <a:prstGeom prst="line">
            <a:avLst/>
          </a:prstGeom>
          <a:ln w="25400">
            <a:solidFill>
              <a:srgbClr val="0A7C6E"/>
            </a:solidFill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9DA05CFD-DDA4-C1BC-87AD-728242AF3314}"/>
              </a:ext>
            </a:extLst>
          </p:cNvPr>
          <p:cNvSpPr/>
          <p:nvPr/>
        </p:nvSpPr>
        <p:spPr>
          <a:xfrm>
            <a:off x="5779400" y="2398134"/>
            <a:ext cx="180000" cy="0"/>
          </a:xfrm>
          <a:prstGeom prst="line">
            <a:avLst/>
          </a:prstGeom>
          <a:ln w="25400">
            <a:solidFill>
              <a:srgbClr val="0A7C6E"/>
            </a:solidFill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1891772" y="2398134"/>
            <a:ext cx="180000" cy="0"/>
          </a:xfrm>
          <a:prstGeom prst="line">
            <a:avLst/>
          </a:prstGeom>
          <a:ln w="25400">
            <a:solidFill>
              <a:srgbClr val="0A7C6E"/>
            </a:solidFill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3505309-8E2E-C5CB-834E-8674B2A2121D}"/>
              </a:ext>
            </a:extLst>
          </p:cNvPr>
          <p:cNvSpPr/>
          <p:nvPr/>
        </p:nvSpPr>
        <p:spPr>
          <a:xfrm>
            <a:off x="7104780" y="2398134"/>
            <a:ext cx="180000" cy="0"/>
          </a:xfrm>
          <a:prstGeom prst="line">
            <a:avLst/>
          </a:prstGeom>
          <a:ln w="25400">
            <a:solidFill>
              <a:srgbClr val="0A7C6E"/>
            </a:solidFill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Bildschirmpräsentation (16:9)</PresentationFormat>
  <Paragraphs>131</Paragraphs>
  <Slides>17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17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Symbol</vt:lpstr>
      <vt:lpstr>Times New Roman</vt:lpstr>
      <vt:lpstr>Wingdings</vt:lpstr>
      <vt:lpstr>Office Theme</vt:lpstr>
      <vt:lpstr>1_Office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PMC Research Assistant — Evaluation</dc:title>
  <dc:subject>PptxGenJS Presentation</dc:subject>
  <dc:creator>Thomas Heger</dc:creator>
  <cp:lastModifiedBy>Th Heger</cp:lastModifiedBy>
  <cp:revision>40</cp:revision>
  <dcterms:created xsi:type="dcterms:W3CDTF">2026-03-23T17:15:12Z</dcterms:created>
  <dcterms:modified xsi:type="dcterms:W3CDTF">2026-03-25T11:50:26Z</dcterms:modified>
</cp:coreProperties>
</file>