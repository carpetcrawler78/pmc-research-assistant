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Lst>
  <p:notesMasterIdLst>
    <p:notesMasterId r:id="rId3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9144000" cy="5143500" type="screen16x9"/>
  <p:notesSz cx="5143500" cy="9144000"/>
  <p:embeddedFontLst>
    <p:embeddedFont>
      <p:font typeface="Georgia" panose="02040502050405020303" pitchFamily="18" charset="0"/>
      <p:regular r:id="rId34"/>
      <p:bold r:id="rId35"/>
      <p:italic r:id="rId36"/>
      <p:boldItalic r:id="rId37"/>
    </p:embeddedFont>
    <p:embeddedFont>
      <p:font typeface="Roboto" panose="020000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jE9T8Dk8az6jLmWFw3pHuDibuQ9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305" autoAdjust="0"/>
  </p:normalViewPr>
  <p:slideViewPr>
    <p:cSldViewPr snapToGrid="0">
      <p:cViewPr varScale="1">
        <p:scale>
          <a:sx n="50" d="100"/>
          <a:sy n="50" d="100"/>
        </p:scale>
        <p:origin x="1668" y="2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customschemas.google.com/relationships/presentationmetadata" Target="metadata"/><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g3d2b26f9c3f_2_4: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 name="Google Shape;21;g3d2b26f9c3f_2_4: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22" name="Google Shape;22;g3d2b26f9c3f_2_4: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i="0" u="none" strike="noStrike" cap="none">
                <a:solidFill>
                  <a:schemeClr val="dk1"/>
                </a:solidFill>
                <a:latin typeface="Arial"/>
                <a:ea typeface="Arial"/>
                <a:cs typeface="Arial"/>
                <a:sym typeface="Arial"/>
              </a:rPr>
              <a:t>1</a:t>
            </a:fld>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g3d2b26f9c3f_2_18: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g3d2b26f9c3f_2_18: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36" name="Google Shape;36;g3d2b26f9c3f_2_18: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2</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3d2b26f9c3f_2_26: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 name="Google Shape;44;g3d2b26f9c3f_2_26: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45" name="Google Shape;45;g3d2b26f9c3f_2_26: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3</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d2b26f9c3f_2_34: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g3d2b26f9c3f_2_34: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54" name="Google Shape;54;g3d2b26f9c3f_2_34: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4</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2b26f9c3f_2_44: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g3d2b26f9c3f_2_44: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65" name="Google Shape;65;g3d2b26f9c3f_2_44: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5</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d2b26f9c3f_2_51: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 name="Google Shape;72;g3d2b26f9c3f_2_51: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73" name="Google Shape;73;g3d2b26f9c3f_2_51: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6</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d2b26f9c3f_2_58: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 name="Google Shape;80;g3d2b26f9c3f_2_58: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81" name="Google Shape;81;g3d2b26f9c3f_2_58: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7</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2b26f9c3f_2_65: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 name="Google Shape;88;g3d2b26f9c3f_2_65: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89" name="Google Shape;89;g3d2b26f9c3f_2_65: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8</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d2b26f9c3f_2_72: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g3d2b26f9c3f_2_72: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97" name="Google Shape;97;g3d2b26f9c3f_2_72: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9</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d2b26f9c3f_2_81: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g3d2b26f9c3f_2_81: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07" name="Google Shape;107;g3d2b26f9c3f_2_81: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10</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d2b26f9c3f_2_88: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g3d2b26f9c3f_2_88: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15" name="Google Shape;115;g3d2b26f9c3f_2_88: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11</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d2b26f9c3f_2_96: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g3d2b26f9c3f_2_96: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24" name="Google Shape;124;g3d2b26f9c3f_2_96: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12</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d2b26f9c3f_2_106: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g3d2b26f9c3f_2_106: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35" name="Google Shape;135;g3d2b26f9c3f_2_106: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13</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d2b26f9c3f_2_119: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g3d2b26f9c3f_2_119: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49" name="Google Shape;149;g3d2b26f9c3f_2_119: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14</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d2b26f9c3f_2_128:notes"/>
          <p:cNvSpPr>
            <a:spLocks noGrp="1" noRot="1" noChangeAspect="1"/>
          </p:cNvSpPr>
          <p:nvPr>
            <p:ph type="sldImg" idx="2"/>
          </p:nvPr>
        </p:nvSpPr>
        <p:spPr>
          <a:xfrm>
            <a:off x="-360" y="-36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g3d2b26f9c3f_2_128: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59" name="Google Shape;159;g3d2b26f9c3f_2_128: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15</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6: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6:notes"/>
          <p:cNvSpPr>
            <a:spLocks noGrp="1" noRot="1" noChangeAspect="1"/>
          </p:cNvSpPr>
          <p:nvPr>
            <p:ph type="sldImg" idx="2"/>
          </p:nvPr>
        </p:nvSpPr>
        <p:spPr>
          <a:xfrm>
            <a:off x="857400" y="685800"/>
            <a:ext cx="3429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2a2c2e009_3_4: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g3d2a2c2e009_3_4: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179" name="Google Shape;179;g3d2a2c2e009_3_4: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17</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d2a2c2e009_1_25: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 name="Google Shape;205;g3d2a2c2e009_1_25: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206" name="Google Shape;206;g3d2a2c2e009_1_25: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18</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2a2c2e009_1_81: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g3d2a2c2e009_1_81: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lvl="0" indent="0" algn="l" rtl="0">
              <a:spcBef>
                <a:spcPts val="0"/>
              </a:spcBef>
              <a:spcAft>
                <a:spcPts val="0"/>
              </a:spcAft>
              <a:buSzPts val="1800"/>
              <a:buNone/>
            </a:pPr>
            <a:endParaRPr sz="1800" b="0" u="none" strike="noStrike">
              <a:solidFill>
                <a:srgbClr val="000000"/>
              </a:solidFill>
              <a:latin typeface="Arial"/>
              <a:ea typeface="Arial"/>
              <a:cs typeface="Arial"/>
              <a:sym typeface="Arial"/>
            </a:endParaRPr>
          </a:p>
        </p:txBody>
      </p:sp>
      <p:sp>
        <p:nvSpPr>
          <p:cNvPr id="244" name="Google Shape;244;g3d2a2c2e009_1_81: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chemeClr val="dk1"/>
              </a:buClr>
              <a:buSzPts val="1800"/>
              <a:buFont typeface="Arial"/>
              <a:buNone/>
            </a:pPr>
            <a:fld id="{00000000-1234-1234-1234-123412341234}" type="slidenum">
              <a:rPr lang="de-DE" sz="1800" b="0" u="none" strike="noStrike">
                <a:solidFill>
                  <a:schemeClr val="dk1"/>
                </a:solidFill>
                <a:latin typeface="Arial"/>
                <a:ea typeface="Arial"/>
                <a:cs typeface="Arial"/>
                <a:sym typeface="Arial"/>
              </a:rPr>
              <a:t>19</a:t>
            </a:fld>
            <a:endParaRPr sz="1800" b="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d27537c611_0_39: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d27537c611_0_39:notes"/>
          <p:cNvSpPr>
            <a:spLocks noGrp="1" noRot="1" noChangeAspect="1"/>
          </p:cNvSpPr>
          <p:nvPr>
            <p:ph type="sldImg" idx="2"/>
          </p:nvPr>
        </p:nvSpPr>
        <p:spPr>
          <a:xfrm>
            <a:off x="857400" y="685800"/>
            <a:ext cx="3429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0" name="Google Shape;290;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SzPts val="1100"/>
              <a:buNone/>
            </a:pPr>
            <a:r>
              <a:rPr lang="de-DE" dirty="0">
                <a:solidFill>
                  <a:schemeClr val="dk1"/>
                </a:solidFill>
              </a:rPr>
              <a:t>So </a:t>
            </a:r>
            <a:r>
              <a:rPr lang="de-DE" dirty="0" err="1">
                <a:solidFill>
                  <a:schemeClr val="dk1"/>
                </a:solidFill>
              </a:rPr>
              <a:t>far</a:t>
            </a:r>
            <a:r>
              <a:rPr lang="de-DE" dirty="0">
                <a:solidFill>
                  <a:schemeClr val="dk1"/>
                </a:solidFill>
              </a:rPr>
              <a:t>, </a:t>
            </a:r>
            <a:r>
              <a:rPr lang="de-DE" dirty="0" err="1">
                <a:solidFill>
                  <a:schemeClr val="dk1"/>
                </a:solidFill>
              </a:rPr>
              <a:t>we’ve</a:t>
            </a:r>
            <a:r>
              <a:rPr lang="de-DE" dirty="0">
                <a:solidFill>
                  <a:schemeClr val="dk1"/>
                </a:solidFill>
              </a:rPr>
              <a:t> </a:t>
            </a:r>
            <a:r>
              <a:rPr lang="de-DE" dirty="0" err="1">
                <a:solidFill>
                  <a:schemeClr val="dk1"/>
                </a:solidFill>
              </a:rPr>
              <a:t>seen</a:t>
            </a:r>
            <a:r>
              <a:rPr lang="de-DE" dirty="0">
                <a:solidFill>
                  <a:schemeClr val="dk1"/>
                </a:solidFill>
              </a:rPr>
              <a:t> </a:t>
            </a:r>
            <a:r>
              <a:rPr lang="de-DE" dirty="0" err="1">
                <a:solidFill>
                  <a:schemeClr val="dk1"/>
                </a:solidFill>
              </a:rPr>
              <a:t>how</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system</a:t>
            </a:r>
            <a:r>
              <a:rPr lang="de-DE" dirty="0">
                <a:solidFill>
                  <a:schemeClr val="dk1"/>
                </a:solidFill>
              </a:rPr>
              <a:t> </a:t>
            </a:r>
            <a:r>
              <a:rPr lang="de-DE" dirty="0" err="1">
                <a:solidFill>
                  <a:schemeClr val="dk1"/>
                </a:solidFill>
              </a:rPr>
              <a:t>evolved</a:t>
            </a:r>
            <a:r>
              <a:rPr lang="de-DE" dirty="0">
                <a:solidFill>
                  <a:schemeClr val="dk1"/>
                </a:solidFill>
              </a:rPr>
              <a:t>—</a:t>
            </a:r>
            <a:r>
              <a:rPr lang="de-DE" dirty="0" err="1">
                <a:solidFill>
                  <a:schemeClr val="dk1"/>
                </a:solidFill>
              </a:rPr>
              <a:t>from</a:t>
            </a:r>
            <a:r>
              <a:rPr lang="de-DE" dirty="0">
                <a:solidFill>
                  <a:schemeClr val="dk1"/>
                </a:solidFill>
              </a:rPr>
              <a:t> a </a:t>
            </a:r>
            <a:r>
              <a:rPr lang="de-DE" dirty="0" err="1">
                <a:solidFill>
                  <a:schemeClr val="dk1"/>
                </a:solidFill>
              </a:rPr>
              <a:t>keyword-based</a:t>
            </a:r>
            <a:r>
              <a:rPr lang="de-DE" dirty="0">
                <a:solidFill>
                  <a:schemeClr val="dk1"/>
                </a:solidFill>
              </a:rPr>
              <a:t> prototype </a:t>
            </a:r>
            <a:r>
              <a:rPr lang="de-DE" dirty="0" err="1">
                <a:solidFill>
                  <a:schemeClr val="dk1"/>
                </a:solidFill>
              </a:rPr>
              <a:t>to</a:t>
            </a:r>
            <a:r>
              <a:rPr lang="de-DE" dirty="0">
                <a:solidFill>
                  <a:schemeClr val="dk1"/>
                </a:solidFill>
              </a:rPr>
              <a:t> a </a:t>
            </a:r>
            <a:r>
              <a:rPr lang="de-DE" dirty="0" err="1">
                <a:solidFill>
                  <a:schemeClr val="dk1"/>
                </a:solidFill>
              </a:rPr>
              <a:t>full</a:t>
            </a:r>
            <a:r>
              <a:rPr lang="de-DE" dirty="0">
                <a:solidFill>
                  <a:schemeClr val="dk1"/>
                </a:solidFill>
              </a:rPr>
              <a:t> </a:t>
            </a:r>
            <a:r>
              <a:rPr lang="de-DE" dirty="0" err="1">
                <a:solidFill>
                  <a:schemeClr val="dk1"/>
                </a:solidFill>
              </a:rPr>
              <a:t>retrieval</a:t>
            </a:r>
            <a:r>
              <a:rPr lang="de-DE" dirty="0">
                <a:solidFill>
                  <a:schemeClr val="dk1"/>
                </a:solidFill>
              </a:rPr>
              <a:t> and </a:t>
            </a:r>
            <a:r>
              <a:rPr lang="de-DE" dirty="0" err="1">
                <a:solidFill>
                  <a:schemeClr val="dk1"/>
                </a:solidFill>
              </a:rPr>
              <a:t>generation</a:t>
            </a:r>
            <a:r>
              <a:rPr lang="de-DE" dirty="0">
                <a:solidFill>
                  <a:schemeClr val="dk1"/>
                </a:solidFill>
              </a:rPr>
              <a:t> </a:t>
            </a:r>
            <a:r>
              <a:rPr lang="de-DE" dirty="0" err="1">
                <a:solidFill>
                  <a:schemeClr val="dk1"/>
                </a:solidFill>
              </a:rPr>
              <a:t>pipeline</a:t>
            </a:r>
            <a:r>
              <a:rPr lang="de-DE" dirty="0">
                <a:solidFill>
                  <a:schemeClr val="dk1"/>
                </a:solidFill>
              </a:rPr>
              <a:t>.</a:t>
            </a:r>
            <a:endParaRPr dirty="0">
              <a:solidFill>
                <a:schemeClr val="dk1"/>
              </a:solidFill>
            </a:endParaRPr>
          </a:p>
          <a:p>
            <a:pPr marL="0" lvl="0" indent="0" algn="l" rtl="0">
              <a:lnSpc>
                <a:spcPct val="115000"/>
              </a:lnSpc>
              <a:spcBef>
                <a:spcPts val="1200"/>
              </a:spcBef>
              <a:spcAft>
                <a:spcPts val="0"/>
              </a:spcAft>
              <a:buSzPts val="1100"/>
              <a:buNone/>
            </a:pPr>
            <a:r>
              <a:rPr lang="de-DE" b="1" dirty="0" err="1">
                <a:solidFill>
                  <a:schemeClr val="dk1"/>
                </a:solidFill>
              </a:rPr>
              <a:t>Now</a:t>
            </a:r>
            <a:r>
              <a:rPr lang="de-DE" b="1" dirty="0">
                <a:solidFill>
                  <a:schemeClr val="dk1"/>
                </a:solidFill>
              </a:rPr>
              <a:t>, </a:t>
            </a:r>
            <a:r>
              <a:rPr lang="de-DE" b="1" dirty="0" err="1">
                <a:solidFill>
                  <a:schemeClr val="dk1"/>
                </a:solidFill>
              </a:rPr>
              <a:t>the</a:t>
            </a:r>
            <a:r>
              <a:rPr lang="de-DE" b="1" dirty="0">
                <a:solidFill>
                  <a:schemeClr val="dk1"/>
                </a:solidFill>
              </a:rPr>
              <a:t> </a:t>
            </a:r>
            <a:r>
              <a:rPr lang="de-DE" b="1" dirty="0" err="1">
                <a:solidFill>
                  <a:schemeClr val="dk1"/>
                </a:solidFill>
              </a:rPr>
              <a:t>key</a:t>
            </a:r>
            <a:r>
              <a:rPr lang="de-DE" b="1" dirty="0">
                <a:solidFill>
                  <a:schemeClr val="dk1"/>
                </a:solidFill>
              </a:rPr>
              <a:t> </a:t>
            </a:r>
            <a:r>
              <a:rPr lang="de-DE" b="1" dirty="0" err="1">
                <a:solidFill>
                  <a:schemeClr val="dk1"/>
                </a:solidFill>
              </a:rPr>
              <a:t>question</a:t>
            </a:r>
            <a:r>
              <a:rPr lang="de-DE" b="1" dirty="0">
                <a:solidFill>
                  <a:schemeClr val="dk1"/>
                </a:solidFill>
              </a:rPr>
              <a:t> </a:t>
            </a:r>
            <a:r>
              <a:rPr lang="de-DE" b="1" dirty="0" err="1">
                <a:solidFill>
                  <a:schemeClr val="dk1"/>
                </a:solidFill>
              </a:rPr>
              <a:t>is</a:t>
            </a:r>
            <a:r>
              <a:rPr lang="de-DE" b="1" dirty="0">
                <a:solidFill>
                  <a:schemeClr val="dk1"/>
                </a:solidFill>
              </a:rPr>
              <a:t>: </a:t>
            </a:r>
            <a:r>
              <a:rPr lang="de-DE" b="1" dirty="0" err="1">
                <a:solidFill>
                  <a:schemeClr val="dk1"/>
                </a:solidFill>
              </a:rPr>
              <a:t>how</a:t>
            </a:r>
            <a:r>
              <a:rPr lang="de-DE" b="1" dirty="0">
                <a:solidFill>
                  <a:schemeClr val="dk1"/>
                </a:solidFill>
              </a:rPr>
              <a:t> </a:t>
            </a:r>
            <a:r>
              <a:rPr lang="de-DE" b="1" dirty="0" err="1">
                <a:solidFill>
                  <a:schemeClr val="dk1"/>
                </a:solidFill>
              </a:rPr>
              <a:t>well</a:t>
            </a:r>
            <a:r>
              <a:rPr lang="de-DE" b="1" dirty="0">
                <a:solidFill>
                  <a:schemeClr val="dk1"/>
                </a:solidFill>
              </a:rPr>
              <a:t> do </a:t>
            </a:r>
            <a:r>
              <a:rPr lang="de-DE" b="1" dirty="0" err="1">
                <a:solidFill>
                  <a:schemeClr val="dk1"/>
                </a:solidFill>
              </a:rPr>
              <a:t>these</a:t>
            </a:r>
            <a:r>
              <a:rPr lang="de-DE" b="1" dirty="0">
                <a:solidFill>
                  <a:schemeClr val="dk1"/>
                </a:solidFill>
              </a:rPr>
              <a:t> </a:t>
            </a:r>
            <a:r>
              <a:rPr lang="de-DE" b="1" dirty="0" err="1">
                <a:solidFill>
                  <a:schemeClr val="dk1"/>
                </a:solidFill>
              </a:rPr>
              <a:t>iterations</a:t>
            </a:r>
            <a:r>
              <a:rPr lang="de-DE" b="1" dirty="0">
                <a:solidFill>
                  <a:schemeClr val="dk1"/>
                </a:solidFill>
              </a:rPr>
              <a:t> </a:t>
            </a:r>
            <a:r>
              <a:rPr lang="de-DE" b="1" dirty="0" err="1">
                <a:solidFill>
                  <a:schemeClr val="dk1"/>
                </a:solidFill>
              </a:rPr>
              <a:t>actually</a:t>
            </a:r>
            <a:r>
              <a:rPr lang="de-DE" b="1" dirty="0">
                <a:solidFill>
                  <a:schemeClr val="dk1"/>
                </a:solidFill>
              </a:rPr>
              <a:t> perform?</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a:solidFill>
                  <a:schemeClr val="dk1"/>
                </a:solidFill>
              </a:rPr>
              <a:t>First, </a:t>
            </a:r>
            <a:r>
              <a:rPr lang="de-DE" dirty="0" err="1">
                <a:solidFill>
                  <a:schemeClr val="dk1"/>
                </a:solidFill>
              </a:rPr>
              <a:t>let’s</a:t>
            </a:r>
            <a:r>
              <a:rPr lang="de-DE" dirty="0">
                <a:solidFill>
                  <a:schemeClr val="dk1"/>
                </a:solidFill>
              </a:rPr>
              <a:t> </a:t>
            </a:r>
            <a:r>
              <a:rPr lang="de-DE" dirty="0" err="1">
                <a:solidFill>
                  <a:schemeClr val="dk1"/>
                </a:solidFill>
              </a:rPr>
              <a:t>look</a:t>
            </a:r>
            <a:r>
              <a:rPr lang="de-DE" dirty="0">
                <a:solidFill>
                  <a:schemeClr val="dk1"/>
                </a:solidFill>
              </a:rPr>
              <a:t> at </a:t>
            </a:r>
            <a:r>
              <a:rPr lang="de-DE" dirty="0" err="1">
                <a:solidFill>
                  <a:schemeClr val="dk1"/>
                </a:solidFill>
              </a:rPr>
              <a:t>how</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evaluated</a:t>
            </a:r>
            <a:r>
              <a:rPr lang="de-DE" dirty="0">
                <a:solidFill>
                  <a:schemeClr val="dk1"/>
                </a:solidFill>
              </a:rPr>
              <a:t> </a:t>
            </a:r>
            <a:r>
              <a:rPr lang="de-DE" dirty="0" err="1">
                <a:solidFill>
                  <a:schemeClr val="dk1"/>
                </a:solidFill>
              </a:rPr>
              <a:t>our</a:t>
            </a:r>
            <a:r>
              <a:rPr lang="de-DE" dirty="0">
                <a:solidFill>
                  <a:schemeClr val="dk1"/>
                </a:solidFill>
              </a:rPr>
              <a:t> </a:t>
            </a:r>
            <a:r>
              <a:rPr lang="de-DE" dirty="0" err="1">
                <a:solidFill>
                  <a:schemeClr val="dk1"/>
                </a:solidFill>
              </a:rPr>
              <a:t>models</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used</a:t>
            </a:r>
            <a:r>
              <a:rPr lang="de-DE" dirty="0">
                <a:solidFill>
                  <a:schemeClr val="dk1"/>
                </a:solidFill>
              </a:rPr>
              <a:t> </a:t>
            </a:r>
            <a:r>
              <a:rPr lang="de-DE" dirty="0" err="1">
                <a:solidFill>
                  <a:schemeClr val="dk1"/>
                </a:solidFill>
              </a:rPr>
              <a:t>two</a:t>
            </a:r>
            <a:r>
              <a:rPr lang="de-DE" dirty="0">
                <a:solidFill>
                  <a:schemeClr val="dk1"/>
                </a:solidFill>
              </a:rPr>
              <a:t> </a:t>
            </a:r>
            <a:r>
              <a:rPr lang="de-DE" dirty="0" err="1">
                <a:solidFill>
                  <a:schemeClr val="dk1"/>
                </a:solidFill>
              </a:rPr>
              <a:t>complementary</a:t>
            </a:r>
            <a:r>
              <a:rPr lang="de-DE" dirty="0">
                <a:solidFill>
                  <a:schemeClr val="dk1"/>
                </a:solidFill>
              </a:rPr>
              <a:t> </a:t>
            </a:r>
            <a:r>
              <a:rPr lang="de-DE" dirty="0" err="1">
                <a:solidFill>
                  <a:schemeClr val="dk1"/>
                </a:solidFill>
              </a:rPr>
              <a:t>approaches</a:t>
            </a:r>
            <a:r>
              <a:rPr lang="de-DE"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a:solidFill>
                  <a:schemeClr val="dk1"/>
                </a:solidFill>
              </a:rPr>
              <a:t>The </a:t>
            </a:r>
            <a:r>
              <a:rPr lang="de-DE" dirty="0" err="1">
                <a:solidFill>
                  <a:schemeClr val="dk1"/>
                </a:solidFill>
              </a:rPr>
              <a:t>first</a:t>
            </a:r>
            <a:r>
              <a:rPr lang="de-DE" dirty="0">
                <a:solidFill>
                  <a:schemeClr val="dk1"/>
                </a:solidFill>
              </a:rPr>
              <a:t> was a </a:t>
            </a:r>
            <a:r>
              <a:rPr lang="de-DE" dirty="0" err="1">
                <a:solidFill>
                  <a:schemeClr val="dk1"/>
                </a:solidFill>
              </a:rPr>
              <a:t>standard</a:t>
            </a:r>
            <a:r>
              <a:rPr lang="de-DE" dirty="0">
                <a:solidFill>
                  <a:schemeClr val="dk1"/>
                </a:solidFill>
              </a:rPr>
              <a:t> benchmark </a:t>
            </a:r>
            <a:r>
              <a:rPr lang="de-DE" dirty="0" err="1">
                <a:solidFill>
                  <a:schemeClr val="dk1"/>
                </a:solidFill>
              </a:rPr>
              <a:t>using</a:t>
            </a:r>
            <a:r>
              <a:rPr lang="de-DE" dirty="0">
                <a:solidFill>
                  <a:schemeClr val="dk1"/>
                </a:solidFill>
              </a:rPr>
              <a:t> </a:t>
            </a:r>
            <a:r>
              <a:rPr lang="de-DE" i="1" dirty="0" err="1">
                <a:solidFill>
                  <a:schemeClr val="dk1"/>
                </a:solidFill>
              </a:rPr>
              <a:t>PubMedQA</a:t>
            </a:r>
            <a:r>
              <a:rPr lang="de-DE" dirty="0">
                <a:solidFill>
                  <a:schemeClr val="dk1"/>
                </a:solidFill>
              </a:rPr>
              <a:t>, a </a:t>
            </a:r>
            <a:r>
              <a:rPr lang="de-DE" dirty="0" err="1">
                <a:solidFill>
                  <a:schemeClr val="dk1"/>
                </a:solidFill>
              </a:rPr>
              <a:t>dataset</a:t>
            </a:r>
            <a:r>
              <a:rPr lang="de-DE" dirty="0">
                <a:solidFill>
                  <a:schemeClr val="dk1"/>
                </a:solidFill>
              </a:rPr>
              <a:t> </a:t>
            </a:r>
            <a:r>
              <a:rPr lang="de-DE" dirty="0" err="1">
                <a:solidFill>
                  <a:schemeClr val="dk1"/>
                </a:solidFill>
              </a:rPr>
              <a:t>consisting</a:t>
            </a:r>
            <a:r>
              <a:rPr lang="de-DE" dirty="0">
                <a:solidFill>
                  <a:schemeClr val="dk1"/>
                </a:solidFill>
              </a:rPr>
              <a:t> </a:t>
            </a:r>
            <a:r>
              <a:rPr lang="de-DE" dirty="0" err="1">
                <a:solidFill>
                  <a:schemeClr val="dk1"/>
                </a:solidFill>
              </a:rPr>
              <a:t>of</a:t>
            </a:r>
            <a:r>
              <a:rPr lang="de-DE" dirty="0">
                <a:solidFill>
                  <a:schemeClr val="dk1"/>
                </a:solidFill>
              </a:rPr>
              <a:t> 1thousand </a:t>
            </a:r>
            <a:r>
              <a:rPr lang="de-DE" dirty="0" err="1">
                <a:solidFill>
                  <a:schemeClr val="dk1"/>
                </a:solidFill>
              </a:rPr>
              <a:t>questions</a:t>
            </a:r>
            <a:r>
              <a:rPr lang="de-DE" dirty="0">
                <a:solidFill>
                  <a:schemeClr val="dk1"/>
                </a:solidFill>
              </a:rPr>
              <a:t>, </a:t>
            </a:r>
            <a:r>
              <a:rPr lang="de-DE" dirty="0" err="1">
                <a:solidFill>
                  <a:schemeClr val="dk1"/>
                </a:solidFill>
              </a:rPr>
              <a:t>each</a:t>
            </a:r>
            <a:r>
              <a:rPr lang="de-DE" dirty="0">
                <a:solidFill>
                  <a:schemeClr val="dk1"/>
                </a:solidFill>
              </a:rPr>
              <a:t> </a:t>
            </a:r>
            <a:r>
              <a:rPr lang="de-DE" dirty="0" err="1">
                <a:solidFill>
                  <a:schemeClr val="dk1"/>
                </a:solidFill>
              </a:rPr>
              <a:t>answered</a:t>
            </a:r>
            <a:r>
              <a:rPr lang="de-DE" dirty="0">
                <a:solidFill>
                  <a:schemeClr val="dk1"/>
                </a:solidFill>
              </a:rPr>
              <a:t> </a:t>
            </a:r>
            <a:r>
              <a:rPr lang="de-DE" dirty="0" err="1">
                <a:solidFill>
                  <a:schemeClr val="dk1"/>
                </a:solidFill>
              </a:rPr>
              <a:t>with</a:t>
            </a:r>
            <a:r>
              <a:rPr lang="de-DE" dirty="0">
                <a:solidFill>
                  <a:schemeClr val="dk1"/>
                </a:solidFill>
              </a:rPr>
              <a:t> </a:t>
            </a:r>
            <a:r>
              <a:rPr lang="de-DE" dirty="0" err="1">
                <a:solidFill>
                  <a:schemeClr val="dk1"/>
                </a:solidFill>
              </a:rPr>
              <a:t>yes</a:t>
            </a:r>
            <a:r>
              <a:rPr lang="de-DE" dirty="0">
                <a:solidFill>
                  <a:schemeClr val="dk1"/>
                </a:solidFill>
              </a:rPr>
              <a:t>, </a:t>
            </a:r>
            <a:r>
              <a:rPr lang="de-DE" dirty="0" err="1">
                <a:solidFill>
                  <a:schemeClr val="dk1"/>
                </a:solidFill>
              </a:rPr>
              <a:t>no</a:t>
            </a:r>
            <a:r>
              <a:rPr lang="de-DE" dirty="0">
                <a:solidFill>
                  <a:schemeClr val="dk1"/>
                </a:solidFill>
              </a:rPr>
              <a:t>, </a:t>
            </a:r>
            <a:r>
              <a:rPr lang="de-DE" dirty="0" err="1">
                <a:solidFill>
                  <a:schemeClr val="dk1"/>
                </a:solidFill>
              </a:rPr>
              <a:t>or</a:t>
            </a:r>
            <a:r>
              <a:rPr lang="de-DE" dirty="0">
                <a:solidFill>
                  <a:schemeClr val="dk1"/>
                </a:solidFill>
              </a:rPr>
              <a:t> </a:t>
            </a:r>
            <a:r>
              <a:rPr lang="de-DE" dirty="0" err="1">
                <a:solidFill>
                  <a:schemeClr val="dk1"/>
                </a:solidFill>
              </a:rPr>
              <a:t>maybe</a:t>
            </a:r>
            <a:r>
              <a:rPr lang="de-DE" dirty="0">
                <a:solidFill>
                  <a:schemeClr val="dk1"/>
                </a:solidFill>
              </a:rPr>
              <a:t>, and also </a:t>
            </a:r>
            <a:r>
              <a:rPr lang="de-DE" dirty="0" err="1">
                <a:solidFill>
                  <a:schemeClr val="dk1"/>
                </a:solidFill>
              </a:rPr>
              <a:t>automatic</a:t>
            </a:r>
            <a:r>
              <a:rPr lang="de-DE" dirty="0">
                <a:solidFill>
                  <a:schemeClr val="dk1"/>
                </a:solidFill>
              </a:rPr>
              <a:t> </a:t>
            </a:r>
            <a:r>
              <a:rPr lang="de-DE" dirty="0" err="1">
                <a:solidFill>
                  <a:schemeClr val="dk1"/>
                </a:solidFill>
              </a:rPr>
              <a:t>scoring</a:t>
            </a:r>
            <a:r>
              <a:rPr lang="de-DE" dirty="0">
                <a:solidFill>
                  <a:schemeClr val="dk1"/>
                </a:solidFill>
              </a:rPr>
              <a:t>. The </a:t>
            </a:r>
            <a:r>
              <a:rPr lang="de-DE" dirty="0" err="1">
                <a:solidFill>
                  <a:schemeClr val="dk1"/>
                </a:solidFill>
              </a:rPr>
              <a:t>dataset</a:t>
            </a:r>
            <a:r>
              <a:rPr lang="de-DE" dirty="0">
                <a:solidFill>
                  <a:schemeClr val="dk1"/>
                </a:solidFill>
              </a:rPr>
              <a:t> also </a:t>
            </a:r>
            <a:r>
              <a:rPr lang="de-DE" dirty="0" err="1">
                <a:solidFill>
                  <a:schemeClr val="dk1"/>
                </a:solidFill>
              </a:rPr>
              <a:t>contained</a:t>
            </a:r>
            <a:r>
              <a:rPr lang="de-DE" dirty="0">
                <a:solidFill>
                  <a:schemeClr val="dk1"/>
                </a:solidFill>
              </a:rPr>
              <a:t> </a:t>
            </a:r>
            <a:r>
              <a:rPr lang="de-DE" dirty="0" err="1">
                <a:solidFill>
                  <a:schemeClr val="dk1"/>
                </a:solidFill>
              </a:rPr>
              <a:t>the</a:t>
            </a:r>
            <a:r>
              <a:rPr lang="de-DE" dirty="0">
                <a:solidFill>
                  <a:schemeClr val="dk1"/>
                </a:solidFill>
              </a:rPr>
              <a:t> 69 </a:t>
            </a:r>
            <a:r>
              <a:rPr lang="de-DE" dirty="0" err="1">
                <a:solidFill>
                  <a:schemeClr val="dk1"/>
                </a:solidFill>
              </a:rPr>
              <a:t>gold</a:t>
            </a:r>
            <a:r>
              <a:rPr lang="de-DE" dirty="0">
                <a:solidFill>
                  <a:schemeClr val="dk1"/>
                </a:solidFill>
              </a:rPr>
              <a:t> </a:t>
            </a:r>
            <a:r>
              <a:rPr lang="de-DE" dirty="0" err="1">
                <a:solidFill>
                  <a:schemeClr val="dk1"/>
                </a:solidFill>
              </a:rPr>
              <a:t>questions</a:t>
            </a:r>
            <a:r>
              <a:rPr lang="de-DE" dirty="0">
                <a:solidFill>
                  <a:schemeClr val="dk1"/>
                </a:solidFill>
              </a:rPr>
              <a:t>, </a:t>
            </a:r>
            <a:r>
              <a:rPr lang="de-DE" dirty="0" err="1">
                <a:solidFill>
                  <a:schemeClr val="dk1"/>
                </a:solidFill>
              </a:rPr>
              <a:t>what</a:t>
            </a:r>
            <a:r>
              <a:rPr lang="de-DE" dirty="0">
                <a:solidFill>
                  <a:schemeClr val="dk1"/>
                </a:solidFill>
              </a:rPr>
              <a:t> was </a:t>
            </a:r>
            <a:r>
              <a:rPr lang="de-DE" dirty="0" err="1">
                <a:solidFill>
                  <a:schemeClr val="dk1"/>
                </a:solidFill>
              </a:rPr>
              <a:t>mentioned</a:t>
            </a:r>
            <a:r>
              <a:rPr lang="de-DE" dirty="0">
                <a:solidFill>
                  <a:schemeClr val="dk1"/>
                </a:solidFill>
              </a:rPr>
              <a:t> </a:t>
            </a:r>
            <a:r>
              <a:rPr lang="de-DE" dirty="0" err="1">
                <a:solidFill>
                  <a:schemeClr val="dk1"/>
                </a:solidFill>
              </a:rPr>
              <a:t>before</a:t>
            </a:r>
            <a:r>
              <a:rPr lang="de-DE">
                <a:solidFill>
                  <a:schemeClr val="dk1"/>
                </a:solidFill>
              </a:rPr>
              <a:t>.</a:t>
            </a:r>
            <a:br>
              <a:rPr lang="de-DE" dirty="0">
                <a:solidFill>
                  <a:schemeClr val="dk1"/>
                </a:solidFill>
              </a:rPr>
            </a:br>
            <a:r>
              <a:rPr lang="de-DE" dirty="0">
                <a:solidFill>
                  <a:schemeClr val="dk1"/>
                </a:solidFill>
              </a:rPr>
              <a:t> This </a:t>
            </a:r>
            <a:r>
              <a:rPr lang="de-DE" dirty="0" err="1">
                <a:solidFill>
                  <a:schemeClr val="dk1"/>
                </a:solidFill>
              </a:rPr>
              <a:t>provides</a:t>
            </a:r>
            <a:r>
              <a:rPr lang="de-DE" dirty="0">
                <a:solidFill>
                  <a:schemeClr val="dk1"/>
                </a:solidFill>
              </a:rPr>
              <a:t> a </a:t>
            </a:r>
            <a:r>
              <a:rPr lang="de-DE" dirty="0" err="1">
                <a:solidFill>
                  <a:schemeClr val="dk1"/>
                </a:solidFill>
              </a:rPr>
              <a:t>clear</a:t>
            </a:r>
            <a:r>
              <a:rPr lang="de-DE" dirty="0">
                <a:solidFill>
                  <a:schemeClr val="dk1"/>
                </a:solidFill>
              </a:rPr>
              <a:t> </a:t>
            </a:r>
            <a:r>
              <a:rPr lang="de-DE" dirty="0" err="1">
                <a:solidFill>
                  <a:schemeClr val="dk1"/>
                </a:solidFill>
              </a:rPr>
              <a:t>baseline</a:t>
            </a:r>
            <a:r>
              <a:rPr lang="de-DE" dirty="0">
                <a:solidFill>
                  <a:schemeClr val="dk1"/>
                </a:solidFill>
              </a:rPr>
              <a:t>, but </a:t>
            </a:r>
            <a:r>
              <a:rPr lang="de-DE" dirty="0" err="1">
                <a:solidFill>
                  <a:schemeClr val="dk1"/>
                </a:solidFill>
              </a:rPr>
              <a:t>it’s</a:t>
            </a:r>
            <a:r>
              <a:rPr lang="de-DE" dirty="0">
                <a:solidFill>
                  <a:schemeClr val="dk1"/>
                </a:solidFill>
              </a:rPr>
              <a:t> </a:t>
            </a:r>
            <a:r>
              <a:rPr lang="de-DE" dirty="0" err="1">
                <a:solidFill>
                  <a:schemeClr val="dk1"/>
                </a:solidFill>
              </a:rPr>
              <a:t>somewhat</a:t>
            </a:r>
            <a:r>
              <a:rPr lang="de-DE" dirty="0">
                <a:solidFill>
                  <a:schemeClr val="dk1"/>
                </a:solidFill>
              </a:rPr>
              <a:t> </a:t>
            </a:r>
            <a:r>
              <a:rPr lang="de-DE" dirty="0" err="1">
                <a:solidFill>
                  <a:schemeClr val="dk1"/>
                </a:solidFill>
              </a:rPr>
              <a:t>artificial</a:t>
            </a:r>
            <a:r>
              <a:rPr lang="de-DE" dirty="0">
                <a:solidFill>
                  <a:schemeClr val="dk1"/>
                </a:solidFill>
              </a:rPr>
              <a:t>, </a:t>
            </a:r>
            <a:r>
              <a:rPr lang="de-DE" dirty="0" err="1">
                <a:solidFill>
                  <a:schemeClr val="dk1"/>
                </a:solidFill>
              </a:rPr>
              <a:t>since</a:t>
            </a:r>
            <a:r>
              <a:rPr lang="de-DE" dirty="0">
                <a:solidFill>
                  <a:schemeClr val="dk1"/>
                </a:solidFill>
              </a:rPr>
              <a:t> real </a:t>
            </a:r>
            <a:r>
              <a:rPr lang="de-DE" dirty="0" err="1">
                <a:solidFill>
                  <a:schemeClr val="dk1"/>
                </a:solidFill>
              </a:rPr>
              <a:t>clinical</a:t>
            </a:r>
            <a:r>
              <a:rPr lang="de-DE" dirty="0">
                <a:solidFill>
                  <a:schemeClr val="dk1"/>
                </a:solidFill>
              </a:rPr>
              <a:t> </a:t>
            </a:r>
            <a:r>
              <a:rPr lang="de-DE" dirty="0" err="1">
                <a:solidFill>
                  <a:schemeClr val="dk1"/>
                </a:solidFill>
              </a:rPr>
              <a:t>questions</a:t>
            </a:r>
            <a:r>
              <a:rPr lang="de-DE" dirty="0">
                <a:solidFill>
                  <a:schemeClr val="dk1"/>
                </a:solidFill>
              </a:rPr>
              <a:t> </a:t>
            </a:r>
            <a:r>
              <a:rPr lang="de-DE" dirty="0" err="1">
                <a:solidFill>
                  <a:schemeClr val="dk1"/>
                </a:solidFill>
              </a:rPr>
              <a:t>are</a:t>
            </a:r>
            <a:r>
              <a:rPr lang="de-DE" dirty="0">
                <a:solidFill>
                  <a:schemeClr val="dk1"/>
                </a:solidFill>
              </a:rPr>
              <a:t> </a:t>
            </a:r>
            <a:r>
              <a:rPr lang="de-DE" dirty="0" err="1">
                <a:solidFill>
                  <a:schemeClr val="dk1"/>
                </a:solidFill>
              </a:rPr>
              <a:t>more</a:t>
            </a:r>
            <a:r>
              <a:rPr lang="de-DE" dirty="0">
                <a:solidFill>
                  <a:schemeClr val="dk1"/>
                </a:solidFill>
              </a:rPr>
              <a:t> </a:t>
            </a:r>
            <a:r>
              <a:rPr lang="de-DE" dirty="0" err="1">
                <a:solidFill>
                  <a:schemeClr val="dk1"/>
                </a:solidFill>
              </a:rPr>
              <a:t>complex</a:t>
            </a:r>
            <a:r>
              <a:rPr lang="de-DE" dirty="0">
                <a:solidFill>
                  <a:schemeClr val="dk1"/>
                </a:solidFill>
              </a:rPr>
              <a:t> and </a:t>
            </a:r>
            <a:r>
              <a:rPr lang="de-DE" dirty="0" err="1">
                <a:solidFill>
                  <a:schemeClr val="dk1"/>
                </a:solidFill>
              </a:rPr>
              <a:t>phrased</a:t>
            </a:r>
            <a:r>
              <a:rPr lang="de-DE" dirty="0">
                <a:solidFill>
                  <a:schemeClr val="dk1"/>
                </a:solidFill>
              </a:rPr>
              <a:t> in </a:t>
            </a:r>
            <a:r>
              <a:rPr lang="de-DE" dirty="0" err="1">
                <a:solidFill>
                  <a:schemeClr val="dk1"/>
                </a:solidFill>
              </a:rPr>
              <a:t>natural</a:t>
            </a:r>
            <a:r>
              <a:rPr lang="de-DE" dirty="0">
                <a:solidFill>
                  <a:schemeClr val="dk1"/>
                </a:solidFill>
              </a:rPr>
              <a:t> </a:t>
            </a:r>
            <a:r>
              <a:rPr lang="de-DE" dirty="0" err="1">
                <a:solidFill>
                  <a:schemeClr val="dk1"/>
                </a:solidFill>
              </a:rPr>
              <a:t>language</a:t>
            </a:r>
            <a:r>
              <a:rPr lang="de-DE"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a:solidFill>
                  <a:schemeClr val="dk1"/>
                </a:solidFill>
              </a:rPr>
              <a:t>So, in a </a:t>
            </a:r>
            <a:r>
              <a:rPr lang="de-DE" dirty="0" err="1">
                <a:solidFill>
                  <a:schemeClr val="dk1"/>
                </a:solidFill>
              </a:rPr>
              <a:t>second</a:t>
            </a:r>
            <a:r>
              <a:rPr lang="de-DE" dirty="0">
                <a:solidFill>
                  <a:schemeClr val="dk1"/>
                </a:solidFill>
              </a:rPr>
              <a:t> </a:t>
            </a:r>
            <a:r>
              <a:rPr lang="de-DE" dirty="0" err="1">
                <a:solidFill>
                  <a:schemeClr val="dk1"/>
                </a:solidFill>
              </a:rPr>
              <a:t>step</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designed</a:t>
            </a:r>
            <a:r>
              <a:rPr lang="de-DE" dirty="0">
                <a:solidFill>
                  <a:schemeClr val="dk1"/>
                </a:solidFill>
              </a:rPr>
              <a:t> </a:t>
            </a:r>
            <a:r>
              <a:rPr lang="de-DE" dirty="0" err="1">
                <a:solidFill>
                  <a:schemeClr val="dk1"/>
                </a:solidFill>
              </a:rPr>
              <a:t>eight</a:t>
            </a:r>
            <a:r>
              <a:rPr lang="de-DE" dirty="0">
                <a:solidFill>
                  <a:schemeClr val="dk1"/>
                </a:solidFill>
              </a:rPr>
              <a:t> </a:t>
            </a:r>
            <a:r>
              <a:rPr lang="de-DE" dirty="0" err="1">
                <a:solidFill>
                  <a:schemeClr val="dk1"/>
                </a:solidFill>
              </a:rPr>
              <a:t>custom</a:t>
            </a:r>
            <a:r>
              <a:rPr lang="de-DE" dirty="0">
                <a:solidFill>
                  <a:schemeClr val="dk1"/>
                </a:solidFill>
              </a:rPr>
              <a:t> </a:t>
            </a:r>
            <a:r>
              <a:rPr lang="de-DE" dirty="0" err="1">
                <a:solidFill>
                  <a:schemeClr val="dk1"/>
                </a:solidFill>
              </a:rPr>
              <a:t>clinical</a:t>
            </a:r>
            <a:r>
              <a:rPr lang="de-DE" dirty="0">
                <a:solidFill>
                  <a:schemeClr val="dk1"/>
                </a:solidFill>
              </a:rPr>
              <a:t> </a:t>
            </a:r>
            <a:r>
              <a:rPr lang="de-DE" dirty="0" err="1">
                <a:solidFill>
                  <a:schemeClr val="dk1"/>
                </a:solidFill>
              </a:rPr>
              <a:t>questions</a:t>
            </a:r>
            <a:r>
              <a:rPr lang="de-DE" dirty="0">
                <a:solidFill>
                  <a:schemeClr val="dk1"/>
                </a:solidFill>
              </a:rPr>
              <a:t> </a:t>
            </a:r>
            <a:r>
              <a:rPr lang="de-DE" dirty="0" err="1">
                <a:solidFill>
                  <a:schemeClr val="dk1"/>
                </a:solidFill>
              </a:rPr>
              <a:t>across</a:t>
            </a:r>
            <a:r>
              <a:rPr lang="de-DE" dirty="0">
                <a:solidFill>
                  <a:schemeClr val="dk1"/>
                </a:solidFill>
              </a:rPr>
              <a:t> different </a:t>
            </a:r>
            <a:r>
              <a:rPr lang="de-DE" dirty="0" err="1">
                <a:solidFill>
                  <a:schemeClr val="dk1"/>
                </a:solidFill>
              </a:rPr>
              <a:t>difficulty</a:t>
            </a:r>
            <a:r>
              <a:rPr lang="de-DE" dirty="0">
                <a:solidFill>
                  <a:schemeClr val="dk1"/>
                </a:solidFill>
              </a:rPr>
              <a:t> </a:t>
            </a:r>
            <a:r>
              <a:rPr lang="de-DE" dirty="0" err="1">
                <a:solidFill>
                  <a:schemeClr val="dk1"/>
                </a:solidFill>
              </a:rPr>
              <a:t>levels</a:t>
            </a:r>
            <a:r>
              <a:rPr lang="de-DE" dirty="0">
                <a:solidFill>
                  <a:schemeClr val="dk1"/>
                </a:solidFill>
              </a:rPr>
              <a:t> </a:t>
            </a:r>
            <a:r>
              <a:rPr lang="de-DE" dirty="0" err="1">
                <a:solidFill>
                  <a:schemeClr val="dk1"/>
                </a:solidFill>
              </a:rPr>
              <a:t>of</a:t>
            </a:r>
            <a:r>
              <a:rPr lang="de-DE" dirty="0">
                <a:solidFill>
                  <a:schemeClr val="dk1"/>
                </a:solidFill>
              </a:rPr>
              <a:t> </a:t>
            </a:r>
            <a:r>
              <a:rPr lang="de-DE" dirty="0" err="1">
                <a:solidFill>
                  <a:schemeClr val="dk1"/>
                </a:solidFill>
              </a:rPr>
              <a:t>our</a:t>
            </a:r>
            <a:r>
              <a:rPr lang="de-DE" dirty="0">
                <a:solidFill>
                  <a:schemeClr val="dk1"/>
                </a:solidFill>
              </a:rPr>
              <a:t> </a:t>
            </a:r>
            <a:r>
              <a:rPr lang="de-DE" dirty="0" err="1">
                <a:solidFill>
                  <a:schemeClr val="dk1"/>
                </a:solidFill>
              </a:rPr>
              <a:t>corpus</a:t>
            </a:r>
            <a:r>
              <a:rPr lang="de-DE" dirty="0">
                <a:solidFill>
                  <a:schemeClr val="dk1"/>
                </a:solidFill>
              </a:rPr>
              <a:t>.</a:t>
            </a:r>
            <a:br>
              <a:rPr lang="de-DE" dirty="0">
                <a:solidFill>
                  <a:schemeClr val="dk1"/>
                </a:solidFill>
              </a:rPr>
            </a:br>
            <a:r>
              <a:rPr lang="de-DE" dirty="0">
                <a:solidFill>
                  <a:schemeClr val="dk1"/>
                </a:solidFill>
              </a:rPr>
              <a:t> Here, </a:t>
            </a:r>
            <a:r>
              <a:rPr lang="de-DE" dirty="0" err="1">
                <a:solidFill>
                  <a:schemeClr val="dk1"/>
                </a:solidFill>
              </a:rPr>
              <a:t>the</a:t>
            </a:r>
            <a:r>
              <a:rPr lang="de-DE" dirty="0">
                <a:solidFill>
                  <a:schemeClr val="dk1"/>
                </a:solidFill>
              </a:rPr>
              <a:t> </a:t>
            </a:r>
            <a:r>
              <a:rPr lang="de-DE" dirty="0" err="1">
                <a:solidFill>
                  <a:schemeClr val="dk1"/>
                </a:solidFill>
              </a:rPr>
              <a:t>models</a:t>
            </a:r>
            <a:r>
              <a:rPr lang="de-DE" dirty="0">
                <a:solidFill>
                  <a:schemeClr val="dk1"/>
                </a:solidFill>
              </a:rPr>
              <a:t> </a:t>
            </a:r>
            <a:r>
              <a:rPr lang="de-DE" dirty="0" err="1">
                <a:solidFill>
                  <a:schemeClr val="dk1"/>
                </a:solidFill>
              </a:rPr>
              <a:t>generate</a:t>
            </a:r>
            <a:r>
              <a:rPr lang="de-DE" dirty="0">
                <a:solidFill>
                  <a:schemeClr val="dk1"/>
                </a:solidFill>
              </a:rPr>
              <a:t> </a:t>
            </a:r>
            <a:r>
              <a:rPr lang="de-DE" dirty="0" err="1">
                <a:solidFill>
                  <a:schemeClr val="dk1"/>
                </a:solidFill>
              </a:rPr>
              <a:t>full</a:t>
            </a:r>
            <a:r>
              <a:rPr lang="de-DE" dirty="0">
                <a:solidFill>
                  <a:schemeClr val="dk1"/>
                </a:solidFill>
              </a:rPr>
              <a:t> </a:t>
            </a:r>
            <a:r>
              <a:rPr lang="de-DE" dirty="0" err="1">
                <a:solidFill>
                  <a:schemeClr val="dk1"/>
                </a:solidFill>
              </a:rPr>
              <a:t>paragraph</a:t>
            </a:r>
            <a:r>
              <a:rPr lang="de-DE" dirty="0">
                <a:solidFill>
                  <a:schemeClr val="dk1"/>
                </a:solidFill>
              </a:rPr>
              <a:t> </a:t>
            </a:r>
            <a:r>
              <a:rPr lang="de-DE" dirty="0" err="1">
                <a:solidFill>
                  <a:schemeClr val="dk1"/>
                </a:solidFill>
              </a:rPr>
              <a:t>answers</a:t>
            </a:r>
            <a:r>
              <a:rPr lang="de-DE"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err="1">
                <a:solidFill>
                  <a:schemeClr val="dk1"/>
                </a:solidFill>
              </a:rPr>
              <a:t>To</a:t>
            </a:r>
            <a:r>
              <a:rPr lang="de-DE" dirty="0">
                <a:solidFill>
                  <a:schemeClr val="dk1"/>
                </a:solidFill>
              </a:rPr>
              <a:t> </a:t>
            </a:r>
            <a:r>
              <a:rPr lang="de-DE" dirty="0" err="1">
                <a:solidFill>
                  <a:schemeClr val="dk1"/>
                </a:solidFill>
              </a:rPr>
              <a:t>evaluate</a:t>
            </a:r>
            <a:r>
              <a:rPr lang="de-DE" dirty="0">
                <a:solidFill>
                  <a:schemeClr val="dk1"/>
                </a:solidFill>
              </a:rPr>
              <a:t> </a:t>
            </a:r>
            <a:r>
              <a:rPr lang="de-DE" dirty="0" err="1">
                <a:solidFill>
                  <a:schemeClr val="dk1"/>
                </a:solidFill>
              </a:rPr>
              <a:t>them</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used</a:t>
            </a:r>
            <a:r>
              <a:rPr lang="de-DE" dirty="0">
                <a:solidFill>
                  <a:schemeClr val="dk1"/>
                </a:solidFill>
              </a:rPr>
              <a:t> </a:t>
            </a:r>
            <a:r>
              <a:rPr lang="de-DE" dirty="0" err="1">
                <a:solidFill>
                  <a:schemeClr val="dk1"/>
                </a:solidFill>
              </a:rPr>
              <a:t>two</a:t>
            </a:r>
            <a:r>
              <a:rPr lang="de-DE" dirty="0">
                <a:solidFill>
                  <a:schemeClr val="dk1"/>
                </a:solidFill>
              </a:rPr>
              <a:t> </a:t>
            </a:r>
            <a:r>
              <a:rPr lang="de-DE" dirty="0" err="1">
                <a:solidFill>
                  <a:schemeClr val="dk1"/>
                </a:solidFill>
              </a:rPr>
              <a:t>independent</a:t>
            </a:r>
            <a:r>
              <a:rPr lang="de-DE" dirty="0">
                <a:solidFill>
                  <a:schemeClr val="dk1"/>
                </a:solidFill>
              </a:rPr>
              <a:t> AI </a:t>
            </a:r>
            <a:r>
              <a:rPr lang="de-DE" dirty="0" err="1">
                <a:solidFill>
                  <a:schemeClr val="dk1"/>
                </a:solidFill>
              </a:rPr>
              <a:t>judges</a:t>
            </a:r>
            <a:r>
              <a:rPr lang="de-DE" dirty="0">
                <a:solidFill>
                  <a:schemeClr val="dk1"/>
                </a:solidFill>
              </a:rPr>
              <a:t>—</a:t>
            </a:r>
            <a:r>
              <a:rPr lang="de-DE" dirty="0" err="1">
                <a:solidFill>
                  <a:schemeClr val="dk1"/>
                </a:solidFill>
              </a:rPr>
              <a:t>ChatGPT</a:t>
            </a:r>
            <a:r>
              <a:rPr lang="de-DE" dirty="0">
                <a:solidFill>
                  <a:schemeClr val="dk1"/>
                </a:solidFill>
              </a:rPr>
              <a:t> and Claude—</a:t>
            </a:r>
            <a:r>
              <a:rPr lang="de-DE" dirty="0" err="1">
                <a:solidFill>
                  <a:schemeClr val="dk1"/>
                </a:solidFill>
              </a:rPr>
              <a:t>who</a:t>
            </a:r>
            <a:r>
              <a:rPr lang="de-DE" dirty="0">
                <a:solidFill>
                  <a:schemeClr val="dk1"/>
                </a:solidFill>
              </a:rPr>
              <a:t> </a:t>
            </a:r>
            <a:r>
              <a:rPr lang="de-DE" dirty="0" err="1">
                <a:solidFill>
                  <a:schemeClr val="dk1"/>
                </a:solidFill>
              </a:rPr>
              <a:t>rated</a:t>
            </a:r>
            <a:r>
              <a:rPr lang="de-DE" dirty="0">
                <a:solidFill>
                  <a:schemeClr val="dk1"/>
                </a:solidFill>
              </a:rPr>
              <a:t> </a:t>
            </a:r>
            <a:r>
              <a:rPr lang="de-DE" dirty="0" err="1">
                <a:solidFill>
                  <a:schemeClr val="dk1"/>
                </a:solidFill>
              </a:rPr>
              <a:t>each</a:t>
            </a:r>
            <a:r>
              <a:rPr lang="de-DE" dirty="0">
                <a:solidFill>
                  <a:schemeClr val="dk1"/>
                </a:solidFill>
              </a:rPr>
              <a:t> </a:t>
            </a:r>
            <a:r>
              <a:rPr lang="de-DE" dirty="0" err="1">
                <a:solidFill>
                  <a:schemeClr val="dk1"/>
                </a:solidFill>
              </a:rPr>
              <a:t>response</a:t>
            </a:r>
            <a:r>
              <a:rPr lang="de-DE" dirty="0">
                <a:solidFill>
                  <a:schemeClr val="dk1"/>
                </a:solidFill>
              </a:rPr>
              <a:t> </a:t>
            </a:r>
            <a:r>
              <a:rPr lang="de-DE" dirty="0" err="1">
                <a:solidFill>
                  <a:schemeClr val="dk1"/>
                </a:solidFill>
              </a:rPr>
              <a:t>from</a:t>
            </a:r>
            <a:r>
              <a:rPr lang="de-DE" dirty="0">
                <a:solidFill>
                  <a:schemeClr val="dk1"/>
                </a:solidFill>
              </a:rPr>
              <a:t> 1 </a:t>
            </a:r>
            <a:r>
              <a:rPr lang="de-DE" dirty="0" err="1">
                <a:solidFill>
                  <a:schemeClr val="dk1"/>
                </a:solidFill>
              </a:rPr>
              <a:t>to</a:t>
            </a:r>
            <a:r>
              <a:rPr lang="de-DE" dirty="0">
                <a:solidFill>
                  <a:schemeClr val="dk1"/>
                </a:solidFill>
              </a:rPr>
              <a:t> 5 </a:t>
            </a:r>
            <a:r>
              <a:rPr lang="de-DE" dirty="0" err="1">
                <a:solidFill>
                  <a:schemeClr val="dk1"/>
                </a:solidFill>
              </a:rPr>
              <a:t>based</a:t>
            </a:r>
            <a:r>
              <a:rPr lang="de-DE" dirty="0">
                <a:solidFill>
                  <a:schemeClr val="dk1"/>
                </a:solidFill>
              </a:rPr>
              <a:t> on </a:t>
            </a:r>
            <a:r>
              <a:rPr lang="de-DE" dirty="0" err="1">
                <a:solidFill>
                  <a:schemeClr val="dk1"/>
                </a:solidFill>
              </a:rPr>
              <a:t>criteria</a:t>
            </a:r>
            <a:r>
              <a:rPr lang="de-DE" dirty="0">
                <a:solidFill>
                  <a:schemeClr val="dk1"/>
                </a:solidFill>
              </a:rPr>
              <a:t> like </a:t>
            </a:r>
            <a:r>
              <a:rPr lang="de-DE" dirty="0" err="1">
                <a:solidFill>
                  <a:schemeClr val="dk1"/>
                </a:solidFill>
              </a:rPr>
              <a:t>relevance</a:t>
            </a:r>
            <a:r>
              <a:rPr lang="de-DE" dirty="0">
                <a:solidFill>
                  <a:schemeClr val="dk1"/>
                </a:solidFill>
              </a:rPr>
              <a:t> and </a:t>
            </a:r>
            <a:r>
              <a:rPr lang="de-DE" dirty="0" err="1">
                <a:solidFill>
                  <a:schemeClr val="dk1"/>
                </a:solidFill>
              </a:rPr>
              <a:t>faithfulness</a:t>
            </a:r>
            <a:r>
              <a:rPr lang="de-DE" dirty="0">
                <a:solidFill>
                  <a:schemeClr val="dk1"/>
                </a:solidFill>
              </a:rPr>
              <a:t>.</a:t>
            </a:r>
            <a:endParaRPr dirty="0">
              <a:solidFill>
                <a:schemeClr val="dk1"/>
              </a:solidFill>
            </a:endParaRPr>
          </a:p>
          <a:p>
            <a:pPr marL="0" lvl="0" indent="0" algn="l" rtl="0">
              <a:lnSpc>
                <a:spcPct val="115000"/>
              </a:lnSpc>
              <a:spcBef>
                <a:spcPts val="1200"/>
              </a:spcBef>
              <a:spcAft>
                <a:spcPts val="1200"/>
              </a:spcAft>
              <a:buSzPts val="1100"/>
              <a:buNone/>
            </a:pPr>
            <a:r>
              <a:rPr lang="de-DE" b="1" dirty="0" err="1">
                <a:solidFill>
                  <a:schemeClr val="dk1"/>
                </a:solidFill>
              </a:rPr>
              <a:t>Let’s</a:t>
            </a:r>
            <a:r>
              <a:rPr lang="de-DE" b="1" dirty="0">
                <a:solidFill>
                  <a:schemeClr val="dk1"/>
                </a:solidFill>
              </a:rPr>
              <a:t> </a:t>
            </a:r>
            <a:r>
              <a:rPr lang="de-DE" b="1" dirty="0" err="1">
                <a:solidFill>
                  <a:schemeClr val="dk1"/>
                </a:solidFill>
              </a:rPr>
              <a:t>now</a:t>
            </a:r>
            <a:r>
              <a:rPr lang="de-DE" b="1" dirty="0">
                <a:solidFill>
                  <a:schemeClr val="dk1"/>
                </a:solidFill>
              </a:rPr>
              <a:t> </a:t>
            </a:r>
            <a:r>
              <a:rPr lang="de-DE" b="1" dirty="0" err="1">
                <a:solidFill>
                  <a:schemeClr val="dk1"/>
                </a:solidFill>
              </a:rPr>
              <a:t>have</a:t>
            </a:r>
            <a:r>
              <a:rPr lang="de-DE" b="1" dirty="0">
                <a:solidFill>
                  <a:schemeClr val="dk1"/>
                </a:solidFill>
              </a:rPr>
              <a:t> a </a:t>
            </a:r>
            <a:r>
              <a:rPr lang="de-DE" b="1" dirty="0" err="1">
                <a:solidFill>
                  <a:schemeClr val="dk1"/>
                </a:solidFill>
              </a:rPr>
              <a:t>closer</a:t>
            </a:r>
            <a:r>
              <a:rPr lang="de-DE" b="1" dirty="0">
                <a:solidFill>
                  <a:schemeClr val="dk1"/>
                </a:solidFill>
              </a:rPr>
              <a:t> </a:t>
            </a:r>
            <a:r>
              <a:rPr lang="de-DE" b="1" dirty="0" err="1">
                <a:solidFill>
                  <a:schemeClr val="dk1"/>
                </a:solidFill>
              </a:rPr>
              <a:t>look</a:t>
            </a:r>
            <a:r>
              <a:rPr lang="de-DE" b="1" dirty="0">
                <a:solidFill>
                  <a:schemeClr val="dk1"/>
                </a:solidFill>
              </a:rPr>
              <a:t> at </a:t>
            </a:r>
            <a:r>
              <a:rPr lang="de-DE" b="1" dirty="0" err="1">
                <a:solidFill>
                  <a:schemeClr val="dk1"/>
                </a:solidFill>
              </a:rPr>
              <a:t>the</a:t>
            </a:r>
            <a:r>
              <a:rPr lang="de-DE" b="1" dirty="0">
                <a:solidFill>
                  <a:schemeClr val="dk1"/>
                </a:solidFill>
              </a:rPr>
              <a:t> </a:t>
            </a:r>
            <a:r>
              <a:rPr lang="de-DE" b="1" dirty="0" err="1">
                <a:solidFill>
                  <a:schemeClr val="dk1"/>
                </a:solidFill>
              </a:rPr>
              <a:t>questions</a:t>
            </a:r>
            <a:r>
              <a:rPr lang="de-DE" b="1" dirty="0">
                <a:solidFill>
                  <a:schemeClr val="dk1"/>
                </a:solidFill>
              </a:rPr>
              <a:t>.</a:t>
            </a:r>
            <a:endParaRPr dirty="0">
              <a:solidFill>
                <a:schemeClr val="dk1"/>
              </a:solidFill>
              <a:latin typeface="Arial"/>
              <a:ea typeface="Arial"/>
              <a:cs typeface="Arial"/>
              <a:sym typeface="Arial"/>
            </a:endParaRPr>
          </a:p>
        </p:txBody>
      </p:sp>
      <p:sp>
        <p:nvSpPr>
          <p:cNvPr id="291" name="Google Shape;291;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de-DE"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de-DE">
                <a:solidFill>
                  <a:schemeClr val="dk1"/>
                </a:solidFill>
              </a:rPr>
              <a:t>#</a:t>
            </a:r>
            <a:r>
              <a:rPr lang="de-DE">
                <a:solidFill>
                  <a:schemeClr val="dk1"/>
                </a:solidFill>
                <a:latin typeface="Arial"/>
                <a:ea typeface="Arial"/>
                <a:cs typeface="Arial"/>
                <a:sym typeface="Arial"/>
              </a:rPr>
              <a:t>This slide shows how well our dataset actually covers the kinds of questions we're asking.</a:t>
            </a:r>
            <a:endParaRPr/>
          </a:p>
          <a:p>
            <a:pPr marL="0" marR="0" lvl="0" indent="0" algn="l" rtl="0">
              <a:lnSpc>
                <a:spcPct val="115000"/>
              </a:lnSpc>
              <a:spcBef>
                <a:spcPts val="800"/>
              </a:spcBef>
              <a:spcAft>
                <a:spcPts val="0"/>
              </a:spcAft>
              <a:buNone/>
            </a:pPr>
            <a:r>
              <a:rPr lang="de-DE">
                <a:solidFill>
                  <a:schemeClr val="dk1"/>
                </a:solidFill>
                <a:latin typeface="Arial"/>
                <a:ea typeface="Arial"/>
                <a:cs typeface="Arial"/>
                <a:sym typeface="Arial"/>
              </a:rPr>
              <a:t>The blue-grey bubbles are the research topic clusters in the dataset — oncology, COVID-19, epidemiology, and so on. The green dots are our eight test questions, and the colour tells you how well each question is matched by the corpus. Dark green means the topic is well represented. The lighter the dot, the less material the system has to work with. Two questions fall completely outside — there's barely anything in the corpus that matches them.</a:t>
            </a:r>
            <a:endParaRPr/>
          </a:p>
          <a:p>
            <a:pPr marL="0" marR="0" lvl="0" indent="0" algn="l" rtl="0">
              <a:lnSpc>
                <a:spcPct val="115000"/>
              </a:lnSpc>
              <a:spcBef>
                <a:spcPts val="800"/>
              </a:spcBef>
              <a:spcAft>
                <a:spcPts val="0"/>
              </a:spcAft>
              <a:buNone/>
            </a:pPr>
            <a:r>
              <a:rPr lang="de-DE">
                <a:solidFill>
                  <a:schemeClr val="dk1"/>
                </a:solidFill>
                <a:latin typeface="Arial"/>
                <a:ea typeface="Arial"/>
                <a:cs typeface="Arial"/>
                <a:sym typeface="Arial"/>
              </a:rPr>
              <a:t> </a:t>
            </a:r>
            <a:endParaRPr/>
          </a:p>
          <a:p>
            <a:pPr marL="0" marR="0" lvl="0" indent="0" algn="l" rtl="0">
              <a:lnSpc>
                <a:spcPct val="115000"/>
              </a:lnSpc>
              <a:spcBef>
                <a:spcPts val="800"/>
              </a:spcBef>
              <a:spcAft>
                <a:spcPts val="0"/>
              </a:spcAft>
              <a:buNone/>
            </a:pPr>
            <a:r>
              <a:rPr lang="de-DE">
                <a:solidFill>
                  <a:schemeClr val="dk1"/>
                </a:solidFill>
                <a:latin typeface="Arial"/>
                <a:ea typeface="Arial"/>
                <a:cs typeface="Arial"/>
                <a:sym typeface="Arial"/>
              </a:rPr>
              <a:t>This distinction matters a lot for the results.</a:t>
            </a:r>
            <a:endParaRPr/>
          </a:p>
          <a:p>
            <a:pPr marL="0" marR="0" lvl="0" indent="0" algn="l" rtl="0">
              <a:spcBef>
                <a:spcPts val="800"/>
              </a:spcBef>
              <a:spcAft>
                <a:spcPts val="0"/>
              </a:spcAft>
              <a:buNone/>
            </a:pPr>
            <a:endParaRPr>
              <a:solidFill>
                <a:schemeClr val="dk1"/>
              </a:solidFill>
              <a:latin typeface="Arial"/>
              <a:ea typeface="Arial"/>
              <a:cs typeface="Arial"/>
              <a:sym typeface="Arial"/>
            </a:endParaRPr>
          </a:p>
        </p:txBody>
      </p:sp>
      <p:sp>
        <p:nvSpPr>
          <p:cNvPr id="339" name="Google Shape;339;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de-DE"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1" name="Google Shape;381;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de-DE" dirty="0">
                <a:solidFill>
                  <a:schemeClr val="dk1"/>
                </a:solidFill>
                <a:latin typeface="Arial"/>
                <a:ea typeface="Arial"/>
                <a:cs typeface="Arial"/>
                <a:sym typeface="Arial"/>
              </a:rPr>
              <a:t>These </a:t>
            </a:r>
            <a:r>
              <a:rPr lang="de-DE" dirty="0" err="1">
                <a:solidFill>
                  <a:schemeClr val="dk1"/>
                </a:solidFill>
                <a:latin typeface="Arial"/>
                <a:ea typeface="Arial"/>
                <a:cs typeface="Arial"/>
                <a:sym typeface="Arial"/>
              </a:rPr>
              <a:t>are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results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of</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Q&amp;A </a:t>
            </a:r>
            <a:r>
              <a:rPr lang="de-DE" dirty="0" err="1">
                <a:solidFill>
                  <a:schemeClr val="dk1"/>
                </a:solidFill>
                <a:latin typeface="Arial"/>
                <a:ea typeface="Arial"/>
                <a:cs typeface="Arial"/>
                <a:sym typeface="Arial"/>
              </a:rPr>
              <a:t>evaluation</a:t>
            </a:r>
            <a:r>
              <a:rPr lang="de-DE" dirty="0">
                <a:solidFill>
                  <a:schemeClr val="dk1"/>
                </a:solidFill>
                <a:latin typeface="Arial"/>
                <a:ea typeface="Arial"/>
                <a:cs typeface="Arial"/>
                <a:sym typeface="Arial"/>
              </a:rPr>
              <a:t>. </a:t>
            </a:r>
            <a:r>
              <a:rPr lang="de-DE" dirty="0" err="1">
                <a:solidFill>
                  <a:schemeClr val="dk1"/>
                </a:solidFill>
              </a:rPr>
              <a:t>Surprisingly</a:t>
            </a:r>
            <a:r>
              <a:rPr lang="de-DE" dirty="0">
                <a:solidFill>
                  <a:schemeClr val="dk1"/>
                </a:solidFill>
              </a:rPr>
              <a:t>, </a:t>
            </a:r>
            <a:r>
              <a:rPr lang="de-DE" dirty="0">
                <a:solidFill>
                  <a:schemeClr val="dk1"/>
                </a:solidFill>
                <a:latin typeface="Arial"/>
                <a:ea typeface="Arial"/>
                <a:cs typeface="Arial"/>
                <a:sym typeface="Arial"/>
              </a:rPr>
              <a:t>Iteration2, </a:t>
            </a:r>
            <a:r>
              <a:rPr lang="de-DE" dirty="0" err="1">
                <a:solidFill>
                  <a:schemeClr val="dk1"/>
                </a:solidFill>
                <a:latin typeface="Arial"/>
                <a:ea typeface="Arial"/>
                <a:cs typeface="Arial"/>
                <a:sym typeface="Arial"/>
              </a:rPr>
              <a:t>our</a:t>
            </a:r>
            <a:r>
              <a:rPr lang="de-DE" dirty="0">
                <a:solidFill>
                  <a:schemeClr val="dk1"/>
                </a:solidFill>
                <a:latin typeface="Arial"/>
                <a:ea typeface="Arial"/>
                <a:cs typeface="Arial"/>
                <a:sym typeface="Arial"/>
              </a:rPr>
              <a:t> hybrid </a:t>
            </a:r>
            <a:r>
              <a:rPr lang="de-DE" dirty="0" err="1">
                <a:solidFill>
                  <a:schemeClr val="dk1"/>
                </a:solidFill>
                <a:latin typeface="Arial"/>
                <a:ea typeface="Arial"/>
                <a:cs typeface="Arial"/>
                <a:sym typeface="Arial"/>
              </a:rPr>
              <a:t>model</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a </a:t>
            </a:r>
            <a:r>
              <a:rPr lang="de-DE" dirty="0">
                <a:solidFill>
                  <a:schemeClr val="dk1"/>
                </a:solidFill>
              </a:rPr>
              <a:t>“</a:t>
            </a:r>
            <a:r>
              <a:rPr lang="de-DE" dirty="0" err="1">
                <a:solidFill>
                  <a:schemeClr val="dk1"/>
                </a:solidFill>
              </a:rPr>
              <a:t>mid</a:t>
            </a:r>
            <a:r>
              <a:rPr lang="de-DE" dirty="0">
                <a:solidFill>
                  <a:schemeClr val="dk1"/>
                </a:solidFill>
              </a:rPr>
              <a:t>-size” LLM,</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wins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a </a:t>
            </a:r>
            <a:r>
              <a:rPr lang="de-DE" dirty="0" err="1">
                <a:solidFill>
                  <a:schemeClr val="dk1"/>
                </a:solidFill>
                <a:latin typeface="Arial"/>
                <a:ea typeface="Arial"/>
                <a:cs typeface="Arial"/>
                <a:sym typeface="Arial"/>
              </a:rPr>
              <a:t>combined</a:t>
            </a:r>
            <a:r>
              <a:rPr lang="de-DE" dirty="0">
                <a:solidFill>
                  <a:schemeClr val="dk1"/>
                </a:solidFill>
                <a:latin typeface="Arial"/>
                <a:ea typeface="Arial"/>
                <a:cs typeface="Arial"/>
                <a:sym typeface="Arial"/>
              </a:rPr>
              <a:t> score </a:t>
            </a:r>
            <a:r>
              <a:rPr lang="de-DE" dirty="0" err="1">
                <a:solidFill>
                  <a:schemeClr val="dk1"/>
                </a:solidFill>
                <a:latin typeface="Arial"/>
                <a:ea typeface="Arial"/>
                <a:cs typeface="Arial"/>
                <a:sym typeface="Arial"/>
              </a:rPr>
              <a:t>of</a:t>
            </a:r>
            <a:r>
              <a:rPr lang="de-DE" dirty="0">
                <a:solidFill>
                  <a:schemeClr val="dk1"/>
                </a:solidFill>
                <a:latin typeface="Arial"/>
                <a:ea typeface="Arial"/>
                <a:cs typeface="Arial"/>
                <a:sym typeface="Arial"/>
              </a:rPr>
              <a:t> 3.6 </a:t>
            </a:r>
            <a:r>
              <a:rPr lang="de-DE" dirty="0">
                <a:solidFill>
                  <a:schemeClr val="dk1"/>
                </a:solidFill>
              </a:rPr>
              <a:t>out </a:t>
            </a:r>
            <a:r>
              <a:rPr lang="de-DE" dirty="0" err="1">
                <a:solidFill>
                  <a:schemeClr val="dk1"/>
                </a:solidFill>
              </a:rPr>
              <a:t>of</a:t>
            </a:r>
            <a:r>
              <a:rPr lang="de-DE" dirty="0">
                <a:solidFill>
                  <a:schemeClr val="dk1"/>
                </a:solidFill>
              </a:rPr>
              <a:t> 5</a:t>
            </a:r>
            <a:r>
              <a:rPr lang="de-DE" dirty="0">
                <a:solidFill>
                  <a:schemeClr val="dk1"/>
                </a:solidFill>
                <a:latin typeface="Arial"/>
                <a:ea typeface="Arial"/>
                <a:cs typeface="Arial"/>
                <a:sym typeface="Arial"/>
              </a:rPr>
              <a:t> . </a:t>
            </a:r>
            <a:r>
              <a:rPr lang="de-DE" dirty="0">
                <a:solidFill>
                  <a:schemeClr val="dk1"/>
                </a:solidFill>
              </a:rPr>
              <a:t>This </a:t>
            </a:r>
            <a:r>
              <a:rPr lang="de-DE" dirty="0" err="1">
                <a:solidFill>
                  <a:schemeClr val="dk1"/>
                </a:solidFill>
              </a:rPr>
              <a:t>system</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combin</a:t>
            </a:r>
            <a:r>
              <a:rPr lang="de-DE" dirty="0" err="1">
                <a:solidFill>
                  <a:schemeClr val="dk1"/>
                </a:solidFill>
              </a:rPr>
              <a:t>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keyword</a:t>
            </a:r>
            <a:r>
              <a:rPr lang="de-DE" dirty="0">
                <a:solidFill>
                  <a:schemeClr val="dk1"/>
                </a:solidFill>
                <a:latin typeface="Arial"/>
                <a:ea typeface="Arial"/>
                <a:cs typeface="Arial"/>
                <a:sym typeface="Arial"/>
              </a:rPr>
              <a:t> and </a:t>
            </a:r>
            <a:r>
              <a:rPr lang="de-DE" dirty="0" err="1">
                <a:solidFill>
                  <a:schemeClr val="dk1"/>
                </a:solidFill>
                <a:latin typeface="Arial"/>
                <a:ea typeface="Arial"/>
                <a:cs typeface="Arial"/>
                <a:sym typeface="Arial"/>
              </a:rPr>
              <a:t>semantic</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search</a:t>
            </a:r>
            <a:r>
              <a:rPr lang="de-DE" dirty="0">
                <a:solidFill>
                  <a:schemeClr val="dk1"/>
                </a:solidFill>
                <a:latin typeface="Arial"/>
                <a:ea typeface="Arial"/>
                <a:cs typeface="Arial"/>
                <a:sym typeface="Arial"/>
              </a:rPr>
              <a:t>. Iteration3,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one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rPr>
              <a:t>largest</a:t>
            </a:r>
            <a:r>
              <a:rPr lang="de-DE" dirty="0">
                <a:solidFill>
                  <a:schemeClr val="dk1"/>
                </a:solidFill>
              </a:rPr>
              <a:t> </a:t>
            </a:r>
            <a:r>
              <a:rPr lang="de-DE" dirty="0">
                <a:solidFill>
                  <a:schemeClr val="dk1"/>
                </a:solidFill>
                <a:latin typeface="Arial"/>
                <a:ea typeface="Arial"/>
                <a:cs typeface="Arial"/>
                <a:sym typeface="Arial"/>
              </a:rPr>
              <a:t>LLM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a:t>
            </a:r>
            <a:r>
              <a:rPr lang="de-DE" dirty="0">
                <a:solidFill>
                  <a:schemeClr val="dk1"/>
                </a:solidFill>
              </a:rPr>
              <a:t>70-billion </a:t>
            </a:r>
            <a:r>
              <a:rPr lang="de-DE" dirty="0" err="1">
                <a:solidFill>
                  <a:schemeClr val="dk1"/>
                </a:solidFill>
              </a:rPr>
              <a:t>parameters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scores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only</a:t>
            </a:r>
            <a:r>
              <a:rPr lang="de-DE" dirty="0">
                <a:solidFill>
                  <a:schemeClr val="dk1"/>
                </a:solidFill>
                <a:latin typeface="Arial"/>
                <a:ea typeface="Arial"/>
                <a:cs typeface="Arial"/>
                <a:sym typeface="Arial"/>
              </a:rPr>
              <a:t> 3.</a:t>
            </a:r>
            <a:r>
              <a:rPr lang="de-DE" dirty="0">
                <a:solidFill>
                  <a:schemeClr val="dk1"/>
                </a:solidFill>
              </a:rPr>
              <a:t>2 - </a:t>
            </a:r>
            <a:r>
              <a:rPr lang="de-DE" dirty="0" err="1">
                <a:solidFill>
                  <a:schemeClr val="dk1"/>
                </a:solidFill>
                <a:latin typeface="Arial"/>
                <a:ea typeface="Arial"/>
                <a:cs typeface="Arial"/>
                <a:sym typeface="Arial"/>
              </a:rPr>
              <a:t>barely</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better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than</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baseline</a:t>
            </a:r>
            <a:r>
              <a:rPr lang="de-DE" dirty="0">
                <a:solidFill>
                  <a:schemeClr val="dk1"/>
                </a:solidFill>
              </a:rPr>
              <a:t>, iteration1</a:t>
            </a:r>
            <a:r>
              <a:rPr lang="de-DE" dirty="0">
                <a:solidFill>
                  <a:schemeClr val="dk1"/>
                </a:solidFill>
                <a:latin typeface="Arial"/>
                <a:ea typeface="Arial"/>
                <a:cs typeface="Arial"/>
                <a:sym typeface="Arial"/>
              </a:rPr>
              <a:t>.</a:t>
            </a:r>
            <a:endParaRPr dirty="0"/>
          </a:p>
          <a:p>
            <a:pPr marL="0" marR="0" lvl="0" indent="0" algn="l" rtl="0">
              <a:lnSpc>
                <a:spcPct val="115000"/>
              </a:lnSpc>
              <a:spcBef>
                <a:spcPts val="800"/>
              </a:spcBef>
              <a:spcAft>
                <a:spcPts val="0"/>
              </a:spcAft>
              <a:buNone/>
            </a:pPr>
            <a:r>
              <a:rPr lang="de-DE" dirty="0">
                <a:solidFill>
                  <a:schemeClr val="dk1"/>
                </a:solidFill>
                <a:latin typeface="Arial"/>
                <a:ea typeface="Arial"/>
                <a:cs typeface="Arial"/>
                <a:sym typeface="Arial"/>
              </a:rPr>
              <a:t> </a:t>
            </a:r>
            <a:endParaRPr dirty="0"/>
          </a:p>
          <a:p>
            <a:pPr marL="0" marR="0" lvl="0" indent="0" algn="l" rtl="0">
              <a:lnSpc>
                <a:spcPct val="115000"/>
              </a:lnSpc>
              <a:spcBef>
                <a:spcPts val="800"/>
              </a:spcBef>
              <a:spcAft>
                <a:spcPts val="0"/>
              </a:spcAft>
              <a:buNone/>
            </a:pPr>
            <a:r>
              <a:rPr lang="de-DE" dirty="0">
                <a:solidFill>
                  <a:schemeClr val="dk1"/>
                </a:solidFill>
                <a:latin typeface="Arial"/>
                <a:ea typeface="Arial"/>
                <a:cs typeface="Arial"/>
                <a:sym typeface="Arial"/>
              </a:rPr>
              <a:t>The </a:t>
            </a:r>
            <a:r>
              <a:rPr lang="de-DE" dirty="0" err="1">
                <a:solidFill>
                  <a:schemeClr val="dk1"/>
                </a:solidFill>
                <a:latin typeface="Arial"/>
                <a:ea typeface="Arial"/>
                <a:cs typeface="Arial"/>
                <a:sym typeface="Arial"/>
              </a:rPr>
              <a:t>heatmap</a:t>
            </a:r>
            <a:r>
              <a:rPr lang="de-DE" dirty="0">
                <a:solidFill>
                  <a:schemeClr val="dk1"/>
                </a:solidFill>
                <a:latin typeface="Arial"/>
                <a:ea typeface="Arial"/>
                <a:cs typeface="Arial"/>
                <a:sym typeface="Arial"/>
              </a:rPr>
              <a:t> on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right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explains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why</a:t>
            </a:r>
            <a:r>
              <a:rPr lang="de-DE" dirty="0">
                <a:solidFill>
                  <a:schemeClr val="dk1"/>
                </a:solidFill>
                <a:latin typeface="Arial"/>
                <a:ea typeface="Arial"/>
                <a:cs typeface="Arial"/>
                <a:sym typeface="Arial"/>
              </a:rPr>
              <a:t>. I3 </a:t>
            </a:r>
            <a:r>
              <a:rPr lang="de-DE" dirty="0" err="1">
                <a:solidFill>
                  <a:schemeClr val="dk1"/>
                </a:solidFill>
                <a:latin typeface="Arial"/>
                <a:ea typeface="Arial"/>
                <a:cs typeface="Arial"/>
                <a:sym typeface="Arial"/>
              </a:rPr>
              <a:t>is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supierior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only</a:t>
            </a:r>
            <a:r>
              <a:rPr lang="de-DE" dirty="0">
                <a:solidFill>
                  <a:schemeClr val="dk1"/>
                </a:solidFill>
                <a:latin typeface="Arial"/>
                <a:ea typeface="Arial"/>
                <a:cs typeface="Arial"/>
                <a:sym typeface="Arial"/>
              </a:rPr>
              <a:t> in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well-</a:t>
            </a:r>
            <a:r>
              <a:rPr lang="de-DE" dirty="0" err="1">
                <a:solidFill>
                  <a:schemeClr val="dk1"/>
                </a:solidFill>
                <a:latin typeface="Arial"/>
                <a:ea typeface="Arial"/>
                <a:cs typeface="Arial"/>
                <a:sym typeface="Arial"/>
              </a:rPr>
              <a:t>covered</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zones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where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corpus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dense</a:t>
            </a:r>
            <a:r>
              <a:rPr lang="de-DE" dirty="0">
                <a:solidFill>
                  <a:schemeClr val="dk1"/>
                </a:solidFill>
                <a:latin typeface="Arial"/>
                <a:ea typeface="Arial"/>
                <a:cs typeface="Arial"/>
                <a:sym typeface="Arial"/>
              </a:rPr>
              <a:t>. In </a:t>
            </a:r>
            <a:r>
              <a:rPr lang="de-DE" dirty="0" err="1">
                <a:solidFill>
                  <a:schemeClr val="dk1"/>
                </a:solidFill>
                <a:latin typeface="Arial"/>
                <a:ea typeface="Arial"/>
                <a:cs typeface="Arial"/>
                <a:sym typeface="Arial"/>
              </a:rPr>
              <a:t>sparse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or</a:t>
            </a:r>
            <a:r>
              <a:rPr lang="de-DE" dirty="0">
                <a:solidFill>
                  <a:schemeClr val="dk1"/>
                </a:solidFill>
                <a:latin typeface="Arial"/>
                <a:ea typeface="Arial"/>
                <a:cs typeface="Arial"/>
                <a:sym typeface="Arial"/>
              </a:rPr>
              <a:t> outside-</a:t>
            </a:r>
            <a:r>
              <a:rPr lang="de-DE" dirty="0" err="1">
                <a:solidFill>
                  <a:schemeClr val="dk1"/>
                </a:solidFill>
                <a:latin typeface="Arial"/>
                <a:ea typeface="Arial"/>
                <a:cs typeface="Arial"/>
                <a:sym typeface="Arial"/>
              </a:rPr>
              <a:t>corpus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zones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actually</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drops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below</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baseline</a:t>
            </a:r>
            <a:r>
              <a:rPr lang="de-DE" dirty="0">
                <a:solidFill>
                  <a:schemeClr val="dk1"/>
                </a:solidFill>
                <a:latin typeface="Arial"/>
                <a:ea typeface="Arial"/>
                <a:cs typeface="Arial"/>
                <a:sym typeface="Arial"/>
              </a:rPr>
              <a:t>. So a </a:t>
            </a:r>
            <a:r>
              <a:rPr lang="de-DE" dirty="0" err="1">
                <a:solidFill>
                  <a:schemeClr val="dk1"/>
                </a:solidFill>
                <a:latin typeface="Arial"/>
                <a:ea typeface="Arial"/>
                <a:cs typeface="Arial"/>
                <a:sym typeface="Arial"/>
              </a:rPr>
              <a:t>bigger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model</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doesn't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help</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if</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right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articles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aren't</a:t>
            </a:r>
            <a:r>
              <a:rPr lang="de-DE" dirty="0">
                <a:solidFill>
                  <a:schemeClr val="dk1"/>
                </a:solidFill>
                <a:latin typeface="Arial"/>
                <a:ea typeface="Arial"/>
                <a:cs typeface="Arial"/>
                <a:sym typeface="Arial"/>
              </a:rPr>
              <a:t> in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corpus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to</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begin</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The </a:t>
            </a:r>
            <a:r>
              <a:rPr lang="de-DE" dirty="0" err="1">
                <a:solidFill>
                  <a:schemeClr val="dk1"/>
                </a:solidFill>
                <a:latin typeface="Arial"/>
                <a:ea typeface="Arial"/>
                <a:cs typeface="Arial"/>
                <a:sym typeface="Arial"/>
              </a:rPr>
              <a:t>bottleneck</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data</a:t>
            </a:r>
            <a:r>
              <a:rPr lang="de-DE" dirty="0">
                <a:solidFill>
                  <a:schemeClr val="dk1"/>
                </a:solidFill>
                <a:latin typeface="Arial"/>
                <a:ea typeface="Arial"/>
                <a:cs typeface="Arial"/>
                <a:sym typeface="Arial"/>
              </a:rPr>
              <a:t>, not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model</a:t>
            </a:r>
            <a:r>
              <a:rPr lang="de-DE"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a:p>
            <a:pPr marL="0" marR="0" lvl="0" indent="0" algn="l" rtl="0">
              <a:lnSpc>
                <a:spcPct val="115000"/>
              </a:lnSpc>
              <a:spcBef>
                <a:spcPts val="800"/>
              </a:spcBef>
              <a:spcAft>
                <a:spcPts val="0"/>
              </a:spcAft>
              <a:buNone/>
            </a:pPr>
            <a:endParaRPr dirty="0">
              <a:solidFill>
                <a:schemeClr val="dk1"/>
              </a:solidFill>
            </a:endParaRPr>
          </a:p>
          <a:p>
            <a:pPr marL="0" lvl="0" indent="0" algn="l" rtl="0">
              <a:lnSpc>
                <a:spcPct val="115000"/>
              </a:lnSpc>
              <a:spcBef>
                <a:spcPts val="800"/>
              </a:spcBef>
              <a:spcAft>
                <a:spcPts val="0"/>
              </a:spcAft>
              <a:buClr>
                <a:schemeClr val="dk1"/>
              </a:buClr>
              <a:buSzPts val="1100"/>
              <a:buFont typeface="Arial"/>
              <a:buNone/>
            </a:pPr>
            <a:r>
              <a:rPr lang="de-DE" dirty="0">
                <a:solidFill>
                  <a:schemeClr val="dk1"/>
                </a:solidFill>
              </a:rPr>
              <a:t>With </a:t>
            </a:r>
            <a:r>
              <a:rPr lang="de-DE" dirty="0" err="1">
                <a:solidFill>
                  <a:schemeClr val="dk1"/>
                </a:solidFill>
              </a:rPr>
              <a:t>that</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move</a:t>
            </a:r>
            <a:r>
              <a:rPr lang="de-DE" dirty="0">
                <a:solidFill>
                  <a:schemeClr val="dk1"/>
                </a:solidFill>
              </a:rPr>
              <a:t> </a:t>
            </a:r>
            <a:r>
              <a:rPr lang="de-DE" dirty="0" err="1">
                <a:solidFill>
                  <a:schemeClr val="dk1"/>
                </a:solidFill>
              </a:rPr>
              <a:t>from</a:t>
            </a:r>
            <a:r>
              <a:rPr lang="de-DE" dirty="0">
                <a:solidFill>
                  <a:schemeClr val="dk1"/>
                </a:solidFill>
              </a:rPr>
              <a:t> </a:t>
            </a:r>
            <a:r>
              <a:rPr lang="de-DE" dirty="0" err="1">
                <a:solidFill>
                  <a:schemeClr val="dk1"/>
                </a:solidFill>
              </a:rPr>
              <a:t>metrics</a:t>
            </a:r>
            <a:r>
              <a:rPr lang="de-DE" dirty="0">
                <a:solidFill>
                  <a:schemeClr val="dk1"/>
                </a:solidFill>
              </a:rPr>
              <a:t> </a:t>
            </a:r>
            <a:r>
              <a:rPr lang="de-DE" dirty="0" err="1">
                <a:solidFill>
                  <a:schemeClr val="dk1"/>
                </a:solidFill>
              </a:rPr>
              <a:t>to</a:t>
            </a:r>
            <a:r>
              <a:rPr lang="de-DE" dirty="0">
                <a:solidFill>
                  <a:schemeClr val="dk1"/>
                </a:solidFill>
              </a:rPr>
              <a:t> </a:t>
            </a:r>
            <a:r>
              <a:rPr lang="de-DE" dirty="0" err="1">
                <a:solidFill>
                  <a:schemeClr val="dk1"/>
                </a:solidFill>
              </a:rPr>
              <a:t>experience</a:t>
            </a:r>
            <a:r>
              <a:rPr lang="de-DE" dirty="0">
                <a:solidFill>
                  <a:schemeClr val="dk1"/>
                </a:solidFill>
              </a:rPr>
              <a:t>—</a:t>
            </a:r>
            <a:endParaRPr dirty="0">
              <a:solidFill>
                <a:schemeClr val="dk1"/>
              </a:solidFill>
            </a:endParaRPr>
          </a:p>
          <a:p>
            <a:pPr marL="0" marR="0" lvl="0" indent="0" algn="l" rtl="0">
              <a:lnSpc>
                <a:spcPct val="115000"/>
              </a:lnSpc>
              <a:spcBef>
                <a:spcPts val="800"/>
              </a:spcBef>
              <a:spcAft>
                <a:spcPts val="0"/>
              </a:spcAft>
              <a:buNone/>
            </a:pPr>
            <a:r>
              <a:rPr lang="de-DE" dirty="0" err="1">
                <a:solidFill>
                  <a:schemeClr val="dk1"/>
                </a:solidFill>
              </a:rPr>
              <a:t>let’s</a:t>
            </a:r>
            <a:r>
              <a:rPr lang="de-DE" dirty="0">
                <a:solidFill>
                  <a:schemeClr val="dk1"/>
                </a:solidFill>
              </a:rPr>
              <a:t> </a:t>
            </a:r>
            <a:r>
              <a:rPr lang="de-DE" dirty="0" err="1">
                <a:solidFill>
                  <a:schemeClr val="dk1"/>
                </a:solidFill>
              </a:rPr>
              <a:t>take</a:t>
            </a:r>
            <a:r>
              <a:rPr lang="de-DE" dirty="0">
                <a:solidFill>
                  <a:schemeClr val="dk1"/>
                </a:solidFill>
              </a:rPr>
              <a:t> a </a:t>
            </a:r>
            <a:r>
              <a:rPr lang="de-DE" dirty="0" err="1">
                <a:solidFill>
                  <a:schemeClr val="dk1"/>
                </a:solidFill>
              </a:rPr>
              <a:t>look</a:t>
            </a:r>
            <a:r>
              <a:rPr lang="de-DE" dirty="0">
                <a:solidFill>
                  <a:schemeClr val="dk1"/>
                </a:solidFill>
              </a:rPr>
              <a:t> at a </a:t>
            </a:r>
            <a:r>
              <a:rPr lang="de-DE" dirty="0" err="1">
                <a:solidFill>
                  <a:schemeClr val="dk1"/>
                </a:solidFill>
              </a:rPr>
              <a:t>demo</a:t>
            </a:r>
            <a:r>
              <a:rPr lang="de-DE" dirty="0">
                <a:solidFill>
                  <a:schemeClr val="dk1"/>
                </a:solidFill>
              </a:rPr>
              <a:t>….</a:t>
            </a:r>
            <a:endParaRPr dirty="0">
              <a:solidFill>
                <a:schemeClr val="dk1"/>
              </a:solidFill>
            </a:endParaRPr>
          </a:p>
        </p:txBody>
      </p:sp>
      <p:sp>
        <p:nvSpPr>
          <p:cNvPr id="382" name="Google Shape;382;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de-DE"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de-DE" dirty="0">
                <a:solidFill>
                  <a:schemeClr val="dk1"/>
                </a:solidFill>
              </a:rPr>
              <a:t>… </a:t>
            </a:r>
            <a:r>
              <a:rPr lang="de-DE" dirty="0" err="1">
                <a:solidFill>
                  <a:schemeClr val="dk1"/>
                </a:solidFill>
              </a:rPr>
              <a:t>here</a:t>
            </a:r>
            <a:r>
              <a:rPr lang="de-DE" dirty="0">
                <a:solidFill>
                  <a:schemeClr val="dk1"/>
                </a:solidFill>
              </a:rPr>
              <a:t> </a:t>
            </a:r>
            <a:r>
              <a:rPr lang="de-DE" dirty="0" err="1">
                <a:solidFill>
                  <a:schemeClr val="dk1"/>
                </a:solidFill>
              </a:rPr>
              <a:t>is</a:t>
            </a:r>
            <a:r>
              <a:rPr lang="de-DE" dirty="0">
                <a:solidFill>
                  <a:schemeClr val="dk1"/>
                </a:solidFill>
              </a:rPr>
              <a:t> </a:t>
            </a:r>
            <a:r>
              <a:rPr lang="de-DE" dirty="0" err="1">
                <a:solidFill>
                  <a:schemeClr val="dk1"/>
                </a:solidFill>
              </a:rPr>
              <a:t>how</a:t>
            </a: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envision</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first</a:t>
            </a:r>
            <a:r>
              <a:rPr lang="de-DE" dirty="0">
                <a:solidFill>
                  <a:schemeClr val="dk1"/>
                </a:solidFill>
              </a:rPr>
              <a:t> real </a:t>
            </a:r>
            <a:r>
              <a:rPr lang="de-DE" dirty="0" err="1">
                <a:solidFill>
                  <a:schemeClr val="dk1"/>
                </a:solidFill>
              </a:rPr>
              <a:t>version</a:t>
            </a:r>
            <a:r>
              <a:rPr lang="de-DE" dirty="0">
                <a:solidFill>
                  <a:schemeClr val="dk1"/>
                </a:solidFill>
              </a:rPr>
              <a:t> </a:t>
            </a:r>
            <a:r>
              <a:rPr lang="de-DE" dirty="0" err="1">
                <a:solidFill>
                  <a:schemeClr val="dk1"/>
                </a:solidFill>
              </a:rPr>
              <a:t>of</a:t>
            </a:r>
            <a:r>
              <a:rPr lang="de-DE" dirty="0">
                <a:solidFill>
                  <a:schemeClr val="dk1"/>
                </a:solidFill>
              </a:rPr>
              <a:t> </a:t>
            </a:r>
            <a:r>
              <a:rPr lang="de-DE" dirty="0" err="1">
                <a:solidFill>
                  <a:schemeClr val="dk1"/>
                </a:solidFill>
              </a:rPr>
              <a:t>our</a:t>
            </a:r>
            <a:r>
              <a:rPr lang="de-DE" dirty="0">
                <a:solidFill>
                  <a:schemeClr val="dk1"/>
                </a:solidFill>
              </a:rPr>
              <a:t> assistant.</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de-DE" dirty="0">
                <a:solidFill>
                  <a:schemeClr val="dk1"/>
                </a:solidFill>
              </a:rPr>
              <a:t>At </a:t>
            </a:r>
            <a:r>
              <a:rPr lang="de-DE" dirty="0" err="1">
                <a:solidFill>
                  <a:schemeClr val="dk1"/>
                </a:solidFill>
              </a:rPr>
              <a:t>the</a:t>
            </a:r>
            <a:r>
              <a:rPr lang="de-DE" dirty="0">
                <a:solidFill>
                  <a:schemeClr val="dk1"/>
                </a:solidFill>
              </a:rPr>
              <a:t> top, </a:t>
            </a:r>
            <a:r>
              <a:rPr lang="de-DE" dirty="0" err="1">
                <a:solidFill>
                  <a:schemeClr val="dk1"/>
                </a:solidFill>
              </a:rPr>
              <a:t>there</a:t>
            </a:r>
            <a:r>
              <a:rPr lang="de-DE" dirty="0">
                <a:solidFill>
                  <a:schemeClr val="dk1"/>
                </a:solidFill>
              </a:rPr>
              <a:t> </a:t>
            </a:r>
            <a:r>
              <a:rPr lang="de-DE" dirty="0" err="1">
                <a:solidFill>
                  <a:schemeClr val="dk1"/>
                </a:solidFill>
              </a:rPr>
              <a:t>is</a:t>
            </a:r>
            <a:r>
              <a:rPr lang="de-DE" dirty="0">
                <a:solidFill>
                  <a:schemeClr val="dk1"/>
                </a:solidFill>
              </a:rPr>
              <a:t> a </a:t>
            </a:r>
            <a:r>
              <a:rPr lang="de-DE" dirty="0" err="1">
                <a:solidFill>
                  <a:schemeClr val="dk1"/>
                </a:solidFill>
              </a:rPr>
              <a:t>query</a:t>
            </a:r>
            <a:r>
              <a:rPr lang="de-DE" dirty="0">
                <a:solidFill>
                  <a:schemeClr val="dk1"/>
                </a:solidFill>
              </a:rPr>
              <a:t> </a:t>
            </a:r>
            <a:r>
              <a:rPr lang="de-DE" dirty="0" err="1">
                <a:solidFill>
                  <a:schemeClr val="dk1"/>
                </a:solidFill>
              </a:rPr>
              <a:t>field</a:t>
            </a:r>
            <a:r>
              <a:rPr lang="de-DE" dirty="0">
                <a:solidFill>
                  <a:schemeClr val="dk1"/>
                </a:solidFill>
              </a:rPr>
              <a:t> </a:t>
            </a:r>
            <a:r>
              <a:rPr lang="de-DE" dirty="0" err="1">
                <a:solidFill>
                  <a:schemeClr val="dk1"/>
                </a:solidFill>
              </a:rPr>
              <a:t>for</a:t>
            </a:r>
            <a:r>
              <a:rPr lang="de-DE" dirty="0">
                <a:solidFill>
                  <a:schemeClr val="dk1"/>
                </a:solidFill>
              </a:rPr>
              <a:t> a </a:t>
            </a:r>
            <a:r>
              <a:rPr lang="de-DE" dirty="0" err="1">
                <a:solidFill>
                  <a:schemeClr val="dk1"/>
                </a:solidFill>
              </a:rPr>
              <a:t>medical</a:t>
            </a:r>
            <a:r>
              <a:rPr lang="de-DE" dirty="0">
                <a:solidFill>
                  <a:schemeClr val="dk1"/>
                </a:solidFill>
              </a:rPr>
              <a:t> </a:t>
            </a:r>
            <a:r>
              <a:rPr lang="de-DE" dirty="0" err="1">
                <a:solidFill>
                  <a:schemeClr val="dk1"/>
                </a:solidFill>
              </a:rPr>
              <a:t>question</a:t>
            </a:r>
            <a:r>
              <a:rPr lang="de-DE" dirty="0">
                <a:solidFill>
                  <a:schemeClr val="dk1"/>
                </a:solidFill>
              </a:rPr>
              <a:t>.</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marR="0" lvl="0" indent="0" algn="l" rtl="0">
              <a:spcBef>
                <a:spcPts val="0"/>
              </a:spcBef>
              <a:spcAft>
                <a:spcPts val="0"/>
              </a:spcAft>
              <a:buNone/>
            </a:pPr>
            <a:r>
              <a:rPr lang="de-DE" dirty="0"/>
              <a:t>In </a:t>
            </a:r>
            <a:r>
              <a:rPr lang="de-DE" dirty="0" err="1"/>
              <a:t>the</a:t>
            </a:r>
            <a:r>
              <a:rPr lang="de-DE" dirty="0"/>
              <a:t> </a:t>
            </a:r>
            <a:r>
              <a:rPr lang="de-DE" dirty="0" err="1"/>
              <a:t>field</a:t>
            </a:r>
            <a:r>
              <a:rPr lang="de-DE" dirty="0"/>
              <a:t> </a:t>
            </a:r>
            <a:r>
              <a:rPr lang="de-DE" dirty="0" err="1"/>
              <a:t>below</a:t>
            </a:r>
            <a:r>
              <a:rPr lang="de-DE" dirty="0"/>
              <a:t>, </a:t>
            </a:r>
            <a:r>
              <a:rPr lang="de-DE" dirty="0" err="1"/>
              <a:t>there</a:t>
            </a:r>
            <a:r>
              <a:rPr lang="de-DE" dirty="0"/>
              <a:t> </a:t>
            </a:r>
            <a:r>
              <a:rPr lang="de-DE" dirty="0" err="1"/>
              <a:t>is</a:t>
            </a:r>
            <a:r>
              <a:rPr lang="de-DE" dirty="0"/>
              <a:t> </a:t>
            </a:r>
            <a:r>
              <a:rPr lang="de-DE" dirty="0" err="1"/>
              <a:t>the</a:t>
            </a:r>
            <a:r>
              <a:rPr lang="de-DE" dirty="0"/>
              <a:t> </a:t>
            </a:r>
            <a:r>
              <a:rPr lang="de-DE" dirty="0" err="1"/>
              <a:t>answer</a:t>
            </a:r>
            <a:r>
              <a:rPr lang="de-DE" dirty="0"/>
              <a:t> </a:t>
            </a:r>
            <a:r>
              <a:rPr lang="de-DE" dirty="0" err="1"/>
              <a:t>field</a:t>
            </a:r>
            <a:r>
              <a:rPr lang="de-DE" dirty="0"/>
              <a:t> </a:t>
            </a:r>
            <a:r>
              <a:rPr lang="de-DE" dirty="0" err="1"/>
              <a:t>of</a:t>
            </a:r>
            <a:r>
              <a:rPr lang="de-DE" dirty="0"/>
              <a:t> </a:t>
            </a:r>
            <a:r>
              <a:rPr lang="de-DE" dirty="0" err="1"/>
              <a:t>the</a:t>
            </a:r>
            <a:r>
              <a:rPr lang="de-DE" dirty="0"/>
              <a:t> LLM.</a:t>
            </a:r>
            <a:endParaRPr dirty="0"/>
          </a:p>
        </p:txBody>
      </p:sp>
      <p:sp>
        <p:nvSpPr>
          <p:cNvPr id="435" name="Google Shape;435;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de-DE" sz="1800" b="0" i="0" u="none" strike="noStrike" cap="none">
                <a:solidFill>
                  <a:srgbClr val="000000"/>
                </a:solidFill>
                <a:latin typeface="Arial"/>
                <a:ea typeface="Arial"/>
                <a:cs typeface="Arial"/>
                <a:sym typeface="Arial"/>
              </a:rPr>
              <a:t>24</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d27537c611_0_10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9" name="Google Shape;449;g3d27537c611_0_10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de-DE" dirty="0" err="1">
                <a:solidFill>
                  <a:schemeClr val="dk1"/>
                </a:solidFill>
              </a:rPr>
              <a:t>Lets</a:t>
            </a:r>
            <a:r>
              <a:rPr lang="de-DE" dirty="0">
                <a:solidFill>
                  <a:schemeClr val="dk1"/>
                </a:solidFill>
              </a:rPr>
              <a:t> </a:t>
            </a:r>
            <a:r>
              <a:rPr lang="de-DE" dirty="0" err="1">
                <a:solidFill>
                  <a:schemeClr val="dk1"/>
                </a:solidFill>
              </a:rPr>
              <a:t>enter</a:t>
            </a:r>
            <a:r>
              <a:rPr lang="de-DE" dirty="0">
                <a:solidFill>
                  <a:schemeClr val="dk1"/>
                </a:solidFill>
              </a:rPr>
              <a:t> a </a:t>
            </a:r>
            <a:r>
              <a:rPr lang="de-DE" dirty="0" err="1">
                <a:solidFill>
                  <a:schemeClr val="dk1"/>
                </a:solidFill>
              </a:rPr>
              <a:t>specific</a:t>
            </a:r>
            <a:r>
              <a:rPr lang="de-DE" dirty="0">
                <a:solidFill>
                  <a:schemeClr val="dk1"/>
                </a:solidFill>
              </a:rPr>
              <a:t> </a:t>
            </a:r>
            <a:r>
              <a:rPr lang="de-DE" dirty="0" err="1">
                <a:solidFill>
                  <a:schemeClr val="dk1"/>
                </a:solidFill>
              </a:rPr>
              <a:t>medical</a:t>
            </a:r>
            <a:r>
              <a:rPr lang="de-DE" dirty="0">
                <a:solidFill>
                  <a:schemeClr val="dk1"/>
                </a:solidFill>
              </a:rPr>
              <a:t> </a:t>
            </a:r>
            <a:r>
              <a:rPr lang="de-DE" dirty="0" err="1">
                <a:solidFill>
                  <a:schemeClr val="dk1"/>
                </a:solidFill>
              </a:rPr>
              <a:t>question</a:t>
            </a:r>
            <a:r>
              <a:rPr lang="de-DE" dirty="0">
                <a:solidFill>
                  <a:schemeClr val="dk1"/>
                </a:solidFill>
              </a:rPr>
              <a:t>—</a:t>
            </a:r>
            <a:r>
              <a:rPr lang="de-DE" dirty="0" err="1">
                <a:solidFill>
                  <a:schemeClr val="dk1"/>
                </a:solidFill>
              </a:rPr>
              <a:t>here</a:t>
            </a:r>
            <a:r>
              <a:rPr lang="de-DE" dirty="0">
                <a:solidFill>
                  <a:schemeClr val="dk1"/>
                </a:solidFill>
              </a:rPr>
              <a:t> </a:t>
            </a:r>
            <a:r>
              <a:rPr lang="de-DE" dirty="0" err="1">
                <a:solidFill>
                  <a:schemeClr val="dk1"/>
                </a:solidFill>
              </a:rPr>
              <a:t>about</a:t>
            </a:r>
            <a:r>
              <a:rPr lang="de-DE" dirty="0">
                <a:solidFill>
                  <a:schemeClr val="dk1"/>
                </a:solidFill>
              </a:rPr>
              <a:t> </a:t>
            </a:r>
            <a:r>
              <a:rPr lang="de-DE" dirty="0" err="1">
                <a:solidFill>
                  <a:schemeClr val="dk1"/>
                </a:solidFill>
              </a:rPr>
              <a:t>lung</a:t>
            </a:r>
            <a:r>
              <a:rPr lang="de-DE" dirty="0">
                <a:solidFill>
                  <a:schemeClr val="dk1"/>
                </a:solidFill>
              </a:rPr>
              <a:t> </a:t>
            </a:r>
            <a:r>
              <a:rPr lang="de-DE" dirty="0" err="1">
                <a:solidFill>
                  <a:schemeClr val="dk1"/>
                </a:solidFill>
              </a:rPr>
              <a:t>cancer</a:t>
            </a:r>
            <a:r>
              <a:rPr lang="de-DE" dirty="0">
                <a:solidFill>
                  <a:schemeClr val="dk1"/>
                </a:solidFill>
              </a:rPr>
              <a:t>.</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de-DE" dirty="0">
                <a:solidFill>
                  <a:schemeClr val="dk1"/>
                </a:solidFill>
              </a:rPr>
              <a:t>By </a:t>
            </a:r>
            <a:r>
              <a:rPr lang="de-DE" dirty="0" err="1">
                <a:solidFill>
                  <a:schemeClr val="dk1"/>
                </a:solidFill>
              </a:rPr>
              <a:t>pressing</a:t>
            </a:r>
            <a:r>
              <a:rPr lang="de-DE" dirty="0">
                <a:solidFill>
                  <a:schemeClr val="dk1"/>
                </a:solidFill>
              </a:rPr>
              <a:t> “Ask” …</a:t>
            </a:r>
            <a:endParaRPr dirty="0">
              <a:solidFill>
                <a:schemeClr val="dk1"/>
              </a:solidFill>
            </a:endParaRPr>
          </a:p>
          <a:p>
            <a:pPr marL="0" marR="0" lvl="0" indent="0" algn="l" rtl="0">
              <a:spcBef>
                <a:spcPts val="0"/>
              </a:spcBef>
              <a:spcAft>
                <a:spcPts val="0"/>
              </a:spcAft>
              <a:buNone/>
            </a:pPr>
            <a:endParaRPr dirty="0"/>
          </a:p>
        </p:txBody>
      </p:sp>
      <p:sp>
        <p:nvSpPr>
          <p:cNvPr id="450" name="Google Shape;450;g3d27537c611_0_10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de-DE" sz="1800" b="0" i="0" u="none" strike="noStrike" cap="none">
                <a:solidFill>
                  <a:srgbClr val="000000"/>
                </a:solidFill>
                <a:latin typeface="Arial"/>
                <a:ea typeface="Arial"/>
                <a:cs typeface="Arial"/>
                <a:sym typeface="Arial"/>
              </a:rPr>
              <a:t>25</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d27537c611_0_1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g3d27537c611_0_1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dirty="0">
                <a:solidFill>
                  <a:schemeClr val="dk1"/>
                </a:solidFill>
              </a:rPr>
              <a:t>… </a:t>
            </a:r>
            <a:r>
              <a:rPr lang="de-DE" dirty="0" err="1">
                <a:solidFill>
                  <a:schemeClr val="dk1"/>
                </a:solidFill>
              </a:rPr>
              <a:t>we</a:t>
            </a:r>
            <a:r>
              <a:rPr lang="de-DE" dirty="0">
                <a:solidFill>
                  <a:schemeClr val="dk1"/>
                </a:solidFill>
              </a:rPr>
              <a:t> </a:t>
            </a:r>
            <a:r>
              <a:rPr lang="de-DE" dirty="0" err="1">
                <a:solidFill>
                  <a:schemeClr val="dk1"/>
                </a:solidFill>
              </a:rPr>
              <a:t>see</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answer</a:t>
            </a:r>
            <a:r>
              <a:rPr lang="de-DE" dirty="0">
                <a:solidFill>
                  <a:schemeClr val="dk1"/>
                </a:solidFill>
              </a:rPr>
              <a:t>:</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de-DE" dirty="0">
                <a:solidFill>
                  <a:schemeClr val="dk1"/>
                </a:solidFill>
              </a:rPr>
              <a:t>The assistant </a:t>
            </a:r>
            <a:r>
              <a:rPr lang="de-DE" dirty="0" err="1">
                <a:solidFill>
                  <a:schemeClr val="dk1"/>
                </a:solidFill>
              </a:rPr>
              <a:t>provides</a:t>
            </a:r>
            <a:r>
              <a:rPr lang="de-DE" dirty="0">
                <a:solidFill>
                  <a:schemeClr val="dk1"/>
                </a:solidFill>
              </a:rPr>
              <a:t> a </a:t>
            </a:r>
            <a:r>
              <a:rPr lang="de-DE" dirty="0" err="1">
                <a:solidFill>
                  <a:schemeClr val="dk1"/>
                </a:solidFill>
              </a:rPr>
              <a:t>structured</a:t>
            </a:r>
            <a:r>
              <a:rPr lang="de-DE" dirty="0">
                <a:solidFill>
                  <a:schemeClr val="dk1"/>
                </a:solidFill>
              </a:rPr>
              <a:t> </a:t>
            </a:r>
            <a:r>
              <a:rPr lang="de-DE" dirty="0" err="1">
                <a:solidFill>
                  <a:schemeClr val="dk1"/>
                </a:solidFill>
              </a:rPr>
              <a:t>answer</a:t>
            </a:r>
            <a:r>
              <a:rPr lang="de-DE" dirty="0">
                <a:solidFill>
                  <a:schemeClr val="dk1"/>
                </a:solidFill>
              </a:rPr>
              <a:t> in </a:t>
            </a:r>
            <a:r>
              <a:rPr lang="de-DE" dirty="0" err="1">
                <a:solidFill>
                  <a:schemeClr val="dk1"/>
                </a:solidFill>
              </a:rPr>
              <a:t>text</a:t>
            </a:r>
            <a:r>
              <a:rPr lang="de-DE" dirty="0">
                <a:solidFill>
                  <a:schemeClr val="dk1"/>
                </a:solidFill>
              </a:rPr>
              <a:t> form, </a:t>
            </a:r>
            <a:r>
              <a:rPr lang="de-DE" dirty="0" err="1">
                <a:solidFill>
                  <a:schemeClr val="dk1"/>
                </a:solidFill>
              </a:rPr>
              <a:t>aligned</a:t>
            </a:r>
            <a:r>
              <a:rPr lang="de-DE" dirty="0">
                <a:solidFill>
                  <a:schemeClr val="dk1"/>
                </a:solidFill>
              </a:rPr>
              <a:t> </a:t>
            </a:r>
            <a:r>
              <a:rPr lang="de-DE" dirty="0" err="1">
                <a:solidFill>
                  <a:schemeClr val="dk1"/>
                </a:solidFill>
              </a:rPr>
              <a:t>with</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scope</a:t>
            </a:r>
            <a:r>
              <a:rPr lang="de-DE" dirty="0">
                <a:solidFill>
                  <a:schemeClr val="dk1"/>
                </a:solidFill>
              </a:rPr>
              <a:t> </a:t>
            </a:r>
            <a:r>
              <a:rPr lang="de-DE" dirty="0" err="1">
                <a:solidFill>
                  <a:schemeClr val="dk1"/>
                </a:solidFill>
              </a:rPr>
              <a:t>of</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query</a:t>
            </a:r>
            <a:r>
              <a:rPr lang="de-DE" dirty="0">
                <a:solidFill>
                  <a:schemeClr val="dk1"/>
                </a:solidFill>
              </a:rPr>
              <a:t>.; </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a:solidFill>
                  <a:schemeClr val="dk1"/>
                </a:solidFill>
              </a:rPr>
              <a:t>At </a:t>
            </a:r>
            <a:r>
              <a:rPr lang="de-DE" dirty="0" err="1">
                <a:solidFill>
                  <a:schemeClr val="dk1"/>
                </a:solidFill>
              </a:rPr>
              <a:t>the</a:t>
            </a:r>
            <a:r>
              <a:rPr lang="de-DE" dirty="0">
                <a:solidFill>
                  <a:schemeClr val="dk1"/>
                </a:solidFill>
              </a:rPr>
              <a:t> end </a:t>
            </a:r>
            <a:r>
              <a:rPr lang="de-DE" dirty="0" err="1">
                <a:solidFill>
                  <a:schemeClr val="dk1"/>
                </a:solidFill>
              </a:rPr>
              <a:t>of</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text</a:t>
            </a:r>
            <a:r>
              <a:rPr lang="de-DE" dirty="0">
                <a:solidFill>
                  <a:schemeClr val="dk1"/>
                </a:solidFill>
              </a:rPr>
              <a:t>, </a:t>
            </a:r>
            <a:r>
              <a:rPr lang="de-DE" dirty="0" err="1">
                <a:solidFill>
                  <a:schemeClr val="dk1"/>
                </a:solidFill>
              </a:rPr>
              <a:t>it</a:t>
            </a:r>
            <a:r>
              <a:rPr lang="de-DE" dirty="0">
                <a:solidFill>
                  <a:schemeClr val="dk1"/>
                </a:solidFill>
              </a:rPr>
              <a:t> </a:t>
            </a:r>
            <a:r>
              <a:rPr lang="de-DE" dirty="0" err="1">
                <a:solidFill>
                  <a:schemeClr val="dk1"/>
                </a:solidFill>
              </a:rPr>
              <a:t>shows</a:t>
            </a:r>
            <a:r>
              <a:rPr lang="de-DE" dirty="0">
                <a:solidFill>
                  <a:schemeClr val="dk1"/>
                </a:solidFill>
              </a:rPr>
              <a:t> </a:t>
            </a:r>
            <a:r>
              <a:rPr lang="de-DE" dirty="0" err="1">
                <a:solidFill>
                  <a:schemeClr val="dk1"/>
                </a:solidFill>
              </a:rPr>
              <a:t>linked</a:t>
            </a:r>
            <a:r>
              <a:rPr lang="de-DE" dirty="0">
                <a:solidFill>
                  <a:schemeClr val="dk1"/>
                </a:solidFill>
              </a:rPr>
              <a:t> </a:t>
            </a:r>
            <a:r>
              <a:rPr lang="de-DE" dirty="0" err="1">
                <a:solidFill>
                  <a:schemeClr val="dk1"/>
                </a:solidFill>
              </a:rPr>
              <a:t>sources</a:t>
            </a:r>
            <a:r>
              <a:rPr lang="de-DE" dirty="0">
                <a:solidFill>
                  <a:schemeClr val="dk1"/>
                </a:solidFill>
              </a:rPr>
              <a:t>—such </a:t>
            </a:r>
            <a:r>
              <a:rPr lang="de-DE" dirty="0" err="1">
                <a:solidFill>
                  <a:schemeClr val="dk1"/>
                </a:solidFill>
              </a:rPr>
              <a:t>as</a:t>
            </a:r>
            <a:r>
              <a:rPr lang="de-DE" dirty="0">
                <a:solidFill>
                  <a:schemeClr val="dk1"/>
                </a:solidFill>
              </a:rPr>
              <a:t> </a:t>
            </a:r>
            <a:r>
              <a:rPr lang="de-DE" dirty="0" err="1">
                <a:solidFill>
                  <a:schemeClr val="dk1"/>
                </a:solidFill>
              </a:rPr>
              <a:t>article</a:t>
            </a:r>
            <a:r>
              <a:rPr lang="de-DE" dirty="0">
                <a:solidFill>
                  <a:schemeClr val="dk1"/>
                </a:solidFill>
              </a:rPr>
              <a:t> IDs—</a:t>
            </a:r>
            <a:r>
              <a:rPr lang="de-DE" dirty="0" err="1">
                <a:solidFill>
                  <a:schemeClr val="dk1"/>
                </a:solidFill>
              </a:rPr>
              <a:t>to</a:t>
            </a:r>
            <a:r>
              <a:rPr lang="de-DE" dirty="0">
                <a:solidFill>
                  <a:schemeClr val="dk1"/>
                </a:solidFill>
              </a:rPr>
              <a:t> </a:t>
            </a:r>
            <a:r>
              <a:rPr lang="de-DE" dirty="0" err="1">
                <a:solidFill>
                  <a:schemeClr val="dk1"/>
                </a:solidFill>
              </a:rPr>
              <a:t>ensure</a:t>
            </a:r>
            <a:r>
              <a:rPr lang="de-DE" dirty="0">
                <a:solidFill>
                  <a:schemeClr val="dk1"/>
                </a:solidFill>
              </a:rPr>
              <a:t> </a:t>
            </a:r>
            <a:r>
              <a:rPr lang="de-DE" dirty="0" err="1">
                <a:solidFill>
                  <a:schemeClr val="dk1"/>
                </a:solidFill>
              </a:rPr>
              <a:t>transparency</a:t>
            </a:r>
            <a:r>
              <a:rPr lang="de-DE" dirty="0">
                <a:solidFill>
                  <a:schemeClr val="dk1"/>
                </a:solidFill>
              </a:rPr>
              <a:t> and </a:t>
            </a:r>
            <a:r>
              <a:rPr lang="de-DE" dirty="0" err="1">
                <a:solidFill>
                  <a:schemeClr val="dk1"/>
                </a:solidFill>
              </a:rPr>
              <a:t>traceability</a:t>
            </a:r>
            <a:r>
              <a:rPr lang="de-DE"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de-DE" dirty="0" err="1">
                <a:solidFill>
                  <a:schemeClr val="dk1"/>
                </a:solidFill>
              </a:rPr>
              <a:t>Additionally</a:t>
            </a:r>
            <a:r>
              <a:rPr lang="de-DE" dirty="0">
                <a:solidFill>
                  <a:schemeClr val="dk1"/>
                </a:solidFill>
              </a:rPr>
              <a:t>, in a </a:t>
            </a:r>
            <a:r>
              <a:rPr lang="de-DE" dirty="0" err="1">
                <a:solidFill>
                  <a:schemeClr val="dk1"/>
                </a:solidFill>
              </a:rPr>
              <a:t>future</a:t>
            </a:r>
            <a:r>
              <a:rPr lang="de-DE" dirty="0">
                <a:solidFill>
                  <a:schemeClr val="dk1"/>
                </a:solidFill>
              </a:rPr>
              <a:t> </a:t>
            </a:r>
            <a:r>
              <a:rPr lang="de-DE" dirty="0" err="1">
                <a:solidFill>
                  <a:schemeClr val="dk1"/>
                </a:solidFill>
              </a:rPr>
              <a:t>version</a:t>
            </a:r>
            <a:r>
              <a:rPr lang="de-DE" dirty="0">
                <a:solidFill>
                  <a:schemeClr val="dk1"/>
                </a:solidFill>
              </a:rPr>
              <a:t>, </a:t>
            </a:r>
            <a:r>
              <a:rPr lang="de-DE" dirty="0" err="1">
                <a:solidFill>
                  <a:schemeClr val="dk1"/>
                </a:solidFill>
              </a:rPr>
              <a:t>it</a:t>
            </a:r>
            <a:r>
              <a:rPr lang="de-DE" dirty="0">
                <a:solidFill>
                  <a:schemeClr val="dk1"/>
                </a:solidFill>
              </a:rPr>
              <a:t> </a:t>
            </a:r>
            <a:r>
              <a:rPr lang="de-DE" dirty="0" err="1">
                <a:solidFill>
                  <a:schemeClr val="dk1"/>
                </a:solidFill>
              </a:rPr>
              <a:t>could</a:t>
            </a:r>
            <a:r>
              <a:rPr lang="de-DE" dirty="0">
                <a:solidFill>
                  <a:schemeClr val="dk1"/>
                </a:solidFill>
              </a:rPr>
              <a:t> </a:t>
            </a:r>
            <a:r>
              <a:rPr lang="de-DE" dirty="0" err="1">
                <a:solidFill>
                  <a:schemeClr val="dk1"/>
                </a:solidFill>
              </a:rPr>
              <a:t>show</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most</a:t>
            </a:r>
            <a:r>
              <a:rPr lang="de-DE" dirty="0">
                <a:solidFill>
                  <a:schemeClr val="dk1"/>
                </a:solidFill>
              </a:rPr>
              <a:t> relevant and </a:t>
            </a:r>
            <a:r>
              <a:rPr lang="de-DE" dirty="0" err="1">
                <a:solidFill>
                  <a:schemeClr val="dk1"/>
                </a:solidFill>
              </a:rPr>
              <a:t>similar</a:t>
            </a:r>
            <a:r>
              <a:rPr lang="de-DE" dirty="0">
                <a:solidFill>
                  <a:schemeClr val="dk1"/>
                </a:solidFill>
              </a:rPr>
              <a:t> </a:t>
            </a:r>
            <a:r>
              <a:rPr lang="de-DE" dirty="0" err="1">
                <a:solidFill>
                  <a:schemeClr val="dk1"/>
                </a:solidFill>
              </a:rPr>
              <a:t>papers</a:t>
            </a:r>
            <a:r>
              <a:rPr lang="de-DE" dirty="0">
                <a:solidFill>
                  <a:schemeClr val="dk1"/>
                </a:solidFill>
              </a:rPr>
              <a:t> </a:t>
            </a:r>
            <a:r>
              <a:rPr lang="de-DE" dirty="0" err="1">
                <a:solidFill>
                  <a:schemeClr val="dk1"/>
                </a:solidFill>
              </a:rPr>
              <a:t>of</a:t>
            </a:r>
            <a:r>
              <a:rPr lang="de-DE" dirty="0">
                <a:solidFill>
                  <a:schemeClr val="dk1"/>
                </a:solidFill>
              </a:rPr>
              <a:t> </a:t>
            </a:r>
            <a:r>
              <a:rPr lang="de-DE" dirty="0" err="1">
                <a:solidFill>
                  <a:schemeClr val="dk1"/>
                </a:solidFill>
              </a:rPr>
              <a:t>that</a:t>
            </a:r>
            <a:r>
              <a:rPr lang="de-DE" dirty="0">
                <a:solidFill>
                  <a:schemeClr val="dk1"/>
                </a:solidFill>
              </a:rPr>
              <a:t> </a:t>
            </a:r>
            <a:r>
              <a:rPr lang="de-DE" dirty="0" err="1">
                <a:solidFill>
                  <a:schemeClr val="dk1"/>
                </a:solidFill>
              </a:rPr>
              <a:t>topic</a:t>
            </a:r>
            <a:r>
              <a:rPr lang="de-DE" dirty="0">
                <a:solidFill>
                  <a:schemeClr val="dk1"/>
                </a:solidFill>
              </a:rPr>
              <a:t>, </a:t>
            </a:r>
            <a:r>
              <a:rPr lang="de-DE" dirty="0" err="1">
                <a:solidFill>
                  <a:schemeClr val="dk1"/>
                </a:solidFill>
              </a:rPr>
              <a:t>which</a:t>
            </a:r>
            <a:r>
              <a:rPr lang="de-DE" dirty="0">
                <a:solidFill>
                  <a:schemeClr val="dk1"/>
                </a:solidFill>
              </a:rPr>
              <a:t> </a:t>
            </a:r>
            <a:r>
              <a:rPr lang="de-DE" dirty="0" err="1">
                <a:solidFill>
                  <a:schemeClr val="dk1"/>
                </a:solidFill>
              </a:rPr>
              <a:t>is</a:t>
            </a:r>
            <a:r>
              <a:rPr lang="de-DE" dirty="0">
                <a:solidFill>
                  <a:schemeClr val="dk1"/>
                </a:solidFill>
              </a:rPr>
              <a:t> </a:t>
            </a:r>
            <a:r>
              <a:rPr lang="de-DE" dirty="0" err="1">
                <a:solidFill>
                  <a:schemeClr val="dk1"/>
                </a:solidFill>
              </a:rPr>
              <a:t>especially</a:t>
            </a:r>
            <a:r>
              <a:rPr lang="de-DE" dirty="0">
                <a:solidFill>
                  <a:schemeClr val="dk1"/>
                </a:solidFill>
              </a:rPr>
              <a:t> </a:t>
            </a:r>
            <a:r>
              <a:rPr lang="de-DE" dirty="0" err="1">
                <a:solidFill>
                  <a:schemeClr val="dk1"/>
                </a:solidFill>
              </a:rPr>
              <a:t>valuable</a:t>
            </a:r>
            <a:r>
              <a:rPr lang="de-DE" dirty="0">
                <a:solidFill>
                  <a:schemeClr val="dk1"/>
                </a:solidFill>
              </a:rPr>
              <a:t> </a:t>
            </a:r>
            <a:r>
              <a:rPr lang="de-DE" dirty="0" err="1">
                <a:solidFill>
                  <a:schemeClr val="dk1"/>
                </a:solidFill>
              </a:rPr>
              <a:t>for</a:t>
            </a:r>
            <a:r>
              <a:rPr lang="de-DE" dirty="0">
                <a:solidFill>
                  <a:schemeClr val="dk1"/>
                </a:solidFill>
              </a:rPr>
              <a:t> </a:t>
            </a:r>
            <a:r>
              <a:rPr lang="de-DE" dirty="0" err="1">
                <a:solidFill>
                  <a:schemeClr val="dk1"/>
                </a:solidFill>
              </a:rPr>
              <a:t>researchers</a:t>
            </a:r>
            <a:r>
              <a:rPr lang="de-DE" dirty="0">
                <a:solidFill>
                  <a:schemeClr val="dk1"/>
                </a:solidFill>
              </a:rPr>
              <a:t>.</a:t>
            </a:r>
            <a:endParaRPr dirty="0">
              <a:solidFill>
                <a:schemeClr val="dk1"/>
              </a:solidFill>
            </a:endParaRPr>
          </a:p>
          <a:p>
            <a:pPr marL="0" marR="0" lvl="0" indent="0" algn="l" rtl="0">
              <a:spcBef>
                <a:spcPts val="1200"/>
              </a:spcBef>
              <a:spcAft>
                <a:spcPts val="0"/>
              </a:spcAft>
              <a:buNone/>
            </a:pPr>
            <a:endParaRPr dirty="0">
              <a:solidFill>
                <a:schemeClr val="dk1"/>
              </a:solidFill>
            </a:endParaRPr>
          </a:p>
          <a:p>
            <a:pPr marL="0" marR="0" lvl="0" indent="0" algn="l" rtl="0">
              <a:spcBef>
                <a:spcPts val="0"/>
              </a:spcBef>
              <a:spcAft>
                <a:spcPts val="0"/>
              </a:spcAft>
              <a:buNone/>
            </a:pPr>
            <a:r>
              <a:rPr lang="de-DE" dirty="0">
                <a:solidFill>
                  <a:schemeClr val="dk1"/>
                </a:solidFill>
              </a:rPr>
              <a:t>—and </a:t>
            </a:r>
            <a:r>
              <a:rPr lang="de-DE" dirty="0" err="1">
                <a:solidFill>
                  <a:schemeClr val="dk1"/>
                </a:solidFill>
              </a:rPr>
              <a:t>this</a:t>
            </a:r>
            <a:r>
              <a:rPr lang="de-DE" dirty="0">
                <a:solidFill>
                  <a:schemeClr val="dk1"/>
                </a:solidFill>
              </a:rPr>
              <a:t> </a:t>
            </a:r>
            <a:r>
              <a:rPr lang="de-DE" dirty="0" err="1">
                <a:solidFill>
                  <a:schemeClr val="dk1"/>
                </a:solidFill>
              </a:rPr>
              <a:t>leads</a:t>
            </a:r>
            <a:r>
              <a:rPr lang="de-DE" dirty="0">
                <a:solidFill>
                  <a:schemeClr val="dk1"/>
                </a:solidFill>
              </a:rPr>
              <a:t> </a:t>
            </a:r>
            <a:r>
              <a:rPr lang="de-DE" dirty="0" err="1">
                <a:solidFill>
                  <a:schemeClr val="dk1"/>
                </a:solidFill>
              </a:rPr>
              <a:t>me</a:t>
            </a:r>
            <a:r>
              <a:rPr lang="de-DE" dirty="0">
                <a:solidFill>
                  <a:schemeClr val="dk1"/>
                </a:solidFill>
              </a:rPr>
              <a:t> </a:t>
            </a:r>
            <a:r>
              <a:rPr lang="de-DE" dirty="0" err="1">
                <a:solidFill>
                  <a:schemeClr val="dk1"/>
                </a:solidFill>
              </a:rPr>
              <a:t>directly</a:t>
            </a:r>
            <a:r>
              <a:rPr lang="de-DE" dirty="0">
                <a:solidFill>
                  <a:schemeClr val="dk1"/>
                </a:solidFill>
              </a:rPr>
              <a:t> </a:t>
            </a:r>
            <a:r>
              <a:rPr lang="de-DE" dirty="0" err="1">
                <a:solidFill>
                  <a:schemeClr val="dk1"/>
                </a:solidFill>
              </a:rPr>
              <a:t>into</a:t>
            </a:r>
            <a:r>
              <a:rPr lang="de-DE" dirty="0">
                <a:solidFill>
                  <a:schemeClr val="dk1"/>
                </a:solidFill>
              </a:rPr>
              <a:t> </a:t>
            </a:r>
            <a:r>
              <a:rPr lang="de-DE" dirty="0" err="1">
                <a:solidFill>
                  <a:schemeClr val="dk1"/>
                </a:solidFill>
              </a:rPr>
              <a:t>our</a:t>
            </a:r>
            <a:r>
              <a:rPr lang="de-DE" dirty="0">
                <a:solidFill>
                  <a:schemeClr val="dk1"/>
                </a:solidFill>
              </a:rPr>
              <a:t> </a:t>
            </a:r>
            <a:r>
              <a:rPr lang="de-DE" dirty="0" err="1">
                <a:solidFill>
                  <a:schemeClr val="dk1"/>
                </a:solidFill>
              </a:rPr>
              <a:t>outlook</a:t>
            </a:r>
            <a:r>
              <a:rPr lang="de-DE" dirty="0">
                <a:solidFill>
                  <a:schemeClr val="dk1"/>
                </a:solidFill>
              </a:rPr>
              <a:t> on </a:t>
            </a:r>
            <a:r>
              <a:rPr lang="de-DE" dirty="0" err="1">
                <a:solidFill>
                  <a:schemeClr val="dk1"/>
                </a:solidFill>
              </a:rPr>
              <a:t>future</a:t>
            </a:r>
            <a:r>
              <a:rPr lang="de-DE" dirty="0">
                <a:solidFill>
                  <a:schemeClr val="dk1"/>
                </a:solidFill>
              </a:rPr>
              <a:t> </a:t>
            </a:r>
            <a:r>
              <a:rPr lang="de-DE" dirty="0" err="1">
                <a:solidFill>
                  <a:schemeClr val="dk1"/>
                </a:solidFill>
              </a:rPr>
              <a:t>development</a:t>
            </a:r>
            <a:r>
              <a:rPr lang="de-DE" dirty="0">
                <a:solidFill>
                  <a:schemeClr val="dk1"/>
                </a:solidFill>
              </a:rPr>
              <a:t>.</a:t>
            </a:r>
            <a:endParaRPr dirty="0">
              <a:solidFill>
                <a:schemeClr val="dk1"/>
              </a:solidFill>
            </a:endParaRPr>
          </a:p>
        </p:txBody>
      </p:sp>
      <p:sp>
        <p:nvSpPr>
          <p:cNvPr id="465" name="Google Shape;465;g3d27537c611_0_1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de-DE" sz="1800" b="0" i="0" u="none" strike="noStrike" cap="none">
                <a:solidFill>
                  <a:srgbClr val="000000"/>
                </a:solidFill>
                <a:latin typeface="Arial"/>
                <a:ea typeface="Arial"/>
                <a:cs typeface="Arial"/>
                <a:sym typeface="Arial"/>
              </a:rPr>
              <a:t>26</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9" name="Google Shape;479;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800"/>
              <a:buFont typeface="Arial"/>
              <a:buNone/>
              <a:tabLst/>
              <a:defRPr/>
            </a:pPr>
            <a:br>
              <a:rPr lang="de-DE" dirty="0">
                <a:solidFill>
                  <a:schemeClr val="dk1"/>
                </a:solidFill>
              </a:rPr>
            </a:br>
            <a:r>
              <a:rPr lang="de-DE" dirty="0">
                <a:solidFill>
                  <a:schemeClr val="dk1"/>
                </a:solidFill>
                <a:latin typeface="Arial"/>
                <a:ea typeface="Arial"/>
                <a:cs typeface="Arial"/>
                <a:sym typeface="Arial"/>
              </a:rPr>
              <a:t>First, </a:t>
            </a:r>
            <a:r>
              <a:rPr lang="de-DE" dirty="0" err="1">
                <a:solidFill>
                  <a:schemeClr val="dk1"/>
                </a:solidFill>
                <a:latin typeface="Arial"/>
                <a:ea typeface="Arial"/>
                <a:cs typeface="Arial"/>
                <a:sym typeface="Arial"/>
              </a:rPr>
              <a:t>with</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highest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priority</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expanding</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corpus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for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underrepresented</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topics</a:t>
            </a:r>
            <a:r>
              <a:rPr lang="de-DE" dirty="0">
                <a:solidFill>
                  <a:schemeClr val="dk1"/>
                </a:solidFill>
              </a:rPr>
              <a:t> </a:t>
            </a:r>
            <a:r>
              <a:rPr lang="de-DE" dirty="0" err="1">
                <a:solidFill>
                  <a:schemeClr val="dk1"/>
                </a:solidFill>
              </a:rPr>
              <a:t>is</a:t>
            </a:r>
            <a:r>
              <a:rPr lang="de-DE" dirty="0">
                <a:solidFill>
                  <a:schemeClr val="dk1"/>
                </a:solidFill>
              </a:rPr>
              <a:t> </a:t>
            </a:r>
            <a:r>
              <a:rPr lang="de-DE" dirty="0" err="1">
                <a:solidFill>
                  <a:schemeClr val="dk1"/>
                </a:solidFill>
              </a:rPr>
              <a:t>the</a:t>
            </a:r>
            <a:r>
              <a:rPr lang="de-DE" dirty="0">
                <a:solidFill>
                  <a:schemeClr val="dk1"/>
                </a:solidFill>
              </a:rPr>
              <a:t> </a:t>
            </a:r>
            <a:r>
              <a:rPr lang="de-DE" dirty="0" err="1">
                <a:solidFill>
                  <a:schemeClr val="dk1"/>
                </a:solidFill>
              </a:rPr>
              <a:t>most</a:t>
            </a:r>
            <a:r>
              <a:rPr lang="de-DE" dirty="0">
                <a:solidFill>
                  <a:schemeClr val="dk1"/>
                </a:solidFill>
              </a:rPr>
              <a:t> </a:t>
            </a:r>
            <a:r>
              <a:rPr lang="de-DE" dirty="0" err="1">
                <a:solidFill>
                  <a:schemeClr val="dk1"/>
                </a:solidFill>
              </a:rPr>
              <a:t>beneficial</a:t>
            </a:r>
            <a:r>
              <a:rPr lang="de-DE" dirty="0">
                <a:solidFill>
                  <a:schemeClr val="dk1"/>
                </a:solidFill>
              </a:rPr>
              <a:t> </a:t>
            </a:r>
            <a:r>
              <a:rPr lang="de-DE" dirty="0" err="1">
                <a:solidFill>
                  <a:schemeClr val="dk1"/>
                </a:solidFill>
              </a:rPr>
              <a:t>improvement</a:t>
            </a:r>
            <a:r>
              <a:rPr lang="de-DE" dirty="0">
                <a:solidFill>
                  <a:schemeClr val="dk1"/>
                </a:solidFill>
              </a:rPr>
              <a:t> </a:t>
            </a:r>
            <a:r>
              <a:rPr lang="de-DE" dirty="0" err="1">
                <a:solidFill>
                  <a:schemeClr val="dk1"/>
                </a:solidFill>
              </a:rPr>
              <a:t>since</a:t>
            </a:r>
            <a:r>
              <a:rPr lang="de-DE" dirty="0">
                <a:solidFill>
                  <a:schemeClr val="dk1"/>
                </a:solidFill>
              </a:rPr>
              <a:t> </a:t>
            </a:r>
            <a:r>
              <a:rPr lang="de-DE" dirty="0" err="1">
                <a:solidFill>
                  <a:schemeClr val="dk1"/>
                </a:solidFill>
              </a:rPr>
              <a:t>it</a:t>
            </a:r>
            <a:r>
              <a:rPr lang="de-DE" dirty="0">
                <a:solidFill>
                  <a:schemeClr val="dk1"/>
                </a:solidFill>
              </a:rPr>
              <a:t> </a:t>
            </a:r>
            <a:r>
              <a:rPr lang="en-US" dirty="0">
                <a:solidFill>
                  <a:schemeClr val="dk1"/>
                </a:solidFill>
                <a:latin typeface="Arial"/>
                <a:ea typeface="Arial"/>
                <a:cs typeface="Arial"/>
                <a:sym typeface="Arial"/>
              </a:rPr>
              <a:t>would directly improve the answers without any model changes.</a:t>
            </a:r>
          </a:p>
          <a:p>
            <a:pPr marL="0" marR="0" lvl="0" indent="0" algn="l" rtl="0">
              <a:spcBef>
                <a:spcPts val="0"/>
              </a:spcBef>
              <a:spcAft>
                <a:spcPts val="0"/>
              </a:spcAft>
              <a:buClr>
                <a:schemeClr val="dk1"/>
              </a:buClr>
              <a:buSzPts val="1800"/>
              <a:buFont typeface="Arial"/>
              <a:buNone/>
            </a:pPr>
            <a:endParaRPr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dirty="0">
              <a:solidFill>
                <a:schemeClr val="dk1"/>
              </a:solidFill>
            </a:endParaRPr>
          </a:p>
          <a:p>
            <a:pPr marL="0" marR="0" lvl="0" indent="0" algn="l" rtl="0">
              <a:lnSpc>
                <a:spcPct val="100000"/>
              </a:lnSpc>
              <a:spcBef>
                <a:spcPts val="0"/>
              </a:spcBef>
              <a:spcAft>
                <a:spcPts val="0"/>
              </a:spcAft>
              <a:buClr>
                <a:schemeClr val="dk1"/>
              </a:buClr>
              <a:buSzPts val="1800"/>
              <a:buFont typeface="Arial"/>
              <a:buNone/>
            </a:pPr>
            <a:r>
              <a:rPr lang="de-DE" dirty="0" err="1">
                <a:solidFill>
                  <a:schemeClr val="dk1"/>
                </a:solidFill>
                <a:latin typeface="Arial"/>
                <a:ea typeface="Arial"/>
                <a:cs typeface="Arial"/>
                <a:sym typeface="Arial"/>
              </a:rPr>
              <a:t>Secondly</a:t>
            </a:r>
            <a:r>
              <a:rPr lang="de-DE" dirty="0">
                <a:solidFill>
                  <a:schemeClr val="dk1"/>
                </a:solidFill>
                <a:latin typeface="Arial"/>
                <a:ea typeface="Arial"/>
                <a:cs typeface="Arial"/>
                <a:sym typeface="Arial"/>
              </a:rPr>
              <a:t>, human expert </a:t>
            </a:r>
            <a:r>
              <a:rPr lang="de-DE" dirty="0" err="1">
                <a:solidFill>
                  <a:schemeClr val="dk1"/>
                </a:solidFill>
                <a:latin typeface="Arial"/>
                <a:ea typeface="Arial"/>
                <a:cs typeface="Arial"/>
                <a:sym typeface="Arial"/>
              </a:rPr>
              <a:t>evaluation</a:t>
            </a:r>
            <a:r>
              <a:rPr lang="de-DE" dirty="0">
                <a:solidFill>
                  <a:schemeClr val="dk1"/>
                </a:solidFill>
                <a:latin typeface="Arial"/>
                <a:ea typeface="Arial"/>
                <a:cs typeface="Arial"/>
                <a:sym typeface="Arial"/>
              </a:rPr>
              <a:t>. </a:t>
            </a:r>
            <a:endParaRPr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de-DE" dirty="0">
                <a:solidFill>
                  <a:schemeClr val="dk1"/>
                </a:solidFill>
                <a:latin typeface="Arial"/>
                <a:ea typeface="Arial"/>
                <a:cs typeface="Arial"/>
                <a:sym typeface="Arial"/>
              </a:rPr>
              <a:t>The AI </a:t>
            </a:r>
            <a:r>
              <a:rPr lang="de-DE" dirty="0" err="1">
                <a:solidFill>
                  <a:schemeClr val="dk1"/>
                </a:solidFill>
                <a:latin typeface="Arial"/>
                <a:ea typeface="Arial"/>
                <a:cs typeface="Arial"/>
                <a:sym typeface="Arial"/>
              </a:rPr>
              <a:t>judges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are</a:t>
            </a:r>
            <a:r>
              <a:rPr lang="de-DE" dirty="0">
                <a:solidFill>
                  <a:schemeClr val="dk1"/>
                </a:solidFill>
                <a:latin typeface="Arial"/>
                <a:ea typeface="Arial"/>
                <a:cs typeface="Arial"/>
                <a:sym typeface="Arial"/>
              </a:rPr>
              <a:t> a </a:t>
            </a:r>
            <a:r>
              <a:rPr lang="de-DE" dirty="0" err="1">
                <a:solidFill>
                  <a:schemeClr val="dk1"/>
                </a:solidFill>
                <a:latin typeface="Arial"/>
                <a:ea typeface="Arial"/>
                <a:cs typeface="Arial"/>
                <a:sym typeface="Arial"/>
              </a:rPr>
              <a:t>useful</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proxy</a:t>
            </a:r>
            <a:r>
              <a:rPr lang="de-DE" dirty="0">
                <a:solidFill>
                  <a:schemeClr val="dk1"/>
                </a:solidFill>
                <a:latin typeface="Arial"/>
                <a:ea typeface="Arial"/>
                <a:cs typeface="Arial"/>
                <a:sym typeface="Arial"/>
              </a:rPr>
              <a:t>, but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real </a:t>
            </a:r>
            <a:r>
              <a:rPr lang="de-DE" dirty="0" err="1">
                <a:solidFill>
                  <a:schemeClr val="dk1"/>
                </a:solidFill>
                <a:latin typeface="Arial"/>
                <a:ea typeface="Arial"/>
                <a:cs typeface="Arial"/>
                <a:sym typeface="Arial"/>
              </a:rPr>
              <a:t>question</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whether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system's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answers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would</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actually</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influence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clinical</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decisions</a:t>
            </a:r>
            <a:r>
              <a:rPr lang="de-DE" dirty="0">
                <a:solidFill>
                  <a:schemeClr val="dk1"/>
                </a:solidFill>
                <a:latin typeface="Arial"/>
                <a:ea typeface="Arial"/>
                <a:cs typeface="Arial"/>
                <a:sym typeface="Arial"/>
              </a:rPr>
              <a:t> — and </a:t>
            </a:r>
            <a:r>
              <a:rPr lang="de-DE" dirty="0" err="1">
                <a:solidFill>
                  <a:schemeClr val="dk1"/>
                </a:solidFill>
                <a:latin typeface="Arial"/>
                <a:ea typeface="Arial"/>
                <a:cs typeface="Arial"/>
                <a:sym typeface="Arial"/>
              </a:rPr>
              <a:t>for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that</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we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need</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domain</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expertise</a:t>
            </a:r>
            <a:r>
              <a:rPr lang="de-DE" dirty="0">
                <a:solidFill>
                  <a:schemeClr val="dk1"/>
                </a:solidFill>
                <a:latin typeface="Arial"/>
                <a:ea typeface="Arial"/>
                <a:cs typeface="Arial"/>
                <a:sym typeface="Arial"/>
              </a:rPr>
              <a:t>.</a:t>
            </a:r>
            <a:endParaRPr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endParaRPr dirty="0">
              <a:solidFill>
                <a:schemeClr val="dk1"/>
              </a:solidFill>
            </a:endParaRPr>
          </a:p>
          <a:p>
            <a:pPr marL="0" marR="0" lvl="0" indent="0" algn="l" rtl="0">
              <a:spcBef>
                <a:spcPts val="0"/>
              </a:spcBef>
              <a:spcAft>
                <a:spcPts val="0"/>
              </a:spcAft>
              <a:buClr>
                <a:schemeClr val="dk1"/>
              </a:buClr>
              <a:buSzPts val="1200"/>
              <a:buFont typeface="Arial"/>
              <a:buNone/>
            </a:pPr>
            <a:r>
              <a:rPr lang="de-DE" dirty="0">
                <a:solidFill>
                  <a:schemeClr val="dk1"/>
                </a:solidFill>
                <a:latin typeface="Arial"/>
                <a:ea typeface="Arial"/>
                <a:cs typeface="Arial"/>
                <a:sym typeface="Arial"/>
              </a:rPr>
              <a:t>Third, </a:t>
            </a:r>
            <a:r>
              <a:rPr lang="de-DE" dirty="0" err="1">
                <a:solidFill>
                  <a:schemeClr val="dk1"/>
                </a:solidFill>
                <a:latin typeface="Arial"/>
                <a:ea typeface="Arial"/>
                <a:cs typeface="Arial"/>
                <a:sym typeface="Arial"/>
              </a:rPr>
              <a:t>our</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ideas</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for</a:t>
            </a:r>
            <a:r>
              <a:rPr lang="de-DE" dirty="0">
                <a:solidFill>
                  <a:schemeClr val="dk1"/>
                </a:solidFill>
                <a:latin typeface="Arial"/>
                <a:ea typeface="Arial"/>
                <a:cs typeface="Arial"/>
                <a:sym typeface="Arial"/>
              </a:rPr>
              <a:t> a </a:t>
            </a:r>
            <a:r>
              <a:rPr lang="de-DE" dirty="0" err="1">
                <a:solidFill>
                  <a:schemeClr val="dk1"/>
                </a:solidFill>
                <a:latin typeface="Arial"/>
                <a:ea typeface="Arial"/>
                <a:cs typeface="Arial"/>
                <a:sym typeface="Arial"/>
              </a:rPr>
              <a:t>future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use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of</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our</a:t>
            </a:r>
            <a:r>
              <a:rPr lang="de-DE" dirty="0">
                <a:solidFill>
                  <a:schemeClr val="dk1"/>
                </a:solidFill>
                <a:latin typeface="Arial"/>
                <a:ea typeface="Arial"/>
                <a:cs typeface="Arial"/>
                <a:sym typeface="Arial"/>
              </a:rPr>
              <a:t> assistant </a:t>
            </a:r>
            <a:r>
              <a:rPr lang="de-DE" dirty="0" err="1">
                <a:solidFill>
                  <a:schemeClr val="dk1"/>
                </a:solidFill>
                <a:latin typeface="Arial"/>
                <a:ea typeface="Arial"/>
                <a:cs typeface="Arial"/>
                <a:sym typeface="Arial"/>
              </a:rPr>
              <a:t>include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clinical</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decision</a:t>
            </a:r>
            <a:r>
              <a:rPr lang="de-DE" dirty="0">
                <a:solidFill>
                  <a:schemeClr val="dk1"/>
                </a:solidFill>
                <a:latin typeface="Arial"/>
                <a:ea typeface="Arial"/>
                <a:cs typeface="Arial"/>
                <a:sym typeface="Arial"/>
              </a:rPr>
              <a:t> support, </a:t>
            </a:r>
            <a:r>
              <a:rPr lang="de-DE" dirty="0" err="1">
                <a:solidFill>
                  <a:schemeClr val="dk1"/>
                </a:solidFill>
                <a:latin typeface="Arial"/>
                <a:ea typeface="Arial"/>
                <a:cs typeface="Arial"/>
                <a:sym typeface="Arial"/>
              </a:rPr>
              <a:t>literature</a:t>
            </a:r>
            <a:r>
              <a:rPr lang="de-DE" dirty="0">
                <a:solidFill>
                  <a:schemeClr val="dk1"/>
                </a:solidFill>
                <a:latin typeface="Arial"/>
                <a:ea typeface="Arial"/>
                <a:cs typeface="Arial"/>
                <a:sym typeface="Arial"/>
              </a:rPr>
              <a:t> </a:t>
            </a:r>
            <a:r>
              <a:rPr lang="de-DE" dirty="0" err="1">
                <a:solidFill>
                  <a:schemeClr val="dk1"/>
                </a:solidFill>
                <a:latin typeface="Arial"/>
                <a:ea typeface="Arial"/>
                <a:cs typeface="Arial"/>
                <a:sym typeface="Arial"/>
              </a:rPr>
              <a:t>reviews</a:t>
            </a:r>
            <a:r>
              <a:rPr lang="de-DE" dirty="0">
                <a:solidFill>
                  <a:schemeClr val="dk1"/>
                </a:solidFill>
                <a:latin typeface="Arial"/>
                <a:ea typeface="Arial"/>
                <a:cs typeface="Arial"/>
                <a:sym typeface="Arial"/>
              </a:rPr>
              <a:t> and so on.</a:t>
            </a:r>
            <a:endParaRPr dirty="0"/>
          </a:p>
        </p:txBody>
      </p:sp>
      <p:sp>
        <p:nvSpPr>
          <p:cNvPr id="480" name="Google Shape;480;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de-DE" sz="1800" b="0" i="0" u="none" strike="noStrike" cap="none">
                <a:solidFill>
                  <a:srgbClr val="000000"/>
                </a:solidFill>
                <a:latin typeface="Arial"/>
                <a:ea typeface="Arial"/>
                <a:cs typeface="Arial"/>
                <a:sym typeface="Arial"/>
              </a:rPr>
              <a:t>27</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d27537c611_0_7:notes"/>
          <p:cNvSpPr>
            <a:spLocks noGrp="1" noRot="1" noChangeAspect="1"/>
          </p:cNvSpPr>
          <p:nvPr>
            <p:ph type="sldImg" idx="2"/>
          </p:nvPr>
        </p:nvSpPr>
        <p:spPr>
          <a:xfrm>
            <a:off x="0" y="0"/>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 name="Google Shape;502;g3d27537c611_0_7:notes"/>
          <p:cNvSpPr txBox="1">
            <a:spLocks noGrp="1"/>
          </p:cNvSpPr>
          <p:nvPr>
            <p:ph type="body" idx="1"/>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spcBef>
                <a:spcPts val="0"/>
              </a:spcBef>
              <a:spcAft>
                <a:spcPts val="0"/>
              </a:spcAft>
              <a:buClr>
                <a:schemeClr val="dk1"/>
              </a:buClr>
              <a:buSzPts val="1800"/>
              <a:buFont typeface="Arial"/>
              <a:buNone/>
            </a:pPr>
            <a:r>
              <a:rPr lang="de-DE" sz="1800" dirty="0"/>
              <a:t>..</a:t>
            </a:r>
            <a:r>
              <a:rPr lang="de-DE" sz="1800" dirty="0" err="1"/>
              <a:t>with</a:t>
            </a:r>
            <a:r>
              <a:rPr lang="de-DE" sz="1800" dirty="0"/>
              <a:t> </a:t>
            </a:r>
            <a:r>
              <a:rPr lang="de-DE" sz="1800" dirty="0" err="1"/>
              <a:t>that</a:t>
            </a:r>
            <a:r>
              <a:rPr lang="de-DE" sz="1800" dirty="0"/>
              <a:t>, </a:t>
            </a:r>
            <a:r>
              <a:rPr lang="de-DE" sz="1800" dirty="0" err="1"/>
              <a:t>we</a:t>
            </a:r>
            <a:r>
              <a:rPr lang="de-DE" sz="1800" dirty="0"/>
              <a:t> </a:t>
            </a:r>
            <a:r>
              <a:rPr lang="de-DE" sz="1800" dirty="0" err="1"/>
              <a:t>would</a:t>
            </a:r>
            <a:r>
              <a:rPr lang="de-DE" sz="1800" dirty="0"/>
              <a:t> like </a:t>
            </a:r>
            <a:r>
              <a:rPr lang="de-DE" sz="1800" dirty="0" err="1"/>
              <a:t>to</a:t>
            </a:r>
            <a:r>
              <a:rPr lang="de-DE" sz="1800" dirty="0"/>
              <a:t> </a:t>
            </a:r>
            <a:r>
              <a:rPr lang="de-DE" sz="1800" dirty="0" err="1"/>
              <a:t>thank</a:t>
            </a:r>
            <a:r>
              <a:rPr lang="de-DE" sz="1800" dirty="0"/>
              <a:t> </a:t>
            </a:r>
            <a:r>
              <a:rPr lang="de-DE" sz="1800" dirty="0" err="1"/>
              <a:t>you</a:t>
            </a:r>
            <a:r>
              <a:rPr lang="de-DE" sz="1800" dirty="0"/>
              <a:t> </a:t>
            </a:r>
            <a:r>
              <a:rPr lang="de-DE" sz="1800" dirty="0" err="1"/>
              <a:t>for</a:t>
            </a:r>
            <a:r>
              <a:rPr lang="de-DE" sz="1800" dirty="0"/>
              <a:t> </a:t>
            </a:r>
            <a:r>
              <a:rPr lang="de-DE" sz="1800" dirty="0" err="1"/>
              <a:t>your</a:t>
            </a:r>
            <a:r>
              <a:rPr lang="de-DE" sz="1800" dirty="0"/>
              <a:t> </a:t>
            </a:r>
            <a:r>
              <a:rPr lang="de-DE" sz="1800" dirty="0" err="1"/>
              <a:t>attention</a:t>
            </a:r>
            <a:r>
              <a:rPr lang="de-DE" sz="1800" dirty="0"/>
              <a:t>, and </a:t>
            </a:r>
            <a:r>
              <a:rPr lang="de-DE" sz="1800" dirty="0" err="1"/>
              <a:t>we</a:t>
            </a:r>
            <a:r>
              <a:rPr lang="de-DE" sz="1800" dirty="0"/>
              <a:t> </a:t>
            </a:r>
            <a:r>
              <a:rPr lang="de-DE" sz="1800" dirty="0" err="1"/>
              <a:t>are</a:t>
            </a:r>
            <a:r>
              <a:rPr lang="de-DE" sz="1800" dirty="0"/>
              <a:t> happy </a:t>
            </a:r>
            <a:r>
              <a:rPr lang="de-DE" sz="1800" dirty="0" err="1"/>
              <a:t>to</a:t>
            </a:r>
            <a:r>
              <a:rPr lang="de-DE" sz="1800" dirty="0"/>
              <a:t> </a:t>
            </a:r>
            <a:r>
              <a:rPr lang="de-DE" sz="1800" dirty="0" err="1"/>
              <a:t>take</a:t>
            </a:r>
            <a:r>
              <a:rPr lang="de-DE" sz="1800" dirty="0"/>
              <a:t> </a:t>
            </a:r>
            <a:r>
              <a:rPr lang="de-DE" sz="1800" dirty="0" err="1"/>
              <a:t>your</a:t>
            </a:r>
            <a:r>
              <a:rPr lang="de-DE" sz="1800" dirty="0"/>
              <a:t> </a:t>
            </a:r>
            <a:r>
              <a:rPr lang="de-DE" sz="1800" dirty="0" err="1"/>
              <a:t>questions</a:t>
            </a:r>
            <a:r>
              <a:rPr lang="de-DE" sz="1800" dirty="0"/>
              <a:t>…</a:t>
            </a:r>
            <a:endParaRPr sz="1800" b="0" i="0" u="none" strike="noStrike" cap="none" dirty="0">
              <a:solidFill>
                <a:srgbClr val="000000"/>
              </a:solidFill>
              <a:latin typeface="Arial"/>
              <a:ea typeface="Arial"/>
              <a:cs typeface="Arial"/>
              <a:sym typeface="Arial"/>
            </a:endParaRPr>
          </a:p>
        </p:txBody>
      </p:sp>
      <p:sp>
        <p:nvSpPr>
          <p:cNvPr id="503" name="Google Shape;503;g3d27537c611_0_7:notes"/>
          <p:cNvSpPr txBox="1">
            <a:spLocks noGrp="1"/>
          </p:cNvSpPr>
          <p:nvPr>
            <p:ph type="sldNum" idx="12"/>
          </p:nvPr>
        </p:nvSpPr>
        <p:spPr>
          <a:xfrm>
            <a:off x="0" y="0"/>
            <a:ext cx="0" cy="0"/>
          </a:xfrm>
          <a:prstGeom prst="rect">
            <a:avLst/>
          </a:prstGeom>
          <a:noFill/>
          <a:ln>
            <a:noFill/>
          </a:ln>
        </p:spPr>
        <p:txBody>
          <a:bodyPr spcFirstLastPara="1" wrap="square" lIns="90000" tIns="0" rIns="90000" bIns="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de-DE" sz="1800" b="0" i="0" u="none" strike="noStrike" cap="none">
                <a:solidFill>
                  <a:srgbClr val="000000"/>
                </a:solidFill>
                <a:latin typeface="Arial"/>
                <a:ea typeface="Arial"/>
                <a:cs typeface="Arial"/>
                <a:sym typeface="Arial"/>
              </a:rPr>
              <a:t>28</a:t>
            </a:fld>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type="blank">
  <p:cSld name="BLANK">
    <p:spTree>
      <p:nvGrpSpPr>
        <p:cNvPr id="1"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type="blank">
  <p:cSld name="BLANK">
    <p:spTree>
      <p:nvGrpSpPr>
        <p:cNvPr id="1"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7"/>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7"/>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320040" algn="l" rtl="0">
              <a:lnSpc>
                <a:spcPct val="90000"/>
              </a:lnSpc>
              <a:spcBef>
                <a:spcPts val="1417"/>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134"/>
              </a:spcBef>
              <a:spcAft>
                <a:spcPts val="0"/>
              </a:spcAft>
              <a:buClr>
                <a:srgbClr val="00000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285750" algn="l" rtl="0">
              <a:lnSpc>
                <a:spcPct val="90000"/>
              </a:lnSpc>
              <a:spcBef>
                <a:spcPts val="850"/>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567"/>
              </a:spcBef>
              <a:spcAft>
                <a:spcPts val="0"/>
              </a:spcAft>
              <a:buClr>
                <a:srgbClr val="000000"/>
              </a:buClr>
              <a:buSzPts val="1500"/>
              <a:buFont typeface="Noto Sans Symbols"/>
              <a:buChar char="−"/>
              <a:defRPr sz="2000" b="0" i="0" u="none" strike="noStrike" cap="none">
                <a:solidFill>
                  <a:schemeClr val="dk1"/>
                </a:solidFill>
                <a:latin typeface="Calibri"/>
                <a:ea typeface="Calibri"/>
                <a:cs typeface="Calibri"/>
                <a:sym typeface="Calibri"/>
              </a:defRPr>
            </a:lvl4pPr>
            <a:lvl5pPr marL="2286000" marR="0" lvl="4" indent="-285750" algn="l" rtl="0">
              <a:lnSpc>
                <a:spcPct val="90000"/>
              </a:lnSpc>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5pPr>
            <a:lvl6pPr marL="2743200" marR="0" lvl="5" indent="-285750" algn="l" rtl="0">
              <a:lnSpc>
                <a:spcPct val="90000"/>
              </a:lnSpc>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6pPr>
            <a:lvl7pPr marL="3200400" marR="0" lvl="6" indent="-285750" algn="l" rtl="0">
              <a:lnSpc>
                <a:spcPct val="90000"/>
              </a:lnSpc>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g3d2a2c2e009_3_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3" name="Google Shape;13;g3d2a2c2e009_3_0"/>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320040" algn="l" rtl="0">
              <a:spcBef>
                <a:spcPts val="1417"/>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1pPr>
            <a:lvl2pPr marL="914400" marR="0" lvl="1" indent="-342900" algn="l" rtl="0">
              <a:spcBef>
                <a:spcPts val="1134"/>
              </a:spcBef>
              <a:spcAft>
                <a:spcPts val="0"/>
              </a:spcAft>
              <a:buClr>
                <a:srgbClr val="000000"/>
              </a:buClr>
              <a:buSzPts val="1800"/>
              <a:buFont typeface="Noto Sans Symbols"/>
              <a:buChar char="−"/>
              <a:defRPr sz="2400" b="0" i="0" u="none" strike="noStrike" cap="none">
                <a:solidFill>
                  <a:schemeClr val="dk1"/>
                </a:solidFill>
                <a:latin typeface="Calibri"/>
                <a:ea typeface="Calibri"/>
                <a:cs typeface="Calibri"/>
                <a:sym typeface="Calibri"/>
              </a:defRPr>
            </a:lvl2pPr>
            <a:lvl3pPr marL="1371600" marR="0" lvl="2" indent="-285750" algn="l" rtl="0">
              <a:spcBef>
                <a:spcPts val="850"/>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23850" algn="l" rtl="0">
              <a:spcBef>
                <a:spcPts val="567"/>
              </a:spcBef>
              <a:spcAft>
                <a:spcPts val="0"/>
              </a:spcAft>
              <a:buClr>
                <a:srgbClr val="000000"/>
              </a:buClr>
              <a:buSzPts val="1500"/>
              <a:buFont typeface="Noto Sans Symbols"/>
              <a:buChar char="−"/>
              <a:defRPr sz="2000" b="0" i="0" u="none" strike="noStrike" cap="none">
                <a:solidFill>
                  <a:schemeClr val="dk1"/>
                </a:solidFill>
                <a:latin typeface="Calibri"/>
                <a:ea typeface="Calibri"/>
                <a:cs typeface="Calibri"/>
                <a:sym typeface="Calibri"/>
              </a:defRPr>
            </a:lvl4pPr>
            <a:lvl5pPr marL="2286000" marR="0" lvl="4" indent="-285750" algn="l" rtl="0">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5pPr>
            <a:lvl6pPr marL="2743200" marR="0" lvl="5" indent="-285750" algn="l" rtl="0">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6pPr>
            <a:lvl7pPr marL="3200400" marR="0" lvl="6" indent="-285750" algn="l" rtl="0">
              <a:spcBef>
                <a:spcPts val="283"/>
              </a:spcBef>
              <a:spcAft>
                <a:spcPts val="0"/>
              </a:spcAft>
              <a:buClr>
                <a:srgbClr val="000000"/>
              </a:buClr>
              <a:buSzPts val="900"/>
              <a:buFont typeface="Noto Sans Symbols"/>
              <a:buChar char="●"/>
              <a:defRPr sz="20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g3d2b26f9c3f_2_0"/>
          <p:cNvSpPr txBox="1">
            <a:spLocks noGrp="1"/>
          </p:cNvSpPr>
          <p:nvPr>
            <p:ph type="title"/>
          </p:nvPr>
        </p:nvSpPr>
        <p:spPr>
          <a:xfrm>
            <a:off x="457200" y="205200"/>
            <a:ext cx="8229240" cy="858600"/>
          </a:xfrm>
          <a:prstGeom prst="rect">
            <a:avLst/>
          </a:prstGeom>
          <a:noFill/>
          <a:ln>
            <a:noFill/>
          </a:ln>
        </p:spPr>
        <p:txBody>
          <a:bodyPr spcFirstLastPara="1" wrap="square" lIns="0" tIns="0" rIns="0" bIns="0" anchor="ctr" anchorCtr="0">
            <a:noAutofit/>
          </a:bodyPr>
          <a:lstStyle>
            <a:lvl1pPr marR="0" lvl="0" algn="ctr" rtl="0">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7" name="Google Shape;17;g3d2b26f9c3f_2_0"/>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320040" algn="l" rtl="0">
              <a:spcBef>
                <a:spcPts val="1417"/>
              </a:spcBef>
              <a:spcAft>
                <a:spcPts val="0"/>
              </a:spcAft>
              <a:buClr>
                <a:srgbClr val="000000"/>
              </a:buClr>
              <a:buSzPts val="1440"/>
              <a:buFont typeface="Noto Sans Symbols"/>
              <a:buChar char="●"/>
              <a:defRPr sz="3200" b="0" i="0" u="none" strike="noStrike" cap="none">
                <a:solidFill>
                  <a:srgbClr val="000000"/>
                </a:solidFill>
                <a:latin typeface="Arial"/>
                <a:ea typeface="Arial"/>
                <a:cs typeface="Arial"/>
                <a:sym typeface="Arial"/>
              </a:defRPr>
            </a:lvl1pPr>
            <a:lvl2pPr marL="914400" marR="0" lvl="1" indent="-361950" algn="l" rtl="0">
              <a:spcBef>
                <a:spcPts val="1134"/>
              </a:spcBef>
              <a:spcAft>
                <a:spcPts val="0"/>
              </a:spcAft>
              <a:buClr>
                <a:srgbClr val="000000"/>
              </a:buClr>
              <a:buSzPts val="2100"/>
              <a:buFont typeface="Noto Sans Symbols"/>
              <a:buChar char="−"/>
              <a:defRPr sz="2800" b="0" i="0" u="none" strike="noStrike" cap="none">
                <a:solidFill>
                  <a:srgbClr val="000000"/>
                </a:solidFill>
                <a:latin typeface="Arial"/>
                <a:ea typeface="Arial"/>
                <a:cs typeface="Arial"/>
                <a:sym typeface="Arial"/>
              </a:defRPr>
            </a:lvl2pPr>
            <a:lvl3pPr marL="1371600" marR="0" lvl="2" indent="-297180" algn="l" rtl="0">
              <a:spcBef>
                <a:spcPts val="850"/>
              </a:spcBef>
              <a:spcAft>
                <a:spcPts val="0"/>
              </a:spcAft>
              <a:buClr>
                <a:srgbClr val="000000"/>
              </a:buClr>
              <a:buSzPts val="1080"/>
              <a:buFont typeface="Noto Sans Symbols"/>
              <a:buChar char="●"/>
              <a:defRPr sz="2400" b="0" i="0" u="none" strike="noStrike" cap="none">
                <a:solidFill>
                  <a:srgbClr val="000000"/>
                </a:solidFill>
                <a:latin typeface="Arial"/>
                <a:ea typeface="Arial"/>
                <a:cs typeface="Arial"/>
                <a:sym typeface="Arial"/>
              </a:defRPr>
            </a:lvl3pPr>
            <a:lvl4pPr marL="1828800" marR="0" lvl="3" indent="-323850" algn="l" rtl="0">
              <a:spcBef>
                <a:spcPts val="567"/>
              </a:spcBef>
              <a:spcAft>
                <a:spcPts val="0"/>
              </a:spcAft>
              <a:buClr>
                <a:srgbClr val="000000"/>
              </a:buClr>
              <a:buSzPts val="1500"/>
              <a:buFont typeface="Noto Sans Symbols"/>
              <a:buChar char="−"/>
              <a:defRPr sz="2000" b="0" i="0" u="none" strike="noStrike" cap="none">
                <a:solidFill>
                  <a:srgbClr val="000000"/>
                </a:solidFill>
                <a:latin typeface="Arial"/>
                <a:ea typeface="Arial"/>
                <a:cs typeface="Arial"/>
                <a:sym typeface="Arial"/>
              </a:defRPr>
            </a:lvl4pPr>
            <a:lvl5pPr marL="2286000" marR="0" lvl="4" indent="-285750" algn="l" rtl="0">
              <a:spcBef>
                <a:spcPts val="283"/>
              </a:spcBef>
              <a:spcAft>
                <a:spcPts val="0"/>
              </a:spcAft>
              <a:buClr>
                <a:srgbClr val="000000"/>
              </a:buClr>
              <a:buSzPts val="900"/>
              <a:buFont typeface="Noto Sans Symbols"/>
              <a:buChar char="●"/>
              <a:defRPr sz="2000" b="0" i="0" u="none" strike="noStrike" cap="none">
                <a:solidFill>
                  <a:srgbClr val="000000"/>
                </a:solidFill>
                <a:latin typeface="Arial"/>
                <a:ea typeface="Arial"/>
                <a:cs typeface="Arial"/>
                <a:sym typeface="Arial"/>
              </a:defRPr>
            </a:lvl5pPr>
            <a:lvl6pPr marL="2743200" marR="0" lvl="5" indent="-285750" algn="l" rtl="0">
              <a:spcBef>
                <a:spcPts val="283"/>
              </a:spcBef>
              <a:spcAft>
                <a:spcPts val="0"/>
              </a:spcAft>
              <a:buClr>
                <a:srgbClr val="000000"/>
              </a:buClr>
              <a:buSzPts val="900"/>
              <a:buFont typeface="Noto Sans Symbols"/>
              <a:buChar char="●"/>
              <a:defRPr sz="2000" b="0" i="0" u="none" strike="noStrike" cap="none">
                <a:solidFill>
                  <a:srgbClr val="000000"/>
                </a:solidFill>
                <a:latin typeface="Arial"/>
                <a:ea typeface="Arial"/>
                <a:cs typeface="Arial"/>
                <a:sym typeface="Arial"/>
              </a:defRPr>
            </a:lvl6pPr>
            <a:lvl7pPr marL="3200400" marR="0" lvl="6" indent="-285750" algn="l" rtl="0">
              <a:spcBef>
                <a:spcPts val="283"/>
              </a:spcBef>
              <a:spcAft>
                <a:spcPts val="0"/>
              </a:spcAft>
              <a:buClr>
                <a:srgbClr val="000000"/>
              </a:buClr>
              <a:buSzPts val="900"/>
              <a:buFont typeface="Noto Sans Symbols"/>
              <a:buChar char="●"/>
              <a:defRPr sz="2000" b="0" i="0" u="none" strike="noStrike" cap="none">
                <a:solidFill>
                  <a:srgbClr val="000000"/>
                </a:solidFill>
                <a:latin typeface="Arial"/>
                <a:ea typeface="Arial"/>
                <a:cs typeface="Arial"/>
                <a:sym typeface="Arial"/>
              </a:defRPr>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23"/>
        <p:cNvGrpSpPr/>
        <p:nvPr/>
      </p:nvGrpSpPr>
      <p:grpSpPr>
        <a:xfrm>
          <a:off x="0" y="0"/>
          <a:ext cx="0" cy="0"/>
          <a:chOff x="0" y="0"/>
          <a:chExt cx="0" cy="0"/>
        </a:xfrm>
      </p:grpSpPr>
      <p:sp>
        <p:nvSpPr>
          <p:cNvPr id="24" name="Google Shape;24;g3d2b26f9c3f_2_4"/>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050" b="0" i="0" u="none" strike="noStrike" cap="none" dirty="0">
                <a:solidFill>
                  <a:srgbClr val="12B39A"/>
                </a:solidFill>
                <a:latin typeface="Courier New"/>
                <a:ea typeface="Courier New"/>
                <a:cs typeface="Courier New"/>
                <a:sym typeface="Courier New"/>
              </a:rPr>
              <a:t>NEUE FISCHE · CAPSTONE I · 2025/26</a:t>
            </a:r>
            <a:endParaRPr sz="1050" b="0" i="0" u="none" strike="noStrike" cap="none" dirty="0">
              <a:solidFill>
                <a:srgbClr val="FFFFFF"/>
              </a:solidFill>
              <a:latin typeface="Arial"/>
              <a:ea typeface="Arial"/>
              <a:cs typeface="Arial"/>
              <a:sym typeface="Arial"/>
            </a:endParaRPr>
          </a:p>
        </p:txBody>
      </p:sp>
      <p:sp>
        <p:nvSpPr>
          <p:cNvPr id="25" name="Google Shape;25;g3d2b26f9c3f_2_4"/>
          <p:cNvSpPr/>
          <p:nvPr/>
        </p:nvSpPr>
        <p:spPr>
          <a:xfrm>
            <a:off x="502920" y="1189080"/>
            <a:ext cx="7954560" cy="20106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4400" b="1" i="0" u="none" strike="noStrike" cap="none">
                <a:solidFill>
                  <a:srgbClr val="FFFFFF"/>
                </a:solidFill>
                <a:latin typeface="Georgia"/>
                <a:ea typeface="Georgia"/>
                <a:cs typeface="Georgia"/>
                <a:sym typeface="Georgia"/>
              </a:rPr>
              <a:t>RAG The Research</a:t>
            </a:r>
            <a:endParaRPr sz="4400" b="0" i="0" u="none" strike="noStrike" cap="none">
              <a:solidFill>
                <a:srgbClr val="FFFFFF"/>
              </a:solidFill>
              <a:latin typeface="Arial"/>
              <a:ea typeface="Arial"/>
              <a:cs typeface="Arial"/>
              <a:sym typeface="Arial"/>
            </a:endParaRPr>
          </a:p>
          <a:p>
            <a:pPr marL="0" marR="0" lvl="0" indent="0" algn="l" rtl="0">
              <a:lnSpc>
                <a:spcPct val="110000"/>
              </a:lnSpc>
              <a:spcBef>
                <a:spcPts val="0"/>
              </a:spcBef>
              <a:spcAft>
                <a:spcPts val="0"/>
              </a:spcAft>
              <a:buNone/>
            </a:pPr>
            <a:r>
              <a:rPr lang="de-DE" sz="2200" b="1" i="1" u="none" strike="noStrike" cap="none">
                <a:solidFill>
                  <a:srgbClr val="12B39A"/>
                </a:solidFill>
                <a:latin typeface="Georgia"/>
                <a:ea typeface="Georgia"/>
                <a:cs typeface="Georgia"/>
                <a:sym typeface="Georgia"/>
              </a:rPr>
              <a:t>                             With a knowledge based AI Assistant  </a:t>
            </a:r>
            <a:endParaRPr sz="2200" b="0" i="0" u="none" strike="noStrike" cap="none">
              <a:solidFill>
                <a:srgbClr val="FFFFFF"/>
              </a:solidFill>
              <a:latin typeface="Arial"/>
              <a:ea typeface="Arial"/>
              <a:cs typeface="Arial"/>
              <a:sym typeface="Arial"/>
            </a:endParaRPr>
          </a:p>
        </p:txBody>
      </p:sp>
      <p:sp>
        <p:nvSpPr>
          <p:cNvPr id="26" name="Google Shape;26;g3d2b26f9c3f_2_4"/>
          <p:cNvSpPr/>
          <p:nvPr/>
        </p:nvSpPr>
        <p:spPr>
          <a:xfrm>
            <a:off x="3721680" y="2726640"/>
            <a:ext cx="4735800" cy="36468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27" name="Google Shape;27;g3d2b26f9c3f_2_4"/>
          <p:cNvSpPr/>
          <p:nvPr/>
        </p:nvSpPr>
        <p:spPr>
          <a:xfrm>
            <a:off x="6749280" y="4485600"/>
            <a:ext cx="639000" cy="254880"/>
          </a:xfrm>
          <a:prstGeom prst="roundRect">
            <a:avLst>
              <a:gd name="adj" fmla="val 50000"/>
            </a:avLst>
          </a:prstGeom>
          <a:solidFill>
            <a:srgbClr val="0D2137">
              <a:alpha val="60000"/>
            </a:srgbClr>
          </a:solidFill>
          <a:ln w="9525" cap="flat" cmpd="sng">
            <a:solidFill>
              <a:srgbClr val="FFFFFF">
                <a:alpha val="25098"/>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28" name="Google Shape;28;g3d2b26f9c3f_2_4"/>
          <p:cNvSpPr/>
          <p:nvPr/>
        </p:nvSpPr>
        <p:spPr>
          <a:xfrm>
            <a:off x="6749280" y="4485600"/>
            <a:ext cx="639000" cy="2548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de-DE" sz="1000" b="0" u="none" strike="noStrike">
                <a:solidFill>
                  <a:srgbClr val="DDDDDD"/>
                </a:solidFill>
                <a:latin typeface="Courier New"/>
                <a:ea typeface="Courier New"/>
                <a:cs typeface="Courier New"/>
                <a:sym typeface="Courier New"/>
              </a:rPr>
              <a:t>Thomas</a:t>
            </a:r>
            <a:endParaRPr sz="1000" b="0" u="none" strike="noStrike">
              <a:solidFill>
                <a:srgbClr val="FFFFFF"/>
              </a:solidFill>
              <a:latin typeface="Arial"/>
              <a:ea typeface="Arial"/>
              <a:cs typeface="Arial"/>
              <a:sym typeface="Arial"/>
            </a:endParaRPr>
          </a:p>
        </p:txBody>
      </p:sp>
      <p:sp>
        <p:nvSpPr>
          <p:cNvPr id="29" name="Google Shape;29;g3d2b26f9c3f_2_4"/>
          <p:cNvSpPr/>
          <p:nvPr/>
        </p:nvSpPr>
        <p:spPr>
          <a:xfrm>
            <a:off x="7499160" y="4485600"/>
            <a:ext cx="639000" cy="254880"/>
          </a:xfrm>
          <a:prstGeom prst="roundRect">
            <a:avLst>
              <a:gd name="adj" fmla="val 50000"/>
            </a:avLst>
          </a:prstGeom>
          <a:solidFill>
            <a:srgbClr val="0D2137">
              <a:alpha val="60000"/>
            </a:srgbClr>
          </a:solidFill>
          <a:ln w="9525" cap="flat" cmpd="sng">
            <a:solidFill>
              <a:srgbClr val="FFFFFF">
                <a:alpha val="25098"/>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30" name="Google Shape;30;g3d2b26f9c3f_2_4"/>
          <p:cNvSpPr/>
          <p:nvPr/>
        </p:nvSpPr>
        <p:spPr>
          <a:xfrm>
            <a:off x="7499160" y="4485600"/>
            <a:ext cx="639000" cy="2548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de-DE" sz="1000" b="0" u="none" strike="noStrike">
                <a:solidFill>
                  <a:srgbClr val="DDDDDD"/>
                </a:solidFill>
                <a:latin typeface="Courier New"/>
                <a:ea typeface="Courier New"/>
                <a:cs typeface="Courier New"/>
                <a:sym typeface="Courier New"/>
              </a:rPr>
              <a:t>Viktor</a:t>
            </a:r>
            <a:endParaRPr sz="1000" b="0" u="none" strike="noStrike">
              <a:solidFill>
                <a:srgbClr val="FFFFFF"/>
              </a:solidFill>
              <a:latin typeface="Arial"/>
              <a:ea typeface="Arial"/>
              <a:cs typeface="Arial"/>
              <a:sym typeface="Arial"/>
            </a:endParaRPr>
          </a:p>
        </p:txBody>
      </p:sp>
      <p:sp>
        <p:nvSpPr>
          <p:cNvPr id="31" name="Google Shape;31;g3d2b26f9c3f_2_4"/>
          <p:cNvSpPr/>
          <p:nvPr/>
        </p:nvSpPr>
        <p:spPr>
          <a:xfrm>
            <a:off x="8249040" y="4485600"/>
            <a:ext cx="639000" cy="254880"/>
          </a:xfrm>
          <a:prstGeom prst="roundRect">
            <a:avLst>
              <a:gd name="adj" fmla="val 50000"/>
            </a:avLst>
          </a:prstGeom>
          <a:solidFill>
            <a:srgbClr val="0D2137">
              <a:alpha val="60000"/>
            </a:srgbClr>
          </a:solidFill>
          <a:ln w="9525" cap="flat" cmpd="sng">
            <a:solidFill>
              <a:srgbClr val="FFFFFF">
                <a:alpha val="25098"/>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32" name="Google Shape;32;g3d2b26f9c3f_2_4"/>
          <p:cNvSpPr/>
          <p:nvPr/>
        </p:nvSpPr>
        <p:spPr>
          <a:xfrm>
            <a:off x="8249040" y="4485600"/>
            <a:ext cx="639000" cy="2548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de-DE" sz="1000" b="0" u="none" strike="noStrike">
                <a:solidFill>
                  <a:srgbClr val="DDDDDD"/>
                </a:solidFill>
                <a:latin typeface="Courier New"/>
                <a:ea typeface="Courier New"/>
                <a:cs typeface="Courier New"/>
                <a:sym typeface="Courier New"/>
              </a:rPr>
              <a:t>Markus</a:t>
            </a:r>
            <a:endParaRPr sz="1000" b="0" u="none" strike="noStrike">
              <a:solidFill>
                <a:srgbClr val="FFFFFF"/>
              </a:solidFill>
              <a:latin typeface="Arial"/>
              <a:ea typeface="Arial"/>
              <a:cs typeface="Arial"/>
              <a:sym typeface="Arial"/>
            </a:endParaRPr>
          </a:p>
        </p:txBody>
      </p:sp>
      <p:sp>
        <p:nvSpPr>
          <p:cNvPr id="4" name="Textfeld 3">
            <a:extLst>
              <a:ext uri="{FF2B5EF4-FFF2-40B4-BE49-F238E27FC236}">
                <a16:creationId xmlns:a16="http://schemas.microsoft.com/office/drawing/2014/main" id="{3C9C4885-C8D9-FAE3-C1D3-8FF2AF19B84F}"/>
              </a:ext>
            </a:extLst>
          </p:cNvPr>
          <p:cNvSpPr txBox="1"/>
          <p:nvPr/>
        </p:nvSpPr>
        <p:spPr>
          <a:xfrm>
            <a:off x="502919" y="1464858"/>
            <a:ext cx="1361739" cy="256366"/>
          </a:xfrm>
          <a:prstGeom prst="rect">
            <a:avLst/>
          </a:prstGeom>
          <a:noFill/>
          <a:ln>
            <a:noFill/>
          </a:ln>
        </p:spPr>
        <p:txBody>
          <a:bodyPr spcFirstLastPara="1" wrap="square" lIns="90000" tIns="45000" rIns="90000" bIns="45000" anchor="ctr" anchorCtr="0">
            <a:noAutofit/>
          </a:bodyPr>
          <a:lstStyle>
            <a:defPPr marR="0" lvl="0" algn="l" rtl="0">
              <a:lnSpc>
                <a:spcPct val="100000"/>
              </a:lnSpc>
              <a:spcBef>
                <a:spcPts val="0"/>
              </a:spcBef>
              <a:spcAft>
                <a:spcPts val="0"/>
              </a:spcAft>
            </a:defPPr>
            <a:lvl1pPr marL="0" indent="0">
              <a:buNone/>
              <a:defRPr sz="1050">
                <a:solidFill>
                  <a:srgbClr val="12B39A"/>
                </a:solidFill>
                <a:latin typeface="Courier New"/>
                <a:ea typeface="Courier New"/>
                <a:cs typeface="Courier New"/>
              </a:defRPr>
            </a:lvl1pPr>
          </a:lstStyle>
          <a:p>
            <a:r>
              <a:rPr lang="de-DE" sz="1400" dirty="0" err="1">
                <a:latin typeface="Georgia" panose="02040502050405020303" pitchFamily="18" charset="0"/>
              </a:rPr>
              <a:t>PaperForge</a:t>
            </a:r>
            <a:endParaRPr lang="de-DE" sz="1100" dirty="0">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37"/>
        <p:cNvGrpSpPr/>
        <p:nvPr/>
      </p:nvGrpSpPr>
      <p:grpSpPr>
        <a:xfrm>
          <a:off x="0" y="0"/>
          <a:ext cx="0" cy="0"/>
          <a:chOff x="0" y="0"/>
          <a:chExt cx="0" cy="0"/>
        </a:xfrm>
      </p:grpSpPr>
      <p:sp>
        <p:nvSpPr>
          <p:cNvPr id="38" name="Google Shape;38;g3d2b26f9c3f_2_18"/>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BRAVE NEW AI</a:t>
            </a:r>
            <a:endParaRPr sz="1100" b="0" u="none" strike="noStrike">
              <a:solidFill>
                <a:srgbClr val="000000"/>
              </a:solidFill>
              <a:latin typeface="Arial"/>
              <a:ea typeface="Arial"/>
              <a:cs typeface="Arial"/>
              <a:sym typeface="Arial"/>
            </a:endParaRPr>
          </a:p>
        </p:txBody>
      </p:sp>
      <p:sp>
        <p:nvSpPr>
          <p:cNvPr id="39" name="Google Shape;39;g3d2b26f9c3f_2_18"/>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pic>
        <p:nvPicPr>
          <p:cNvPr id="40" name="Google Shape;40;g3d2b26f9c3f_2_18"/>
          <p:cNvPicPr preferRelativeResize="0"/>
          <p:nvPr/>
        </p:nvPicPr>
        <p:blipFill rotWithShape="1">
          <a:blip r:embed="rId3">
            <a:alphaModFix/>
          </a:blip>
          <a:srcRect/>
          <a:stretch/>
        </p:blipFill>
        <p:spPr>
          <a:xfrm>
            <a:off x="951120" y="685800"/>
            <a:ext cx="7506360" cy="4205520"/>
          </a:xfrm>
          <a:prstGeom prst="rect">
            <a:avLst/>
          </a:prstGeom>
          <a:noFill/>
          <a:ln>
            <a:noFill/>
          </a:ln>
        </p:spPr>
      </p:pic>
      <p:pic>
        <p:nvPicPr>
          <p:cNvPr id="41" name="Google Shape;41;g3d2b26f9c3f_2_18"/>
          <p:cNvPicPr preferRelativeResize="0"/>
          <p:nvPr/>
        </p:nvPicPr>
        <p:blipFill rotWithShape="1">
          <a:blip r:embed="rId4">
            <a:alphaModFix/>
          </a:blip>
          <a:srcRect/>
          <a:stretch/>
        </p:blipFill>
        <p:spPr>
          <a:xfrm>
            <a:off x="2843640" y="1261800"/>
            <a:ext cx="3327840" cy="23950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46"/>
        <p:cNvGrpSpPr/>
        <p:nvPr/>
      </p:nvGrpSpPr>
      <p:grpSpPr>
        <a:xfrm>
          <a:off x="0" y="0"/>
          <a:ext cx="0" cy="0"/>
          <a:chOff x="0" y="0"/>
          <a:chExt cx="0" cy="0"/>
        </a:xfrm>
      </p:grpSpPr>
      <p:sp>
        <p:nvSpPr>
          <p:cNvPr id="47" name="Google Shape;47;g3d2b26f9c3f_2_26"/>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WHEN YOU ASK AN LLM</a:t>
            </a:r>
            <a:endParaRPr sz="1100" b="0" u="none" strike="noStrike">
              <a:solidFill>
                <a:srgbClr val="000000"/>
              </a:solidFill>
              <a:latin typeface="Arial"/>
              <a:ea typeface="Arial"/>
              <a:cs typeface="Arial"/>
              <a:sym typeface="Arial"/>
            </a:endParaRPr>
          </a:p>
        </p:txBody>
      </p:sp>
      <p:sp>
        <p:nvSpPr>
          <p:cNvPr id="48" name="Google Shape;48;g3d2b26f9c3f_2_26"/>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49" name="Google Shape;49;g3d2b26f9c3f_2_26"/>
          <p:cNvSpPr/>
          <p:nvPr/>
        </p:nvSpPr>
        <p:spPr>
          <a:xfrm>
            <a:off x="457200" y="1143000"/>
            <a:ext cx="3931200" cy="205668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t" anchorCtr="0">
            <a:noAutofit/>
          </a:bodyPr>
          <a:lstStyle/>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Access to an immense amount of data</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Reasoning capabilities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Context based answers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Summaries</a:t>
            </a: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r>
              <a:rPr lang="de-DE" sz="1050" b="0" u="none" strike="noStrike">
                <a:solidFill>
                  <a:srgbClr val="1A1A2E"/>
                </a:solidFill>
                <a:latin typeface="Calibri"/>
                <a:ea typeface="Calibri"/>
                <a:cs typeface="Calibri"/>
                <a:sym typeface="Calibri"/>
              </a:rPr>
              <a:t>	</a:t>
            </a:r>
            <a:endParaRPr sz="1050" b="0" u="none" strike="noStrike">
              <a:solidFill>
                <a:srgbClr val="000000"/>
              </a:solidFill>
              <a:latin typeface="Arial"/>
              <a:ea typeface="Arial"/>
              <a:cs typeface="Arial"/>
              <a:sym typeface="Arial"/>
            </a:endParaRPr>
          </a:p>
        </p:txBody>
      </p:sp>
      <p:sp>
        <p:nvSpPr>
          <p:cNvPr id="50" name="Google Shape;50;g3d2b26f9c3f_2_26"/>
          <p:cNvSpPr/>
          <p:nvPr/>
        </p:nvSpPr>
        <p:spPr>
          <a:xfrm>
            <a:off x="447480" y="671040"/>
            <a:ext cx="5266800" cy="471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You get:</a:t>
            </a:r>
            <a:endParaRPr sz="2200" b="0" u="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55"/>
        <p:cNvGrpSpPr/>
        <p:nvPr/>
      </p:nvGrpSpPr>
      <p:grpSpPr>
        <a:xfrm>
          <a:off x="0" y="0"/>
          <a:ext cx="0" cy="0"/>
          <a:chOff x="0" y="0"/>
          <a:chExt cx="0" cy="0"/>
        </a:xfrm>
      </p:grpSpPr>
      <p:sp>
        <p:nvSpPr>
          <p:cNvPr id="56" name="Google Shape;56;g3d2b26f9c3f_2_34"/>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WHEN YOU ASK AN LLM</a:t>
            </a:r>
            <a:endParaRPr sz="1100" b="0" u="none" strike="noStrike">
              <a:solidFill>
                <a:srgbClr val="000000"/>
              </a:solidFill>
              <a:latin typeface="Arial"/>
              <a:ea typeface="Arial"/>
              <a:cs typeface="Arial"/>
              <a:sym typeface="Arial"/>
            </a:endParaRPr>
          </a:p>
        </p:txBody>
      </p:sp>
      <p:sp>
        <p:nvSpPr>
          <p:cNvPr id="57" name="Google Shape;57;g3d2b26f9c3f_2_34"/>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58" name="Google Shape;58;g3d2b26f9c3f_2_34"/>
          <p:cNvSpPr/>
          <p:nvPr/>
        </p:nvSpPr>
        <p:spPr>
          <a:xfrm>
            <a:off x="457200" y="1143000"/>
            <a:ext cx="3931200" cy="205668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t" anchorCtr="0">
            <a:noAutofit/>
          </a:bodyPr>
          <a:lstStyle/>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Access to an immense amount of data</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Reasoning capabilities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Context based answers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Summaries</a:t>
            </a: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r>
              <a:rPr lang="de-DE" sz="1050" b="0" u="none" strike="noStrike">
                <a:solidFill>
                  <a:srgbClr val="1A1A2E"/>
                </a:solidFill>
                <a:latin typeface="Calibri"/>
                <a:ea typeface="Calibri"/>
                <a:cs typeface="Calibri"/>
                <a:sym typeface="Calibri"/>
              </a:rPr>
              <a:t>	</a:t>
            </a:r>
            <a:endParaRPr sz="1050" b="0" u="none" strike="noStrike">
              <a:solidFill>
                <a:srgbClr val="000000"/>
              </a:solidFill>
              <a:latin typeface="Arial"/>
              <a:ea typeface="Arial"/>
              <a:cs typeface="Arial"/>
              <a:sym typeface="Arial"/>
            </a:endParaRPr>
          </a:p>
        </p:txBody>
      </p:sp>
      <p:sp>
        <p:nvSpPr>
          <p:cNvPr id="59" name="Google Shape;59;g3d2b26f9c3f_2_34"/>
          <p:cNvSpPr/>
          <p:nvPr/>
        </p:nvSpPr>
        <p:spPr>
          <a:xfrm>
            <a:off x="447480" y="671040"/>
            <a:ext cx="5266800" cy="471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You get:</a:t>
            </a:r>
            <a:endParaRPr sz="2200" b="0" u="none" strike="noStrike">
              <a:solidFill>
                <a:srgbClr val="000000"/>
              </a:solidFill>
              <a:latin typeface="Arial"/>
              <a:ea typeface="Arial"/>
              <a:cs typeface="Arial"/>
              <a:sym typeface="Arial"/>
            </a:endParaRPr>
          </a:p>
        </p:txBody>
      </p:sp>
      <p:pic>
        <p:nvPicPr>
          <p:cNvPr id="60" name="Google Shape;60;g3d2b26f9c3f_2_34"/>
          <p:cNvPicPr preferRelativeResize="0"/>
          <p:nvPr/>
        </p:nvPicPr>
        <p:blipFill rotWithShape="1">
          <a:blip r:embed="rId3">
            <a:alphaModFix/>
          </a:blip>
          <a:srcRect/>
          <a:stretch/>
        </p:blipFill>
        <p:spPr>
          <a:xfrm>
            <a:off x="5486400" y="804600"/>
            <a:ext cx="2468160" cy="3309480"/>
          </a:xfrm>
          <a:prstGeom prst="rect">
            <a:avLst/>
          </a:prstGeom>
          <a:noFill/>
          <a:ln>
            <a:noFill/>
          </a:ln>
        </p:spPr>
      </p:pic>
      <p:sp>
        <p:nvSpPr>
          <p:cNvPr id="61" name="Google Shape;61;g3d2b26f9c3f_2_34"/>
          <p:cNvSpPr/>
          <p:nvPr/>
        </p:nvSpPr>
        <p:spPr>
          <a:xfrm>
            <a:off x="5486400" y="4114800"/>
            <a:ext cx="2285280" cy="4708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End of Story?</a:t>
            </a:r>
            <a:endParaRPr sz="2200" b="0" u="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66"/>
        <p:cNvGrpSpPr/>
        <p:nvPr/>
      </p:nvGrpSpPr>
      <p:grpSpPr>
        <a:xfrm>
          <a:off x="0" y="0"/>
          <a:ext cx="0" cy="0"/>
          <a:chOff x="0" y="0"/>
          <a:chExt cx="0" cy="0"/>
        </a:xfrm>
      </p:grpSpPr>
      <p:sp>
        <p:nvSpPr>
          <p:cNvPr id="67" name="Google Shape;67;g3d2b26f9c3f_2_44"/>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PROBLEM 1</a:t>
            </a:r>
            <a:endParaRPr sz="1100" b="0" u="none" strike="noStrike">
              <a:solidFill>
                <a:srgbClr val="000000"/>
              </a:solidFill>
              <a:latin typeface="Arial"/>
              <a:ea typeface="Arial"/>
              <a:cs typeface="Arial"/>
              <a:sym typeface="Arial"/>
            </a:endParaRPr>
          </a:p>
        </p:txBody>
      </p:sp>
      <p:sp>
        <p:nvSpPr>
          <p:cNvPr id="68" name="Google Shape;68;g3d2b26f9c3f_2_44"/>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Reliability</a:t>
            </a:r>
            <a:endParaRPr sz="2200" b="0" u="none" strike="noStrike">
              <a:solidFill>
                <a:srgbClr val="000000"/>
              </a:solidFill>
              <a:latin typeface="Arial"/>
              <a:ea typeface="Arial"/>
              <a:cs typeface="Arial"/>
              <a:sym typeface="Arial"/>
            </a:endParaRPr>
          </a:p>
        </p:txBody>
      </p:sp>
      <p:pic>
        <p:nvPicPr>
          <p:cNvPr id="69" name="Google Shape;69;g3d2b26f9c3f_2_44"/>
          <p:cNvPicPr preferRelativeResize="0"/>
          <p:nvPr/>
        </p:nvPicPr>
        <p:blipFill rotWithShape="1">
          <a:blip r:embed="rId3">
            <a:alphaModFix/>
          </a:blip>
          <a:srcRect/>
          <a:stretch/>
        </p:blipFill>
        <p:spPr>
          <a:xfrm>
            <a:off x="1371600" y="1225440"/>
            <a:ext cx="6354360" cy="35744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74"/>
        <p:cNvGrpSpPr/>
        <p:nvPr/>
      </p:nvGrpSpPr>
      <p:grpSpPr>
        <a:xfrm>
          <a:off x="0" y="0"/>
          <a:ext cx="0" cy="0"/>
          <a:chOff x="0" y="0"/>
          <a:chExt cx="0" cy="0"/>
        </a:xfrm>
      </p:grpSpPr>
      <p:sp>
        <p:nvSpPr>
          <p:cNvPr id="75" name="Google Shape;75;g3d2b26f9c3f_2_51"/>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WHY IS RELIABILITY A PROBLEM FOR AI?</a:t>
            </a:r>
            <a:endParaRPr sz="1100" b="0" u="none" strike="noStrike">
              <a:solidFill>
                <a:srgbClr val="000000"/>
              </a:solidFill>
              <a:latin typeface="Arial"/>
              <a:ea typeface="Arial"/>
              <a:cs typeface="Arial"/>
              <a:sym typeface="Arial"/>
            </a:endParaRPr>
          </a:p>
        </p:txBody>
      </p:sp>
      <p:sp>
        <p:nvSpPr>
          <p:cNvPr id="76" name="Google Shape;76;g3d2b26f9c3f_2_51"/>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No Traceability, No Reliability  </a:t>
            </a:r>
            <a:endParaRPr sz="2200" b="0" u="none" strike="noStrike">
              <a:solidFill>
                <a:srgbClr val="000000"/>
              </a:solidFill>
              <a:latin typeface="Arial"/>
              <a:ea typeface="Arial"/>
              <a:cs typeface="Arial"/>
              <a:sym typeface="Arial"/>
            </a:endParaRPr>
          </a:p>
        </p:txBody>
      </p:sp>
      <p:pic>
        <p:nvPicPr>
          <p:cNvPr id="77" name="Google Shape;77;g3d2b26f9c3f_2_51"/>
          <p:cNvPicPr preferRelativeResize="0"/>
          <p:nvPr/>
        </p:nvPicPr>
        <p:blipFill rotWithShape="1">
          <a:blip r:embed="rId3">
            <a:alphaModFix/>
          </a:blip>
          <a:srcRect/>
          <a:stretch/>
        </p:blipFill>
        <p:spPr>
          <a:xfrm>
            <a:off x="3429000" y="1828800"/>
            <a:ext cx="2395080" cy="23950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82"/>
        <p:cNvGrpSpPr/>
        <p:nvPr/>
      </p:nvGrpSpPr>
      <p:grpSpPr>
        <a:xfrm>
          <a:off x="0" y="0"/>
          <a:ext cx="0" cy="0"/>
          <a:chOff x="0" y="0"/>
          <a:chExt cx="0" cy="0"/>
        </a:xfrm>
      </p:grpSpPr>
      <p:sp>
        <p:nvSpPr>
          <p:cNvPr id="83" name="Google Shape;83;g3d2b26f9c3f_2_58"/>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PROBLEM 2</a:t>
            </a:r>
            <a:endParaRPr sz="1100" b="0" u="none" strike="noStrike">
              <a:solidFill>
                <a:srgbClr val="000000"/>
              </a:solidFill>
              <a:latin typeface="Arial"/>
              <a:ea typeface="Arial"/>
              <a:cs typeface="Arial"/>
              <a:sym typeface="Arial"/>
            </a:endParaRPr>
          </a:p>
        </p:txBody>
      </p:sp>
      <p:sp>
        <p:nvSpPr>
          <p:cNvPr id="84" name="Google Shape;84;g3d2b26f9c3f_2_58"/>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Data Availability / Security </a:t>
            </a:r>
            <a:endParaRPr sz="2200" b="0" u="none" strike="noStrike">
              <a:solidFill>
                <a:srgbClr val="000000"/>
              </a:solidFill>
              <a:latin typeface="Arial"/>
              <a:ea typeface="Arial"/>
              <a:cs typeface="Arial"/>
              <a:sym typeface="Arial"/>
            </a:endParaRPr>
          </a:p>
        </p:txBody>
      </p:sp>
      <p:pic>
        <p:nvPicPr>
          <p:cNvPr id="85" name="Google Shape;85;g3d2b26f9c3f_2_58"/>
          <p:cNvPicPr preferRelativeResize="0"/>
          <p:nvPr/>
        </p:nvPicPr>
        <p:blipFill rotWithShape="1">
          <a:blip r:embed="rId3">
            <a:alphaModFix/>
          </a:blip>
          <a:srcRect/>
          <a:stretch/>
        </p:blipFill>
        <p:spPr>
          <a:xfrm>
            <a:off x="2002680" y="1143000"/>
            <a:ext cx="4854600" cy="36568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90"/>
        <p:cNvGrpSpPr/>
        <p:nvPr/>
      </p:nvGrpSpPr>
      <p:grpSpPr>
        <a:xfrm>
          <a:off x="0" y="0"/>
          <a:ext cx="0" cy="0"/>
          <a:chOff x="0" y="0"/>
          <a:chExt cx="0" cy="0"/>
        </a:xfrm>
      </p:grpSpPr>
      <p:sp>
        <p:nvSpPr>
          <p:cNvPr id="91" name="Google Shape;91;g3d2b26f9c3f_2_65"/>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THE BEST OF ALL WORLDS</a:t>
            </a:r>
            <a:endParaRPr sz="1100" b="0" u="none" strike="noStrike">
              <a:solidFill>
                <a:srgbClr val="000000"/>
              </a:solidFill>
              <a:latin typeface="Arial"/>
              <a:ea typeface="Arial"/>
              <a:cs typeface="Arial"/>
              <a:sym typeface="Arial"/>
            </a:endParaRPr>
          </a:p>
        </p:txBody>
      </p:sp>
      <p:sp>
        <p:nvSpPr>
          <p:cNvPr id="92" name="Google Shape;92;g3d2b26f9c3f_2_65"/>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Retrieval Augmented Generation RAG</a:t>
            </a:r>
            <a:endParaRPr sz="2200" b="0" u="none" strike="noStrike">
              <a:solidFill>
                <a:srgbClr val="000000"/>
              </a:solidFill>
              <a:latin typeface="Arial"/>
              <a:ea typeface="Arial"/>
              <a:cs typeface="Arial"/>
              <a:sym typeface="Arial"/>
            </a:endParaRPr>
          </a:p>
        </p:txBody>
      </p:sp>
      <p:pic>
        <p:nvPicPr>
          <p:cNvPr id="93" name="Google Shape;93;g3d2b26f9c3f_2_65"/>
          <p:cNvPicPr preferRelativeResize="0"/>
          <p:nvPr/>
        </p:nvPicPr>
        <p:blipFill rotWithShape="1">
          <a:blip r:embed="rId3">
            <a:alphaModFix/>
          </a:blip>
          <a:srcRect/>
          <a:stretch/>
        </p:blipFill>
        <p:spPr>
          <a:xfrm>
            <a:off x="1134000" y="1143000"/>
            <a:ext cx="6866280" cy="29707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98"/>
        <p:cNvGrpSpPr/>
        <p:nvPr/>
      </p:nvGrpSpPr>
      <p:grpSpPr>
        <a:xfrm>
          <a:off x="0" y="0"/>
          <a:ext cx="0" cy="0"/>
          <a:chOff x="0" y="0"/>
          <a:chExt cx="0" cy="0"/>
        </a:xfrm>
      </p:grpSpPr>
      <p:sp>
        <p:nvSpPr>
          <p:cNvPr id="99" name="Google Shape;99;g3d2b26f9c3f_2_72"/>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THE BEST OF ALL WORLDS</a:t>
            </a:r>
            <a:endParaRPr sz="1100" b="0" u="none" strike="noStrike">
              <a:solidFill>
                <a:srgbClr val="000000"/>
              </a:solidFill>
              <a:latin typeface="Arial"/>
              <a:ea typeface="Arial"/>
              <a:cs typeface="Arial"/>
              <a:sym typeface="Arial"/>
            </a:endParaRPr>
          </a:p>
        </p:txBody>
      </p:sp>
      <p:sp>
        <p:nvSpPr>
          <p:cNvPr id="100" name="Google Shape;100;g3d2b26f9c3f_2_72"/>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Retrieval Augmented Generation RAG</a:t>
            </a:r>
            <a:endParaRPr sz="2200" b="0" u="none" strike="noStrike">
              <a:solidFill>
                <a:srgbClr val="000000"/>
              </a:solidFill>
              <a:latin typeface="Arial"/>
              <a:ea typeface="Arial"/>
              <a:cs typeface="Arial"/>
              <a:sym typeface="Arial"/>
            </a:endParaRPr>
          </a:p>
        </p:txBody>
      </p:sp>
      <p:pic>
        <p:nvPicPr>
          <p:cNvPr id="101" name="Google Shape;101;g3d2b26f9c3f_2_72"/>
          <p:cNvPicPr preferRelativeResize="0"/>
          <p:nvPr/>
        </p:nvPicPr>
        <p:blipFill rotWithShape="1">
          <a:blip r:embed="rId3">
            <a:alphaModFix/>
          </a:blip>
          <a:srcRect/>
          <a:stretch/>
        </p:blipFill>
        <p:spPr>
          <a:xfrm>
            <a:off x="1134000" y="1143000"/>
            <a:ext cx="6866280" cy="2970720"/>
          </a:xfrm>
          <a:prstGeom prst="rect">
            <a:avLst/>
          </a:prstGeom>
          <a:noFill/>
          <a:ln>
            <a:noFill/>
          </a:ln>
        </p:spPr>
      </p:pic>
      <p:pic>
        <p:nvPicPr>
          <p:cNvPr id="102" name="Google Shape;102;g3d2b26f9c3f_2_72"/>
          <p:cNvPicPr preferRelativeResize="0"/>
          <p:nvPr/>
        </p:nvPicPr>
        <p:blipFill rotWithShape="1">
          <a:blip r:embed="rId4">
            <a:alphaModFix/>
          </a:blip>
          <a:srcRect/>
          <a:stretch/>
        </p:blipFill>
        <p:spPr>
          <a:xfrm>
            <a:off x="1828800" y="2057400"/>
            <a:ext cx="1581120" cy="730800"/>
          </a:xfrm>
          <a:prstGeom prst="rect">
            <a:avLst/>
          </a:prstGeom>
          <a:noFill/>
          <a:ln>
            <a:noFill/>
          </a:ln>
        </p:spPr>
      </p:pic>
      <p:pic>
        <p:nvPicPr>
          <p:cNvPr id="103" name="Google Shape;103;g3d2b26f9c3f_2_72"/>
          <p:cNvPicPr preferRelativeResize="0"/>
          <p:nvPr/>
        </p:nvPicPr>
        <p:blipFill rotWithShape="1">
          <a:blip r:embed="rId5">
            <a:alphaModFix/>
          </a:blip>
          <a:srcRect/>
          <a:stretch/>
        </p:blipFill>
        <p:spPr>
          <a:xfrm>
            <a:off x="5806440" y="1463040"/>
            <a:ext cx="1736640" cy="17366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08"/>
        <p:cNvGrpSpPr/>
        <p:nvPr/>
      </p:nvGrpSpPr>
      <p:grpSpPr>
        <a:xfrm>
          <a:off x="0" y="0"/>
          <a:ext cx="0" cy="0"/>
          <a:chOff x="0" y="0"/>
          <a:chExt cx="0" cy="0"/>
        </a:xfrm>
      </p:grpSpPr>
      <p:sp>
        <p:nvSpPr>
          <p:cNvPr id="109" name="Google Shape;109;g3d2b26f9c3f_2_81"/>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OUR GOAL</a:t>
            </a:r>
            <a:endParaRPr sz="1100" b="0" u="none" strike="noStrike">
              <a:solidFill>
                <a:srgbClr val="000000"/>
              </a:solidFill>
              <a:latin typeface="Arial"/>
              <a:ea typeface="Arial"/>
              <a:cs typeface="Arial"/>
              <a:sym typeface="Arial"/>
            </a:endParaRPr>
          </a:p>
        </p:txBody>
      </p:sp>
      <p:sp>
        <p:nvSpPr>
          <p:cNvPr id="110" name="Google Shape;110;g3d2b26f9c3f_2_81"/>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Building a Locally Running RAG from Scratch</a:t>
            </a:r>
            <a:endParaRPr sz="2200" b="0" u="none" strike="noStrike">
              <a:solidFill>
                <a:srgbClr val="000000"/>
              </a:solidFill>
              <a:latin typeface="Arial"/>
              <a:ea typeface="Arial"/>
              <a:cs typeface="Arial"/>
              <a:sym typeface="Arial"/>
            </a:endParaRPr>
          </a:p>
        </p:txBody>
      </p:sp>
      <p:sp>
        <p:nvSpPr>
          <p:cNvPr id="111" name="Google Shape;111;g3d2b26f9c3f_2_81"/>
          <p:cNvSpPr/>
          <p:nvPr/>
        </p:nvSpPr>
        <p:spPr>
          <a:xfrm>
            <a:off x="1828800" y="1371600"/>
            <a:ext cx="5714640" cy="320004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ctr" anchorCtr="0">
            <a:noAutofit/>
          </a:bodyPr>
          <a:lstStyle/>
          <a:p>
            <a:pPr marL="0" marR="0" lvl="0" indent="0" algn="l" rtl="0">
              <a:lnSpc>
                <a:spcPct val="140000"/>
              </a:lnSpc>
              <a:spcBef>
                <a:spcPts val="0"/>
              </a:spcBef>
              <a:spcAft>
                <a:spcPts val="0"/>
              </a:spcAft>
              <a:buNone/>
            </a:pPr>
            <a:r>
              <a:rPr lang="de-DE" sz="1600" b="1" u="sng" strike="noStrike">
                <a:solidFill>
                  <a:srgbClr val="1A1A2E"/>
                </a:solidFill>
                <a:latin typeface="Calibri"/>
                <a:ea typeface="Calibri"/>
                <a:cs typeface="Calibri"/>
                <a:sym typeface="Calibri"/>
              </a:rPr>
              <a:t>Proof of concept</a:t>
            </a:r>
            <a:r>
              <a:rPr lang="de-DE" sz="1600" b="1" u="none" strike="noStrike">
                <a:solidFill>
                  <a:srgbClr val="1A1A2E"/>
                </a:solidFill>
                <a:latin typeface="Calibri"/>
                <a:ea typeface="Calibri"/>
                <a:cs typeface="Calibri"/>
                <a:sym typeface="Calibri"/>
              </a:rPr>
              <a:t> for many business applications</a:t>
            </a:r>
            <a:endParaRPr sz="16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Make </a:t>
            </a:r>
            <a:r>
              <a:rPr lang="de-DE" sz="1600" b="1" u="none" strike="noStrike">
                <a:solidFill>
                  <a:srgbClr val="1A1A2E"/>
                </a:solidFill>
                <a:latin typeface="Calibri"/>
                <a:ea typeface="Calibri"/>
                <a:cs typeface="Calibri"/>
                <a:sym typeface="Calibri"/>
              </a:rPr>
              <a:t>sensitive</a:t>
            </a:r>
            <a:r>
              <a:rPr lang="de-DE" sz="1400" b="0" u="none" strike="noStrike">
                <a:solidFill>
                  <a:srgbClr val="1A1A2E"/>
                </a:solidFill>
                <a:latin typeface="Calibri"/>
                <a:ea typeface="Calibri"/>
                <a:cs typeface="Calibri"/>
                <a:sym typeface="Calibri"/>
              </a:rPr>
              <a:t> data </a:t>
            </a:r>
            <a:r>
              <a:rPr lang="de-DE" sz="1600" b="1" u="none" strike="noStrike">
                <a:solidFill>
                  <a:srgbClr val="1A1A2E"/>
                </a:solidFill>
                <a:latin typeface="Calibri"/>
                <a:ea typeface="Calibri"/>
                <a:cs typeface="Calibri"/>
                <a:sym typeface="Calibri"/>
              </a:rPr>
              <a:t>reliably</a:t>
            </a:r>
            <a:r>
              <a:rPr lang="de-DE" sz="1400" b="0" u="none" strike="noStrike">
                <a:solidFill>
                  <a:srgbClr val="1A1A2E"/>
                </a:solidFill>
                <a:latin typeface="Calibri"/>
                <a:ea typeface="Calibri"/>
                <a:cs typeface="Calibri"/>
                <a:sym typeface="Calibri"/>
              </a:rPr>
              <a:t> accessible</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Harness the </a:t>
            </a:r>
            <a:r>
              <a:rPr lang="de-DE" sz="1600" b="1" u="none" strike="noStrike">
                <a:solidFill>
                  <a:srgbClr val="1A1A2E"/>
                </a:solidFill>
                <a:latin typeface="Calibri"/>
                <a:ea typeface="Calibri"/>
                <a:cs typeface="Calibri"/>
                <a:sym typeface="Calibri"/>
              </a:rPr>
              <a:t>capabilities</a:t>
            </a:r>
            <a:r>
              <a:rPr lang="de-DE" sz="1400" b="0" u="none" strike="noStrike">
                <a:solidFill>
                  <a:srgbClr val="1A1A2E"/>
                </a:solidFill>
                <a:latin typeface="Calibri"/>
                <a:ea typeface="Calibri"/>
                <a:cs typeface="Calibri"/>
                <a:sym typeface="Calibri"/>
              </a:rPr>
              <a:t> of LLMs</a:t>
            </a:r>
            <a:endParaRPr sz="1400" b="0" u="none" strike="noStrike">
              <a:solidFill>
                <a:srgbClr val="000000"/>
              </a:solidFill>
              <a:latin typeface="Arial"/>
              <a:ea typeface="Arial"/>
              <a:cs typeface="Arial"/>
              <a:sym typeface="Arial"/>
            </a:endParaRPr>
          </a:p>
          <a:p>
            <a:pPr marL="432000" marR="0" lvl="1" indent="-216000" algn="l" rtl="0">
              <a:lnSpc>
                <a:spcPct val="140000"/>
              </a:lnSpc>
              <a:spcBef>
                <a:spcPts val="0"/>
              </a:spcBef>
              <a:spcAft>
                <a:spcPts val="0"/>
              </a:spcAft>
              <a:buClr>
                <a:srgbClr val="000000"/>
              </a:buClr>
              <a:buSzPts val="630"/>
              <a:buFont typeface="Noto Sans Symbols"/>
              <a:buChar char="●"/>
            </a:pPr>
            <a:r>
              <a:rPr lang="de-DE" sz="1400" b="0" i="0" u="none" strike="noStrike" cap="none">
                <a:solidFill>
                  <a:srgbClr val="1A1A2E"/>
                </a:solidFill>
                <a:latin typeface="Calibri"/>
                <a:ea typeface="Calibri"/>
                <a:cs typeface="Calibri"/>
                <a:sym typeface="Calibri"/>
              </a:rPr>
              <a:t>Search files </a:t>
            </a:r>
            <a:endParaRPr sz="1400" b="0" i="0" u="none" strike="noStrike" cap="none">
              <a:solidFill>
                <a:srgbClr val="000000"/>
              </a:solidFill>
              <a:latin typeface="Arial"/>
              <a:ea typeface="Arial"/>
              <a:cs typeface="Arial"/>
              <a:sym typeface="Arial"/>
            </a:endParaRPr>
          </a:p>
          <a:p>
            <a:pPr marL="432000" marR="0" lvl="1" indent="-216000" algn="l" rtl="0">
              <a:lnSpc>
                <a:spcPct val="140000"/>
              </a:lnSpc>
              <a:spcBef>
                <a:spcPts val="0"/>
              </a:spcBef>
              <a:spcAft>
                <a:spcPts val="0"/>
              </a:spcAft>
              <a:buClr>
                <a:srgbClr val="000000"/>
              </a:buClr>
              <a:buSzPts val="630"/>
              <a:buFont typeface="Noto Sans Symbols"/>
              <a:buChar char="●"/>
            </a:pPr>
            <a:r>
              <a:rPr lang="de-DE" sz="1400" b="0" i="0" u="none" strike="noStrike" cap="none">
                <a:solidFill>
                  <a:srgbClr val="1A1A2E"/>
                </a:solidFill>
                <a:latin typeface="Calibri"/>
                <a:ea typeface="Calibri"/>
                <a:cs typeface="Calibri"/>
                <a:sym typeface="Calibri"/>
              </a:rPr>
              <a:t>Inquire about customer data, bills, the secret ingredient </a:t>
            </a:r>
            <a:endParaRPr sz="1400" b="0" i="0" u="none" strike="noStrike" cap="none">
              <a:solidFill>
                <a:srgbClr val="000000"/>
              </a:solidFill>
              <a:latin typeface="Arial"/>
              <a:ea typeface="Arial"/>
              <a:cs typeface="Arial"/>
              <a:sym typeface="Arial"/>
            </a:endParaRPr>
          </a:p>
          <a:p>
            <a:pPr marL="432000" marR="0" lvl="1" indent="-216000" algn="l" rtl="0">
              <a:lnSpc>
                <a:spcPct val="140000"/>
              </a:lnSpc>
              <a:spcBef>
                <a:spcPts val="0"/>
              </a:spcBef>
              <a:spcAft>
                <a:spcPts val="0"/>
              </a:spcAft>
              <a:buClr>
                <a:srgbClr val="000000"/>
              </a:buClr>
              <a:buSzPts val="630"/>
              <a:buFont typeface="Noto Sans Symbols"/>
              <a:buChar char="●"/>
            </a:pPr>
            <a:r>
              <a:rPr lang="de-DE" sz="1400" b="0" i="0" u="none" strike="noStrike" cap="none">
                <a:solidFill>
                  <a:srgbClr val="1A1A2E"/>
                </a:solidFill>
                <a:latin typeface="Calibri"/>
                <a:ea typeface="Calibri"/>
                <a:cs typeface="Calibri"/>
                <a:sym typeface="Calibri"/>
              </a:rPr>
              <a:t>“When did we switch the supplier”</a:t>
            </a:r>
            <a:endParaRPr sz="14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16"/>
        <p:cNvGrpSpPr/>
        <p:nvPr/>
      </p:nvGrpSpPr>
      <p:grpSpPr>
        <a:xfrm>
          <a:off x="0" y="0"/>
          <a:ext cx="0" cy="0"/>
          <a:chOff x="0" y="0"/>
          <a:chExt cx="0" cy="0"/>
        </a:xfrm>
      </p:grpSpPr>
      <p:sp>
        <p:nvSpPr>
          <p:cNvPr id="117" name="Google Shape;117;g3d2b26f9c3f_2_88"/>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OUR USE CASE</a:t>
            </a:r>
            <a:endParaRPr sz="1100" b="0" u="none" strike="noStrike">
              <a:solidFill>
                <a:srgbClr val="000000"/>
              </a:solidFill>
              <a:latin typeface="Arial"/>
              <a:ea typeface="Arial"/>
              <a:cs typeface="Arial"/>
              <a:sym typeface="Arial"/>
            </a:endParaRPr>
          </a:p>
        </p:txBody>
      </p:sp>
      <p:sp>
        <p:nvSpPr>
          <p:cNvPr id="118" name="Google Shape;118;g3d2b26f9c3f_2_88"/>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PubMed Scientific Database</a:t>
            </a:r>
            <a:endParaRPr sz="2200" b="0" u="none" strike="noStrike">
              <a:solidFill>
                <a:srgbClr val="000000"/>
              </a:solidFill>
              <a:latin typeface="Arial"/>
              <a:ea typeface="Arial"/>
              <a:cs typeface="Arial"/>
              <a:sym typeface="Arial"/>
            </a:endParaRPr>
          </a:p>
        </p:txBody>
      </p:sp>
      <p:pic>
        <p:nvPicPr>
          <p:cNvPr id="119" name="Google Shape;119;g3d2b26f9c3f_2_88"/>
          <p:cNvPicPr preferRelativeResize="0"/>
          <p:nvPr/>
        </p:nvPicPr>
        <p:blipFill rotWithShape="1">
          <a:blip r:embed="rId3">
            <a:alphaModFix/>
          </a:blip>
          <a:srcRect/>
          <a:stretch/>
        </p:blipFill>
        <p:spPr>
          <a:xfrm>
            <a:off x="4910400" y="685800"/>
            <a:ext cx="4004280" cy="1425600"/>
          </a:xfrm>
          <a:prstGeom prst="rect">
            <a:avLst/>
          </a:prstGeom>
          <a:noFill/>
          <a:ln>
            <a:noFill/>
          </a:ln>
        </p:spPr>
      </p:pic>
      <p:sp>
        <p:nvSpPr>
          <p:cNvPr id="120" name="Google Shape;120;g3d2b26f9c3f_2_88"/>
          <p:cNvSpPr/>
          <p:nvPr/>
        </p:nvSpPr>
        <p:spPr>
          <a:xfrm>
            <a:off x="457200" y="1143000"/>
            <a:ext cx="3931200" cy="319932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ctr" anchorCtr="0">
            <a:noAutofit/>
          </a:bodyPr>
          <a:lstStyle/>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National Library of Medicine (NIH), USA</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Clinical studies, medicine, life sciences </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Available in XML</a:t>
            </a: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r>
              <a:rPr lang="de-DE" sz="1050" b="0" u="none" strike="noStrike">
                <a:solidFill>
                  <a:srgbClr val="1A1A2E"/>
                </a:solidFill>
                <a:latin typeface="Calibri"/>
                <a:ea typeface="Calibri"/>
                <a:cs typeface="Calibri"/>
                <a:sym typeface="Calibri"/>
              </a:rPr>
              <a:t>	</a:t>
            </a:r>
            <a:endParaRPr sz="1050" b="0" u="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25"/>
        <p:cNvGrpSpPr/>
        <p:nvPr/>
      </p:nvGrpSpPr>
      <p:grpSpPr>
        <a:xfrm>
          <a:off x="0" y="0"/>
          <a:ext cx="0" cy="0"/>
          <a:chOff x="0" y="0"/>
          <a:chExt cx="0" cy="0"/>
        </a:xfrm>
      </p:grpSpPr>
      <p:sp>
        <p:nvSpPr>
          <p:cNvPr id="126" name="Google Shape;126;g3d2b26f9c3f_2_96"/>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OUR USE CASE</a:t>
            </a:r>
            <a:endParaRPr sz="1100" b="0" u="none" strike="noStrike">
              <a:solidFill>
                <a:srgbClr val="000000"/>
              </a:solidFill>
              <a:latin typeface="Arial"/>
              <a:ea typeface="Arial"/>
              <a:cs typeface="Arial"/>
              <a:sym typeface="Arial"/>
            </a:endParaRPr>
          </a:p>
        </p:txBody>
      </p:sp>
      <p:sp>
        <p:nvSpPr>
          <p:cNvPr id="127" name="Google Shape;127;g3d2b26f9c3f_2_96"/>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PubMed Scientific Database</a:t>
            </a:r>
            <a:endParaRPr sz="2200" b="0" u="none" strike="noStrike">
              <a:solidFill>
                <a:srgbClr val="000000"/>
              </a:solidFill>
              <a:latin typeface="Arial"/>
              <a:ea typeface="Arial"/>
              <a:cs typeface="Arial"/>
              <a:sym typeface="Arial"/>
            </a:endParaRPr>
          </a:p>
        </p:txBody>
      </p:sp>
      <p:pic>
        <p:nvPicPr>
          <p:cNvPr id="128" name="Google Shape;128;g3d2b26f9c3f_2_96"/>
          <p:cNvPicPr preferRelativeResize="0"/>
          <p:nvPr/>
        </p:nvPicPr>
        <p:blipFill rotWithShape="1">
          <a:blip r:embed="rId3">
            <a:alphaModFix/>
          </a:blip>
          <a:srcRect/>
          <a:stretch/>
        </p:blipFill>
        <p:spPr>
          <a:xfrm>
            <a:off x="4910400" y="685800"/>
            <a:ext cx="4004280" cy="1425600"/>
          </a:xfrm>
          <a:prstGeom prst="rect">
            <a:avLst/>
          </a:prstGeom>
          <a:noFill/>
          <a:ln>
            <a:noFill/>
          </a:ln>
        </p:spPr>
      </p:pic>
      <p:sp>
        <p:nvSpPr>
          <p:cNvPr id="129" name="Google Shape;129;g3d2b26f9c3f_2_96"/>
          <p:cNvSpPr/>
          <p:nvPr/>
        </p:nvSpPr>
        <p:spPr>
          <a:xfrm>
            <a:off x="457200" y="1143000"/>
            <a:ext cx="3931200" cy="319932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ctr" anchorCtr="0">
            <a:noAutofit/>
          </a:bodyPr>
          <a:lstStyle/>
          <a:p>
            <a:pPr marL="0" marR="0" lvl="0" indent="0" algn="l" rtl="0">
              <a:lnSpc>
                <a:spcPct val="140000"/>
              </a:lnSpc>
              <a:spcBef>
                <a:spcPts val="0"/>
              </a:spcBef>
              <a:spcAft>
                <a:spcPts val="0"/>
              </a:spcAft>
              <a:buNone/>
            </a:pP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National Library of Medicine (NIH), USA</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&gt; 40 million papers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Clinical studies, medicine, life sciences </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Available in XML</a:t>
            </a:r>
            <a:endParaRPr sz="1400" b="0" u="none" strike="noStrike">
              <a:solidFill>
                <a:srgbClr val="000000"/>
              </a:solidFill>
              <a:latin typeface="Arial"/>
              <a:ea typeface="Arial"/>
              <a:cs typeface="Arial"/>
              <a:sym typeface="Arial"/>
            </a:endParaRPr>
          </a:p>
          <a:p>
            <a:pPr marL="0" marR="0" lvl="0" indent="0" algn="l" rtl="0">
              <a:lnSpc>
                <a:spcPct val="140000"/>
              </a:lnSpc>
              <a:spcBef>
                <a:spcPts val="0"/>
              </a:spcBef>
              <a:spcAft>
                <a:spcPts val="0"/>
              </a:spcAft>
              <a:buNone/>
            </a:pPr>
            <a:r>
              <a:rPr lang="de-DE" sz="1050" b="0" u="none" strike="noStrike">
                <a:solidFill>
                  <a:srgbClr val="1A1A2E"/>
                </a:solidFill>
                <a:latin typeface="Calibri"/>
                <a:ea typeface="Calibri"/>
                <a:cs typeface="Calibri"/>
                <a:sym typeface="Calibri"/>
              </a:rPr>
              <a:t>	</a:t>
            </a:r>
            <a:endParaRPr sz="1050" b="0" u="none" strike="noStrike">
              <a:solidFill>
                <a:srgbClr val="000000"/>
              </a:solidFill>
              <a:latin typeface="Arial"/>
              <a:ea typeface="Arial"/>
              <a:cs typeface="Arial"/>
              <a:sym typeface="Arial"/>
            </a:endParaRPr>
          </a:p>
        </p:txBody>
      </p:sp>
      <p:sp>
        <p:nvSpPr>
          <p:cNvPr id="130" name="Google Shape;130;g3d2b26f9c3f_2_96"/>
          <p:cNvSpPr/>
          <p:nvPr/>
        </p:nvSpPr>
        <p:spPr>
          <a:xfrm>
            <a:off x="4966200" y="2743200"/>
            <a:ext cx="3948480" cy="157320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ctr" anchorCtr="0">
            <a:noAutofit/>
          </a:bodyPr>
          <a:lstStyle/>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1000 Questions and Answers</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Yes/No + Full Text</a:t>
            </a:r>
            <a:endParaRPr sz="1400" b="0" u="none" strike="noStrike">
              <a:solidFill>
                <a:srgbClr val="000000"/>
              </a:solidFill>
              <a:latin typeface="Arial"/>
              <a:ea typeface="Arial"/>
              <a:cs typeface="Arial"/>
              <a:sym typeface="Arial"/>
            </a:endParaRPr>
          </a:p>
          <a:p>
            <a:pPr marL="216000" marR="0" lvl="0" indent="-216000" algn="l" rtl="0">
              <a:lnSpc>
                <a:spcPct val="140000"/>
              </a:lnSpc>
              <a:spcBef>
                <a:spcPts val="0"/>
              </a:spcBef>
              <a:spcAft>
                <a:spcPts val="0"/>
              </a:spcAft>
              <a:buClr>
                <a:srgbClr val="000000"/>
              </a:buClr>
              <a:buSzPts val="630"/>
              <a:buFont typeface="Noto Sans Symbols"/>
              <a:buChar char="●"/>
            </a:pPr>
            <a:r>
              <a:rPr lang="de-DE" sz="1400" b="0" u="none" strike="noStrike">
                <a:solidFill>
                  <a:srgbClr val="1A1A2E"/>
                </a:solidFill>
                <a:latin typeface="Calibri"/>
                <a:ea typeface="Calibri"/>
                <a:cs typeface="Calibri"/>
                <a:sym typeface="Calibri"/>
              </a:rPr>
              <a:t>Only 69 in Open Access </a:t>
            </a:r>
            <a:endParaRPr sz="1400" b="0" u="none" strike="noStrike">
              <a:solidFill>
                <a:srgbClr val="000000"/>
              </a:solidFill>
              <a:latin typeface="Arial"/>
              <a:ea typeface="Arial"/>
              <a:cs typeface="Arial"/>
              <a:sym typeface="Arial"/>
            </a:endParaRPr>
          </a:p>
        </p:txBody>
      </p:sp>
      <p:sp>
        <p:nvSpPr>
          <p:cNvPr id="131" name="Google Shape;131;g3d2b26f9c3f_2_96"/>
          <p:cNvSpPr/>
          <p:nvPr/>
        </p:nvSpPr>
        <p:spPr>
          <a:xfrm>
            <a:off x="4980600" y="2271240"/>
            <a:ext cx="3934080" cy="471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PubMed Q&amp;A Dataset</a:t>
            </a:r>
            <a:endParaRPr sz="2200" b="0" u="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36"/>
        <p:cNvGrpSpPr/>
        <p:nvPr/>
      </p:nvGrpSpPr>
      <p:grpSpPr>
        <a:xfrm>
          <a:off x="0" y="0"/>
          <a:ext cx="0" cy="0"/>
          <a:chOff x="0" y="0"/>
          <a:chExt cx="0" cy="0"/>
        </a:xfrm>
      </p:grpSpPr>
      <p:sp>
        <p:nvSpPr>
          <p:cNvPr id="137" name="Google Shape;137;g3d2b26f9c3f_2_106"/>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OUR DATA</a:t>
            </a:r>
            <a:endParaRPr sz="1100" b="0" u="none" strike="noStrike">
              <a:solidFill>
                <a:srgbClr val="000000"/>
              </a:solidFill>
              <a:latin typeface="Arial"/>
              <a:ea typeface="Arial"/>
              <a:cs typeface="Arial"/>
              <a:sym typeface="Arial"/>
            </a:endParaRPr>
          </a:p>
        </p:txBody>
      </p:sp>
      <p:sp>
        <p:nvSpPr>
          <p:cNvPr id="138" name="Google Shape;138;g3d2b26f9c3f_2_106"/>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39" name="Google Shape;139;g3d2b26f9c3f_2_106"/>
          <p:cNvSpPr/>
          <p:nvPr/>
        </p:nvSpPr>
        <p:spPr>
          <a:xfrm>
            <a:off x="1143000" y="1143360"/>
            <a:ext cx="7085880" cy="319932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pic>
        <p:nvPicPr>
          <p:cNvPr id="140" name="Google Shape;140;g3d2b26f9c3f_2_106"/>
          <p:cNvPicPr preferRelativeResize="0"/>
          <p:nvPr/>
        </p:nvPicPr>
        <p:blipFill rotWithShape="1">
          <a:blip r:embed="rId3">
            <a:alphaModFix/>
          </a:blip>
          <a:srcRect/>
          <a:stretch/>
        </p:blipFill>
        <p:spPr>
          <a:xfrm>
            <a:off x="1600200" y="1371600"/>
            <a:ext cx="2513880" cy="2513880"/>
          </a:xfrm>
          <a:prstGeom prst="rect">
            <a:avLst/>
          </a:prstGeom>
          <a:noFill/>
          <a:ln>
            <a:noFill/>
          </a:ln>
        </p:spPr>
      </p:pic>
      <p:sp>
        <p:nvSpPr>
          <p:cNvPr id="141" name="Google Shape;141;g3d2b26f9c3f_2_106"/>
          <p:cNvSpPr/>
          <p:nvPr/>
        </p:nvSpPr>
        <p:spPr>
          <a:xfrm>
            <a:off x="4066200" y="1585440"/>
            <a:ext cx="2333880" cy="3319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1400" b="0" u="none" strike="noStrike">
                <a:solidFill>
                  <a:srgbClr val="0D2137"/>
                </a:solidFill>
                <a:latin typeface="Georgia"/>
                <a:ea typeface="Georgia"/>
                <a:cs typeface="Georgia"/>
                <a:sym typeface="Georgia"/>
              </a:rPr>
              <a:t>40 million PubMed paper</a:t>
            </a:r>
            <a:endParaRPr sz="1400" b="0" u="none" strike="noStrike">
              <a:solidFill>
                <a:srgbClr val="000000"/>
              </a:solidFill>
              <a:latin typeface="Arial"/>
              <a:ea typeface="Arial"/>
              <a:cs typeface="Arial"/>
              <a:sym typeface="Arial"/>
            </a:endParaRPr>
          </a:p>
        </p:txBody>
      </p:sp>
      <p:sp>
        <p:nvSpPr>
          <p:cNvPr id="142" name="Google Shape;142;g3d2b26f9c3f_2_106"/>
          <p:cNvSpPr/>
          <p:nvPr/>
        </p:nvSpPr>
        <p:spPr>
          <a:xfrm>
            <a:off x="3886200" y="2181600"/>
            <a:ext cx="2682000" cy="3322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1400" b="0" u="none" strike="noStrike">
                <a:solidFill>
                  <a:srgbClr val="0D2137"/>
                </a:solidFill>
                <a:latin typeface="Georgia"/>
                <a:ea typeface="Georgia"/>
                <a:cs typeface="Georgia"/>
                <a:sym typeface="Georgia"/>
              </a:rPr>
              <a:t>10 million open access paper</a:t>
            </a:r>
            <a:endParaRPr sz="1400" b="0" u="none" strike="noStrike">
              <a:solidFill>
                <a:srgbClr val="000000"/>
              </a:solidFill>
              <a:latin typeface="Arial"/>
              <a:ea typeface="Arial"/>
              <a:cs typeface="Arial"/>
              <a:sym typeface="Arial"/>
            </a:endParaRPr>
          </a:p>
        </p:txBody>
      </p:sp>
      <p:sp>
        <p:nvSpPr>
          <p:cNvPr id="143" name="Google Shape;143;g3d2b26f9c3f_2_106"/>
          <p:cNvSpPr/>
          <p:nvPr/>
        </p:nvSpPr>
        <p:spPr>
          <a:xfrm>
            <a:off x="3657600" y="2802240"/>
            <a:ext cx="3656880" cy="3974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1400" b="0" u="none" strike="noStrike">
                <a:solidFill>
                  <a:srgbClr val="0D2137"/>
                </a:solidFill>
                <a:latin typeface="Georgia"/>
                <a:ea typeface="Georgia"/>
                <a:cs typeface="Georgia"/>
                <a:sym typeface="Georgia"/>
              </a:rPr>
              <a:t>2.3 million paper for non-commercial use</a:t>
            </a:r>
            <a:endParaRPr sz="1400" b="0" u="none" strike="noStrike">
              <a:solidFill>
                <a:srgbClr val="000000"/>
              </a:solidFill>
              <a:latin typeface="Arial"/>
              <a:ea typeface="Arial"/>
              <a:cs typeface="Arial"/>
              <a:sym typeface="Arial"/>
            </a:endParaRPr>
          </a:p>
        </p:txBody>
      </p:sp>
      <p:sp>
        <p:nvSpPr>
          <p:cNvPr id="144" name="Google Shape;144;g3d2b26f9c3f_2_106"/>
          <p:cNvSpPr/>
          <p:nvPr/>
        </p:nvSpPr>
        <p:spPr>
          <a:xfrm>
            <a:off x="3389400" y="3429000"/>
            <a:ext cx="4382280" cy="33192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1400" b="0" u="none" strike="noStrike">
                <a:solidFill>
                  <a:srgbClr val="0D2137"/>
                </a:solidFill>
                <a:latin typeface="Georgia"/>
                <a:ea typeface="Georgia"/>
                <a:cs typeface="Georgia"/>
                <a:sym typeface="Georgia"/>
              </a:rPr>
              <a:t>10K paper in our data set (incl. 69 golden paper)</a:t>
            </a:r>
            <a:endParaRPr sz="1400" b="0" u="none" strike="noStrike">
              <a:solidFill>
                <a:srgbClr val="000000"/>
              </a:solidFill>
              <a:latin typeface="Arial"/>
              <a:ea typeface="Arial"/>
              <a:cs typeface="Arial"/>
              <a:sym typeface="Arial"/>
            </a:endParaRPr>
          </a:p>
        </p:txBody>
      </p:sp>
      <p:sp>
        <p:nvSpPr>
          <p:cNvPr id="145" name="Google Shape;145;g3d2b26f9c3f_2_106"/>
          <p:cNvSpPr/>
          <p:nvPr/>
        </p:nvSpPr>
        <p:spPr>
          <a:xfrm>
            <a:off x="457200" y="502920"/>
            <a:ext cx="6171480" cy="47088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Reduced to a Feasible Amount of Data</a:t>
            </a:r>
            <a:endParaRPr sz="2200" b="0" u="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50"/>
        <p:cNvGrpSpPr/>
        <p:nvPr/>
      </p:nvGrpSpPr>
      <p:grpSpPr>
        <a:xfrm>
          <a:off x="0" y="0"/>
          <a:ext cx="0" cy="0"/>
          <a:chOff x="0" y="0"/>
          <a:chExt cx="0" cy="0"/>
        </a:xfrm>
      </p:grpSpPr>
      <p:sp>
        <p:nvSpPr>
          <p:cNvPr id="151" name="Google Shape;151;g3d2b26f9c3f_2_119"/>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SCIENTIFIC PAPER</a:t>
            </a:r>
            <a:endParaRPr sz="1100" b="0" u="none" strike="noStrike">
              <a:solidFill>
                <a:srgbClr val="000000"/>
              </a:solidFill>
              <a:latin typeface="Arial"/>
              <a:ea typeface="Arial"/>
              <a:cs typeface="Arial"/>
              <a:sym typeface="Arial"/>
            </a:endParaRPr>
          </a:p>
        </p:txBody>
      </p:sp>
      <p:sp>
        <p:nvSpPr>
          <p:cNvPr id="152" name="Google Shape;152;g3d2b26f9c3f_2_119"/>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53" name="Google Shape;153;g3d2b26f9c3f_2_119"/>
          <p:cNvSpPr/>
          <p:nvPr/>
        </p:nvSpPr>
        <p:spPr>
          <a:xfrm>
            <a:off x="1143000" y="914400"/>
            <a:ext cx="7085880" cy="388548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pic>
        <p:nvPicPr>
          <p:cNvPr id="154" name="Google Shape;154;g3d2b26f9c3f_2_119"/>
          <p:cNvPicPr preferRelativeResize="0"/>
          <p:nvPr/>
        </p:nvPicPr>
        <p:blipFill rotWithShape="1">
          <a:blip r:embed="rId3">
            <a:alphaModFix/>
          </a:blip>
          <a:srcRect/>
          <a:stretch/>
        </p:blipFill>
        <p:spPr>
          <a:xfrm>
            <a:off x="2514600" y="1316880"/>
            <a:ext cx="4543920" cy="3025800"/>
          </a:xfrm>
          <a:prstGeom prst="rect">
            <a:avLst/>
          </a:prstGeom>
          <a:noFill/>
          <a:ln>
            <a:noFill/>
          </a:ln>
        </p:spPr>
      </p:pic>
      <p:sp>
        <p:nvSpPr>
          <p:cNvPr id="155" name="Google Shape;155;g3d2b26f9c3f_2_119"/>
          <p:cNvSpPr/>
          <p:nvPr/>
        </p:nvSpPr>
        <p:spPr>
          <a:xfrm>
            <a:off x="457200" y="442440"/>
            <a:ext cx="4619880" cy="471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Structure of Knowledge</a:t>
            </a:r>
            <a:endParaRPr sz="2200" b="0" u="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60"/>
        <p:cNvGrpSpPr/>
        <p:nvPr/>
      </p:nvGrpSpPr>
      <p:grpSpPr>
        <a:xfrm>
          <a:off x="0" y="0"/>
          <a:ext cx="0" cy="0"/>
          <a:chOff x="0" y="0"/>
          <a:chExt cx="0" cy="0"/>
        </a:xfrm>
      </p:grpSpPr>
      <p:sp>
        <p:nvSpPr>
          <p:cNvPr id="161" name="Google Shape;161;g3d2b26f9c3f_2_128"/>
          <p:cNvSpPr/>
          <p:nvPr/>
        </p:nvSpPr>
        <p:spPr>
          <a:xfrm>
            <a:off x="502920" y="274320"/>
            <a:ext cx="8228520" cy="20016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SCIENTIFIC PAPER</a:t>
            </a:r>
            <a:endParaRPr sz="1100" b="0" u="none" strike="noStrike">
              <a:solidFill>
                <a:srgbClr val="000000"/>
              </a:solidFill>
              <a:latin typeface="Arial"/>
              <a:ea typeface="Arial"/>
              <a:cs typeface="Arial"/>
              <a:sym typeface="Arial"/>
            </a:endParaRPr>
          </a:p>
        </p:txBody>
      </p:sp>
      <p:sp>
        <p:nvSpPr>
          <p:cNvPr id="162" name="Google Shape;162;g3d2b26f9c3f_2_128"/>
          <p:cNvSpPr/>
          <p:nvPr/>
        </p:nvSpPr>
        <p:spPr>
          <a:xfrm>
            <a:off x="502920" y="502920"/>
            <a:ext cx="8228520" cy="501840"/>
          </a:xfrm>
          <a:prstGeom prst="rect">
            <a:avLst/>
          </a:prstGeom>
          <a:noFill/>
          <a:ln>
            <a:noFill/>
          </a:ln>
        </p:spPr>
        <p:txBody>
          <a:bodyPr spcFirstLastPara="1" wrap="square" lIns="90000" tIns="45000" rIns="90000" bIns="45000" anchor="ctr"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3" name="Google Shape;163;g3d2b26f9c3f_2_128"/>
          <p:cNvSpPr/>
          <p:nvPr/>
        </p:nvSpPr>
        <p:spPr>
          <a:xfrm>
            <a:off x="1143000" y="914400"/>
            <a:ext cx="7085880" cy="3885480"/>
          </a:xfrm>
          <a:prstGeom prst="rect">
            <a:avLst/>
          </a:prstGeom>
          <a:solidFill>
            <a:srgbClr val="FFFFFF"/>
          </a:solidFill>
          <a:ln w="9525" cap="flat" cmpd="sng">
            <a:solidFill>
              <a:srgbClr val="E5E7EB"/>
            </a:solidFill>
            <a:prstDash val="solid"/>
            <a:round/>
            <a:headEnd type="none" w="sm" len="sm"/>
            <a:tailEnd type="none" w="sm" len="sm"/>
          </a:ln>
          <a:effectLst>
            <a:outerShdw blurRad="76320" dist="25455" dir="8100000" algn="bl" rotWithShape="0">
              <a:srgbClr val="000000">
                <a:alpha val="5882"/>
              </a:srgb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4" name="Google Shape;164;g3d2b26f9c3f_2_128"/>
          <p:cNvSpPr/>
          <p:nvPr/>
        </p:nvSpPr>
        <p:spPr>
          <a:xfrm>
            <a:off x="457200" y="442440"/>
            <a:ext cx="4619880" cy="47124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Structure of the Data</a:t>
            </a:r>
            <a:endParaRPr sz="2200" b="0" u="none" strike="noStrike">
              <a:solidFill>
                <a:srgbClr val="000000"/>
              </a:solidFill>
              <a:latin typeface="Arial"/>
              <a:ea typeface="Arial"/>
              <a:cs typeface="Arial"/>
              <a:sym typeface="Arial"/>
            </a:endParaRPr>
          </a:p>
        </p:txBody>
      </p:sp>
      <p:pic>
        <p:nvPicPr>
          <p:cNvPr id="165" name="Google Shape;165;g3d2b26f9c3f_2_128"/>
          <p:cNvPicPr preferRelativeResize="0"/>
          <p:nvPr/>
        </p:nvPicPr>
        <p:blipFill rotWithShape="1">
          <a:blip r:embed="rId3">
            <a:alphaModFix/>
          </a:blip>
          <a:srcRect/>
          <a:stretch/>
        </p:blipFill>
        <p:spPr>
          <a:xfrm>
            <a:off x="1828800" y="1353240"/>
            <a:ext cx="5513040" cy="1389240"/>
          </a:xfrm>
          <a:prstGeom prst="rect">
            <a:avLst/>
          </a:prstGeom>
          <a:noFill/>
          <a:ln>
            <a:noFill/>
          </a:ln>
        </p:spPr>
      </p:pic>
      <p:pic>
        <p:nvPicPr>
          <p:cNvPr id="166" name="Google Shape;166;g3d2b26f9c3f_2_128"/>
          <p:cNvPicPr preferRelativeResize="0"/>
          <p:nvPr/>
        </p:nvPicPr>
        <p:blipFill rotWithShape="1">
          <a:blip r:embed="rId4">
            <a:alphaModFix/>
          </a:blip>
          <a:srcRect/>
          <a:stretch/>
        </p:blipFill>
        <p:spPr>
          <a:xfrm>
            <a:off x="1828800" y="2935080"/>
            <a:ext cx="6061680" cy="13892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170"/>
        <p:cNvGrpSpPr/>
        <p:nvPr/>
      </p:nvGrpSpPr>
      <p:grpSpPr>
        <a:xfrm>
          <a:off x="0" y="0"/>
          <a:ext cx="0" cy="0"/>
          <a:chOff x="0" y="0"/>
          <a:chExt cx="0" cy="0"/>
        </a:xfrm>
      </p:grpSpPr>
      <p:grpSp>
        <p:nvGrpSpPr>
          <p:cNvPr id="171" name="Google Shape;171;p16"/>
          <p:cNvGrpSpPr/>
          <p:nvPr/>
        </p:nvGrpSpPr>
        <p:grpSpPr>
          <a:xfrm>
            <a:off x="4175267" y="4374298"/>
            <a:ext cx="639600" cy="255600"/>
            <a:chOff x="7499160" y="4485600"/>
            <a:chExt cx="639600" cy="255600"/>
          </a:xfrm>
        </p:grpSpPr>
        <p:sp>
          <p:nvSpPr>
            <p:cNvPr id="172" name="Google Shape;172;p16"/>
            <p:cNvSpPr/>
            <p:nvPr/>
          </p:nvSpPr>
          <p:spPr>
            <a:xfrm>
              <a:off x="7499160" y="4485600"/>
              <a:ext cx="639600" cy="255600"/>
            </a:xfrm>
            <a:prstGeom prst="roundRect">
              <a:avLst>
                <a:gd name="adj" fmla="val 50000"/>
              </a:avLst>
            </a:prstGeom>
            <a:solidFill>
              <a:srgbClr val="0D2137">
                <a:alpha val="60000"/>
              </a:srgbClr>
            </a:solidFill>
            <a:ln w="9525" cap="flat" cmpd="sng">
              <a:solidFill>
                <a:srgbClr val="FFFFFF">
                  <a:alpha val="25099"/>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173" name="Google Shape;173;p16"/>
            <p:cNvSpPr/>
            <p:nvPr/>
          </p:nvSpPr>
          <p:spPr>
            <a:xfrm>
              <a:off x="7499160" y="4485600"/>
              <a:ext cx="639600" cy="255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DDDDD"/>
                </a:buClr>
                <a:buSzPts val="1000"/>
                <a:buFont typeface="Courier New"/>
                <a:buNone/>
              </a:pPr>
              <a:r>
                <a:rPr lang="de-DE" sz="1000" b="0" i="0" u="none" strike="noStrike" cap="none">
                  <a:solidFill>
                    <a:srgbClr val="DDDDDD"/>
                  </a:solidFill>
                  <a:latin typeface="Courier New"/>
                  <a:ea typeface="Courier New"/>
                  <a:cs typeface="Courier New"/>
                  <a:sym typeface="Courier New"/>
                </a:rPr>
                <a:t>Viktor</a:t>
              </a:r>
              <a:endParaRPr sz="1000" b="0" i="0" u="none" strike="noStrike" cap="none">
                <a:solidFill>
                  <a:srgbClr val="FFFFFF"/>
                </a:solidFill>
                <a:latin typeface="Arial"/>
                <a:ea typeface="Arial"/>
                <a:cs typeface="Arial"/>
                <a:sym typeface="Arial"/>
              </a:endParaRPr>
            </a:p>
          </p:txBody>
        </p:sp>
      </p:grpSp>
      <p:sp>
        <p:nvSpPr>
          <p:cNvPr id="174" name="Google Shape;174;p16"/>
          <p:cNvSpPr/>
          <p:nvPr/>
        </p:nvSpPr>
        <p:spPr>
          <a:xfrm>
            <a:off x="645420" y="924130"/>
            <a:ext cx="7955400" cy="20112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FFFFFF"/>
              </a:buClr>
              <a:buSzPts val="4400"/>
              <a:buFont typeface="Georgia"/>
              <a:buNone/>
            </a:pPr>
            <a:r>
              <a:rPr lang="de-DE" sz="4400" b="1">
                <a:solidFill>
                  <a:srgbClr val="FFFFFF"/>
                </a:solidFill>
                <a:latin typeface="Georgia"/>
                <a:ea typeface="Georgia"/>
                <a:cs typeface="Georgia"/>
                <a:sym typeface="Georgia"/>
              </a:rPr>
              <a:t>PMC Research Assistant</a:t>
            </a:r>
            <a:endParaRPr sz="4400" b="0" i="0" u="none" strike="noStrike" cap="none">
              <a:solidFill>
                <a:srgbClr val="FFFFFF"/>
              </a:solidFill>
              <a:latin typeface="Arial"/>
              <a:ea typeface="Arial"/>
              <a:cs typeface="Arial"/>
              <a:sym typeface="Arial"/>
            </a:endParaRPr>
          </a:p>
          <a:p>
            <a:pPr marL="0" marR="0" lvl="0" indent="0" algn="l" rtl="0">
              <a:lnSpc>
                <a:spcPct val="110000"/>
              </a:lnSpc>
              <a:spcBef>
                <a:spcPts val="0"/>
              </a:spcBef>
              <a:spcAft>
                <a:spcPts val="0"/>
              </a:spcAft>
              <a:buClr>
                <a:srgbClr val="12B39A"/>
              </a:buClr>
              <a:buSzPts val="2200"/>
              <a:buFont typeface="Georgia"/>
              <a:buNone/>
            </a:pPr>
            <a:r>
              <a:rPr lang="de-DE" sz="2200" b="1" i="1" u="none" strike="noStrike" cap="none">
                <a:solidFill>
                  <a:srgbClr val="12B39A"/>
                </a:solidFill>
                <a:latin typeface="Georgia"/>
                <a:ea typeface="Georgia"/>
                <a:cs typeface="Georgia"/>
                <a:sym typeface="Georgia"/>
              </a:rPr>
              <a:t>             </a:t>
            </a:r>
            <a:r>
              <a:rPr lang="de-DE" sz="2200" b="1" i="1">
                <a:solidFill>
                  <a:srgbClr val="12B39A"/>
                </a:solidFill>
                <a:latin typeface="Georgia"/>
                <a:ea typeface="Georgia"/>
                <a:cs typeface="Georgia"/>
                <a:sym typeface="Georgia"/>
              </a:rPr>
              <a:t>From  a Clinical Question to a Reliable Answer</a:t>
            </a:r>
            <a:r>
              <a:rPr lang="de-DE" sz="2200" b="1" i="1" u="none" strike="noStrike" cap="none">
                <a:solidFill>
                  <a:srgbClr val="12B39A"/>
                </a:solidFill>
                <a:latin typeface="Georgia"/>
                <a:ea typeface="Georgia"/>
                <a:cs typeface="Georgia"/>
                <a:sym typeface="Georgia"/>
              </a:rPr>
              <a:t> </a:t>
            </a:r>
            <a:endParaRPr sz="2200" b="0" i="0" u="none" strike="noStrike" cap="none">
              <a:solidFill>
                <a:srgbClr val="FFFFFF"/>
              </a:solidFill>
              <a:latin typeface="Arial"/>
              <a:ea typeface="Arial"/>
              <a:cs typeface="Arial"/>
              <a:sym typeface="Arial"/>
            </a:endParaRPr>
          </a:p>
        </p:txBody>
      </p:sp>
      <p:sp>
        <p:nvSpPr>
          <p:cNvPr id="175" name="Google Shape;175;p16"/>
          <p:cNvSpPr txBox="1"/>
          <p:nvPr/>
        </p:nvSpPr>
        <p:spPr>
          <a:xfrm>
            <a:off x="2378675" y="3070525"/>
            <a:ext cx="44889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de-DE" sz="1700">
                <a:solidFill>
                  <a:srgbClr val="DDDDDD"/>
                </a:solidFill>
                <a:latin typeface="Courier New"/>
                <a:ea typeface="Courier New"/>
                <a:cs typeface="Courier New"/>
                <a:sym typeface="Courier New"/>
              </a:rPr>
              <a:t>Part I. The Pipeline</a:t>
            </a:r>
            <a:endParaRPr sz="1700">
              <a:solidFill>
                <a:srgbClr val="DDDDDD"/>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180"/>
        <p:cNvGrpSpPr/>
        <p:nvPr/>
      </p:nvGrpSpPr>
      <p:grpSpPr>
        <a:xfrm>
          <a:off x="0" y="0"/>
          <a:ext cx="0" cy="0"/>
          <a:chOff x="0" y="0"/>
          <a:chExt cx="0" cy="0"/>
        </a:xfrm>
      </p:grpSpPr>
      <p:sp>
        <p:nvSpPr>
          <p:cNvPr id="181" name="Google Shape;181;g3d2a2c2e009_3_4"/>
          <p:cNvSpPr/>
          <p:nvPr/>
        </p:nvSpPr>
        <p:spPr>
          <a:xfrm>
            <a:off x="502920" y="201240"/>
            <a:ext cx="1869120" cy="2188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HOW IT WORKS</a:t>
            </a:r>
            <a:endParaRPr sz="1100" b="0" u="none" strike="noStrike">
              <a:solidFill>
                <a:srgbClr val="000000"/>
              </a:solidFill>
              <a:latin typeface="Arial"/>
              <a:ea typeface="Arial"/>
              <a:cs typeface="Arial"/>
              <a:sym typeface="Arial"/>
            </a:endParaRPr>
          </a:p>
        </p:txBody>
      </p:sp>
      <p:sp>
        <p:nvSpPr>
          <p:cNvPr id="182" name="Google Shape;182;g3d2a2c2e009_3_4"/>
          <p:cNvSpPr/>
          <p:nvPr/>
        </p:nvSpPr>
        <p:spPr>
          <a:xfrm>
            <a:off x="502920" y="420480"/>
            <a:ext cx="8228880" cy="456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Pipeline — Clinical Question to Answer</a:t>
            </a:r>
            <a:endParaRPr sz="2200" b="0" u="none" strike="noStrike">
              <a:solidFill>
                <a:srgbClr val="000000"/>
              </a:solidFill>
              <a:latin typeface="Arial"/>
              <a:ea typeface="Arial"/>
              <a:cs typeface="Arial"/>
              <a:sym typeface="Arial"/>
            </a:endParaRPr>
          </a:p>
        </p:txBody>
      </p:sp>
      <p:sp>
        <p:nvSpPr>
          <p:cNvPr id="183" name="Google Shape;183;g3d2a2c2e009_3_4"/>
          <p:cNvSpPr/>
          <p:nvPr/>
        </p:nvSpPr>
        <p:spPr>
          <a:xfrm>
            <a:off x="502920" y="956854"/>
            <a:ext cx="8229000" cy="2004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First Iteration</a:t>
            </a:r>
            <a:r>
              <a:rPr lang="de-DE" sz="1100" b="0" u="none" strike="noStrike">
                <a:solidFill>
                  <a:srgbClr val="0A7C6E"/>
                </a:solidFill>
                <a:latin typeface="Courier New"/>
                <a:ea typeface="Courier New"/>
                <a:cs typeface="Courier New"/>
                <a:sym typeface="Courier New"/>
              </a:rPr>
              <a:t>: </a:t>
            </a:r>
            <a:r>
              <a:rPr lang="de-DE" sz="1100" b="1" u="none" strike="noStrike">
                <a:solidFill>
                  <a:srgbClr val="0A7C6E"/>
                </a:solidFill>
                <a:latin typeface="Courier New"/>
                <a:ea typeface="Courier New"/>
                <a:cs typeface="Courier New"/>
                <a:sym typeface="Courier New"/>
              </a:rPr>
              <a:t>Lexicographical Processing Only</a:t>
            </a:r>
            <a:endParaRPr sz="1100" b="1" u="none" strike="noStrike">
              <a:solidFill>
                <a:srgbClr val="000000"/>
              </a:solidFill>
            </a:endParaRPr>
          </a:p>
        </p:txBody>
      </p:sp>
      <p:sp>
        <p:nvSpPr>
          <p:cNvPr id="184" name="Google Shape;184;g3d2a2c2e009_3_4"/>
          <p:cNvSpPr txBox="1"/>
          <p:nvPr/>
        </p:nvSpPr>
        <p:spPr>
          <a:xfrm>
            <a:off x="4676947" y="5187085"/>
            <a:ext cx="2479500" cy="1025100"/>
          </a:xfrm>
          <a:prstGeom prst="rect">
            <a:avLst/>
          </a:prstGeom>
          <a:noFill/>
          <a:ln>
            <a:noFill/>
          </a:ln>
        </p:spPr>
        <p:txBody>
          <a:bodyPr spcFirstLastPara="1" wrap="square" lIns="91425" tIns="45700" rIns="91425" bIns="45700" anchor="t" anchorCtr="0">
            <a:spAutoFit/>
          </a:bodyPr>
          <a:lstStyle/>
          <a:p>
            <a:pPr marL="0" marR="0" lvl="0" indent="0" algn="l" rtl="0">
              <a:lnSpc>
                <a:spcPct val="135000"/>
              </a:lnSpc>
              <a:spcBef>
                <a:spcPts val="0"/>
              </a:spcBef>
              <a:spcAft>
                <a:spcPts val="0"/>
              </a:spcAft>
              <a:buNone/>
            </a:pPr>
            <a:r>
              <a:rPr lang="de-DE" sz="1200" b="1" i="1">
                <a:solidFill>
                  <a:srgbClr val="0D2137"/>
                </a:solidFill>
                <a:latin typeface="Georgia"/>
                <a:ea typeface="Georgia"/>
                <a:cs typeface="Georgia"/>
                <a:sym typeface="Georgia"/>
              </a:rPr>
              <a:t>No paper retrieved. </a:t>
            </a:r>
            <a:br>
              <a:rPr lang="de-DE" sz="1200" b="1" i="1">
                <a:solidFill>
                  <a:srgbClr val="0D2137"/>
                </a:solidFill>
                <a:latin typeface="Georgia"/>
                <a:ea typeface="Georgia"/>
                <a:cs typeface="Georgia"/>
                <a:sym typeface="Georgia"/>
              </a:rPr>
            </a:br>
            <a:r>
              <a:rPr lang="de-DE" sz="1200" b="1" i="1">
                <a:solidFill>
                  <a:srgbClr val="0D2137"/>
                </a:solidFill>
                <a:latin typeface="Georgia"/>
                <a:ea typeface="Georgia"/>
                <a:cs typeface="Georgia"/>
                <a:sym typeface="Georgia"/>
              </a:rPr>
              <a:t>LLM answered from general </a:t>
            </a:r>
            <a:endParaRPr/>
          </a:p>
          <a:p>
            <a:pPr marL="0" marR="0" lvl="0" indent="0" algn="l" rtl="0">
              <a:lnSpc>
                <a:spcPct val="135000"/>
              </a:lnSpc>
              <a:spcBef>
                <a:spcPts val="0"/>
              </a:spcBef>
              <a:spcAft>
                <a:spcPts val="0"/>
              </a:spcAft>
              <a:buNone/>
            </a:pPr>
            <a:r>
              <a:rPr lang="de-DE" sz="1200" b="1" i="1">
                <a:solidFill>
                  <a:srgbClr val="0D2137"/>
                </a:solidFill>
                <a:latin typeface="Georgia"/>
                <a:ea typeface="Georgia"/>
                <a:cs typeface="Georgia"/>
                <a:sym typeface="Georgia"/>
              </a:rPr>
              <a:t>training only. </a:t>
            </a:r>
            <a:endParaRPr/>
          </a:p>
          <a:p>
            <a:pPr marL="0" marR="0" lvl="0" indent="0" algn="l" rtl="0">
              <a:lnSpc>
                <a:spcPct val="135000"/>
              </a:lnSpc>
              <a:spcBef>
                <a:spcPts val="0"/>
              </a:spcBef>
              <a:spcAft>
                <a:spcPts val="0"/>
              </a:spcAft>
              <a:buNone/>
            </a:pPr>
            <a:r>
              <a:rPr lang="de-DE" sz="1200" b="1" i="1">
                <a:solidFill>
                  <a:srgbClr val="0D2137"/>
                </a:solidFill>
                <a:latin typeface="Georgia"/>
                <a:ea typeface="Georgia"/>
                <a:cs typeface="Georgia"/>
                <a:sym typeface="Georgia"/>
              </a:rPr>
              <a:t>no context, no citations.</a:t>
            </a:r>
            <a:endParaRPr sz="2000" b="1" i="1">
              <a:solidFill>
                <a:srgbClr val="0D2137"/>
              </a:solidFill>
              <a:latin typeface="Georgia"/>
              <a:ea typeface="Georgia"/>
              <a:cs typeface="Georgia"/>
              <a:sym typeface="Georgia"/>
            </a:endParaRPr>
          </a:p>
        </p:txBody>
      </p:sp>
      <p:sp>
        <p:nvSpPr>
          <p:cNvPr id="185" name="Google Shape;185;g3d2a2c2e009_3_4"/>
          <p:cNvSpPr/>
          <p:nvPr/>
        </p:nvSpPr>
        <p:spPr>
          <a:xfrm>
            <a:off x="1319709" y="1563357"/>
            <a:ext cx="1142400" cy="822300"/>
          </a:xfrm>
          <a:prstGeom prst="rect">
            <a:avLst/>
          </a:prstGeom>
          <a:solidFill>
            <a:srgbClr val="9ABDD8"/>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endParaRPr sz="1100"/>
          </a:p>
        </p:txBody>
      </p:sp>
      <p:sp>
        <p:nvSpPr>
          <p:cNvPr id="186" name="Google Shape;186;g3d2a2c2e009_3_4"/>
          <p:cNvSpPr/>
          <p:nvPr/>
        </p:nvSpPr>
        <p:spPr>
          <a:xfrm>
            <a:off x="1374609" y="178280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0D2137"/>
                </a:solidFill>
                <a:latin typeface="Georgia"/>
                <a:ea typeface="Georgia"/>
                <a:cs typeface="Georgia"/>
                <a:sym typeface="Georgia"/>
              </a:rPr>
              <a:t>Query</a:t>
            </a:r>
            <a:endParaRPr sz="1100" b="1" u="none" strike="noStrike">
              <a:solidFill>
                <a:srgbClr val="000000"/>
              </a:solidFill>
              <a:latin typeface="Georgia"/>
              <a:ea typeface="Georgia"/>
              <a:cs typeface="Georgia"/>
              <a:sym typeface="Georgia"/>
            </a:endParaRPr>
          </a:p>
        </p:txBody>
      </p:sp>
      <p:sp>
        <p:nvSpPr>
          <p:cNvPr id="187" name="Google Shape;187;g3d2a2c2e009_3_4"/>
          <p:cNvSpPr/>
          <p:nvPr/>
        </p:nvSpPr>
        <p:spPr>
          <a:xfrm>
            <a:off x="2667429" y="1563357"/>
            <a:ext cx="1142400" cy="822300"/>
          </a:xfrm>
          <a:prstGeom prst="rect">
            <a:avLst/>
          </a:prstGeom>
          <a:solidFill>
            <a:schemeClr val="lt1"/>
          </a:solidFill>
          <a:ln w="9525" cap="flat" cmpd="sng">
            <a:solidFill>
              <a:srgbClr val="DDDDDD"/>
            </a:solidFill>
            <a:prstDash val="solid"/>
            <a:round/>
            <a:headEnd type="none" w="sm" len="sm"/>
            <a:tailEnd type="none" w="sm" len="sm"/>
          </a:ln>
          <a:effectLst>
            <a:outerShdw blurRad="50760" dist="12218" dir="8100000" algn="bl" rotWithShape="0">
              <a:schemeClr val="lt1">
                <a:alpha val="7060"/>
              </a:schemeClr>
            </a:outerShdw>
          </a:effectLst>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endParaRPr sz="1100"/>
          </a:p>
        </p:txBody>
      </p:sp>
      <p:sp>
        <p:nvSpPr>
          <p:cNvPr id="188" name="Google Shape;188;g3d2a2c2e009_3_4"/>
          <p:cNvSpPr/>
          <p:nvPr/>
        </p:nvSpPr>
        <p:spPr>
          <a:xfrm>
            <a:off x="2722329" y="178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Keyword</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Search</a:t>
            </a:r>
            <a:endParaRPr sz="1100" u="none" strike="noStrike">
              <a:solidFill>
                <a:srgbClr val="000000"/>
              </a:solidFill>
              <a:latin typeface="Georgia"/>
              <a:ea typeface="Georgia"/>
              <a:cs typeface="Georgia"/>
              <a:sym typeface="Georgia"/>
            </a:endParaRPr>
          </a:p>
        </p:txBody>
      </p:sp>
      <p:sp>
        <p:nvSpPr>
          <p:cNvPr id="189" name="Google Shape;189;g3d2a2c2e009_3_4"/>
          <p:cNvSpPr/>
          <p:nvPr/>
        </p:nvSpPr>
        <p:spPr>
          <a:xfrm>
            <a:off x="5297349" y="1800984"/>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90" name="Google Shape;190;g3d2a2c2e009_3_4"/>
          <p:cNvSpPr/>
          <p:nvPr/>
        </p:nvSpPr>
        <p:spPr>
          <a:xfrm>
            <a:off x="5329389" y="1563327"/>
            <a:ext cx="1142400" cy="822300"/>
          </a:xfrm>
          <a:prstGeom prst="rect">
            <a:avLst/>
          </a:prstGeom>
          <a:solidFill>
            <a:srgbClr val="FFFFFF"/>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91" name="Google Shape;191;g3d2a2c2e009_3_4"/>
          <p:cNvSpPr/>
          <p:nvPr/>
        </p:nvSpPr>
        <p:spPr>
          <a:xfrm>
            <a:off x="5411739" y="1782777"/>
            <a:ext cx="1032600" cy="3834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Top-K</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Articles</a:t>
            </a:r>
            <a:endParaRPr sz="1100" u="none" strike="noStrike">
              <a:solidFill>
                <a:srgbClr val="000000"/>
              </a:solidFill>
              <a:latin typeface="Georgia"/>
              <a:ea typeface="Georgia"/>
              <a:cs typeface="Georgia"/>
              <a:sym typeface="Georgia"/>
            </a:endParaRPr>
          </a:p>
        </p:txBody>
      </p:sp>
      <p:sp>
        <p:nvSpPr>
          <p:cNvPr id="192" name="Google Shape;192;g3d2a2c2e009_3_4"/>
          <p:cNvSpPr/>
          <p:nvPr/>
        </p:nvSpPr>
        <p:spPr>
          <a:xfrm>
            <a:off x="6681909" y="1563327"/>
            <a:ext cx="1142400" cy="822300"/>
          </a:xfrm>
          <a:prstGeom prst="rect">
            <a:avLst/>
          </a:prstGeom>
          <a:solidFill>
            <a:srgbClr val="2A4A6A"/>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193" name="Google Shape;193;g3d2a2c2e009_3_4"/>
          <p:cNvSpPr/>
          <p:nvPr/>
        </p:nvSpPr>
        <p:spPr>
          <a:xfrm>
            <a:off x="6736809" y="178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LLM</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Answer</a:t>
            </a:r>
            <a:endParaRPr sz="1100" u="none" strike="noStrike">
              <a:solidFill>
                <a:srgbClr val="000000"/>
              </a:solidFill>
              <a:latin typeface="Georgia"/>
              <a:ea typeface="Georgia"/>
              <a:cs typeface="Georgia"/>
              <a:sym typeface="Georgia"/>
            </a:endParaRPr>
          </a:p>
        </p:txBody>
      </p:sp>
      <p:sp>
        <p:nvSpPr>
          <p:cNvPr id="194" name="Google Shape;194;g3d2a2c2e009_3_4"/>
          <p:cNvSpPr/>
          <p:nvPr/>
        </p:nvSpPr>
        <p:spPr>
          <a:xfrm>
            <a:off x="4015149" y="1563327"/>
            <a:ext cx="1108800" cy="822300"/>
          </a:xfrm>
          <a:prstGeom prst="rect">
            <a:avLst/>
          </a:prstGeom>
          <a:solidFill>
            <a:schemeClr val="lt1"/>
          </a:solidFill>
          <a:ln w="9525" cap="flat" cmpd="sng">
            <a:solidFill>
              <a:srgbClr val="DDDDDD"/>
            </a:solidFill>
            <a:prstDash val="solid"/>
            <a:round/>
            <a:headEnd type="none" w="sm" len="sm"/>
            <a:tailEnd type="none" w="sm" len="sm"/>
          </a:ln>
          <a:effectLst>
            <a:outerShdw blurRad="50760" dist="12218" dir="8100000" algn="bl" rotWithShape="0">
              <a:schemeClr val="lt1">
                <a:alpha val="7060"/>
              </a:scheme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a:latin typeface="Georgia"/>
                <a:ea typeface="Georgia"/>
                <a:cs typeface="Georgia"/>
                <a:sym typeface="Georgia"/>
              </a:rPr>
              <a:t>Chunking</a:t>
            </a:r>
            <a:br>
              <a:rPr lang="de-DE" sz="1100">
                <a:latin typeface="Georgia"/>
                <a:ea typeface="Georgia"/>
                <a:cs typeface="Georgia"/>
                <a:sym typeface="Georgia"/>
              </a:rPr>
            </a:br>
            <a:r>
              <a:rPr lang="de-DE" sz="1100">
                <a:latin typeface="Georgia"/>
                <a:ea typeface="Georgia"/>
                <a:cs typeface="Georgia"/>
                <a:sym typeface="Georgia"/>
              </a:rPr>
              <a:t>embedding</a:t>
            </a:r>
            <a:endParaRPr sz="1100">
              <a:latin typeface="Georgia"/>
              <a:ea typeface="Georgia"/>
              <a:cs typeface="Georgia"/>
              <a:sym typeface="Georgia"/>
            </a:endParaRPr>
          </a:p>
        </p:txBody>
      </p:sp>
      <p:cxnSp>
        <p:nvCxnSpPr>
          <p:cNvPr id="195" name="Google Shape;195;g3d2a2c2e009_3_4"/>
          <p:cNvCxnSpPr>
            <a:stCxn id="186" idx="3"/>
            <a:endCxn id="188" idx="1"/>
          </p:cNvCxnSpPr>
          <p:nvPr/>
        </p:nvCxnSpPr>
        <p:spPr>
          <a:xfrm>
            <a:off x="2407209" y="1974507"/>
            <a:ext cx="315000" cy="0"/>
          </a:xfrm>
          <a:prstGeom prst="straightConnector1">
            <a:avLst/>
          </a:prstGeom>
          <a:noFill/>
          <a:ln w="28575" cap="flat" cmpd="sng">
            <a:solidFill>
              <a:srgbClr val="0A7C6E"/>
            </a:solidFill>
            <a:prstDash val="solid"/>
            <a:round/>
            <a:headEnd type="none" w="sm" len="sm"/>
            <a:tailEnd type="stealth" w="med" len="med"/>
          </a:ln>
        </p:spPr>
      </p:cxnSp>
      <p:cxnSp>
        <p:nvCxnSpPr>
          <p:cNvPr id="196" name="Google Shape;196;g3d2a2c2e009_3_4"/>
          <p:cNvCxnSpPr>
            <a:stCxn id="194" idx="3"/>
            <a:endCxn id="191" idx="1"/>
          </p:cNvCxnSpPr>
          <p:nvPr/>
        </p:nvCxnSpPr>
        <p:spPr>
          <a:xfrm>
            <a:off x="5123949" y="1974477"/>
            <a:ext cx="287700" cy="0"/>
          </a:xfrm>
          <a:prstGeom prst="straightConnector1">
            <a:avLst/>
          </a:prstGeom>
          <a:noFill/>
          <a:ln w="28575" cap="flat" cmpd="sng">
            <a:solidFill>
              <a:srgbClr val="0A7C6E"/>
            </a:solidFill>
            <a:prstDash val="solid"/>
            <a:round/>
            <a:headEnd type="none" w="sm" len="sm"/>
            <a:tailEnd type="stealth" w="med" len="med"/>
          </a:ln>
        </p:spPr>
      </p:cxnSp>
      <p:cxnSp>
        <p:nvCxnSpPr>
          <p:cNvPr id="197" name="Google Shape;197;g3d2a2c2e009_3_4"/>
          <p:cNvCxnSpPr>
            <a:stCxn id="191" idx="3"/>
            <a:endCxn id="193" idx="1"/>
          </p:cNvCxnSpPr>
          <p:nvPr/>
        </p:nvCxnSpPr>
        <p:spPr>
          <a:xfrm>
            <a:off x="6444339" y="1974477"/>
            <a:ext cx="292500" cy="0"/>
          </a:xfrm>
          <a:prstGeom prst="straightConnector1">
            <a:avLst/>
          </a:prstGeom>
          <a:noFill/>
          <a:ln w="28575" cap="flat" cmpd="sng">
            <a:solidFill>
              <a:srgbClr val="0A7C6E"/>
            </a:solidFill>
            <a:prstDash val="solid"/>
            <a:round/>
            <a:headEnd type="none" w="sm" len="sm"/>
            <a:tailEnd type="stealth" w="med" len="med"/>
          </a:ln>
        </p:spPr>
      </p:cxnSp>
      <p:sp>
        <p:nvSpPr>
          <p:cNvPr id="198" name="Google Shape;198;g3d2a2c2e009_3_4"/>
          <p:cNvSpPr/>
          <p:nvPr/>
        </p:nvSpPr>
        <p:spPr>
          <a:xfrm>
            <a:off x="4951634" y="3305945"/>
            <a:ext cx="2868000" cy="1025100"/>
          </a:xfrm>
          <a:prstGeom prst="rect">
            <a:avLst/>
          </a:prstGeom>
          <a:solidFill>
            <a:srgbClr val="E5C9C3"/>
          </a:solidFill>
          <a:ln>
            <a:noFill/>
          </a:ln>
          <a:effectLst>
            <a:outerShdw blurRad="57150" dist="19050" dir="5400000" algn="bl" rotWithShape="0">
              <a:srgbClr val="000000">
                <a:alpha val="50000"/>
              </a:srgbClr>
            </a:outerShdw>
          </a:effectLst>
        </p:spPr>
        <p:txBody>
          <a:bodyPr spcFirstLastPara="1" wrap="square" lIns="126000" tIns="82800" rIns="126000" bIns="82800" anchor="t" anchorCtr="0">
            <a:noAutofit/>
          </a:bodyPr>
          <a:lstStyle/>
          <a:p>
            <a:pPr marL="0" marR="0" lvl="0" indent="0" algn="l" rtl="0">
              <a:lnSpc>
                <a:spcPct val="135000"/>
              </a:lnSpc>
              <a:spcBef>
                <a:spcPts val="0"/>
              </a:spcBef>
              <a:spcAft>
                <a:spcPts val="0"/>
              </a:spcAft>
              <a:buNone/>
            </a:pPr>
            <a:r>
              <a:rPr lang="de-DE" sz="1050" b="1" i="1" u="none" strike="noStrike">
                <a:solidFill>
                  <a:srgbClr val="0D2137"/>
                </a:solidFill>
                <a:latin typeface="Georgia"/>
                <a:ea typeface="Georgia"/>
                <a:cs typeface="Georgia"/>
                <a:sym typeface="Georgia"/>
              </a:rPr>
              <a:t>No paper retrieved. </a:t>
            </a:r>
            <a:br>
              <a:rPr lang="de-DE" sz="1050">
                <a:latin typeface="Calibri"/>
                <a:ea typeface="Calibri"/>
                <a:cs typeface="Calibri"/>
                <a:sym typeface="Calibri"/>
              </a:rPr>
            </a:br>
            <a:r>
              <a:rPr lang="de-DE" sz="1050" b="1" i="1" u="none" strike="noStrike">
                <a:solidFill>
                  <a:srgbClr val="0D2137"/>
                </a:solidFill>
                <a:latin typeface="Georgia"/>
                <a:ea typeface="Georgia"/>
                <a:cs typeface="Georgia"/>
                <a:sym typeface="Georgia"/>
              </a:rPr>
              <a:t>LLM answered from general training only. </a:t>
            </a:r>
            <a:endParaRPr sz="1050" b="0" u="none" strike="noStrike">
              <a:solidFill>
                <a:srgbClr val="000000"/>
              </a:solidFill>
              <a:latin typeface="Arial"/>
              <a:ea typeface="Arial"/>
              <a:cs typeface="Arial"/>
              <a:sym typeface="Arial"/>
            </a:endParaRPr>
          </a:p>
          <a:p>
            <a:pPr marL="0" marR="0" lvl="0" indent="0" algn="l" rtl="0">
              <a:lnSpc>
                <a:spcPct val="135000"/>
              </a:lnSpc>
              <a:spcBef>
                <a:spcPts val="0"/>
              </a:spcBef>
              <a:spcAft>
                <a:spcPts val="0"/>
              </a:spcAft>
              <a:buNone/>
            </a:pPr>
            <a:r>
              <a:rPr lang="de-DE" sz="1050" b="1" i="1">
                <a:solidFill>
                  <a:srgbClr val="0D2137"/>
                </a:solidFill>
                <a:latin typeface="Georgia"/>
                <a:ea typeface="Georgia"/>
                <a:cs typeface="Georgia"/>
                <a:sym typeface="Georgia"/>
              </a:rPr>
              <a:t>N</a:t>
            </a:r>
            <a:r>
              <a:rPr lang="de-DE" sz="1050" b="1" i="1" u="none" strike="noStrike">
                <a:solidFill>
                  <a:srgbClr val="0D2137"/>
                </a:solidFill>
                <a:latin typeface="Georgia"/>
                <a:ea typeface="Georgia"/>
                <a:cs typeface="Georgia"/>
                <a:sym typeface="Georgia"/>
              </a:rPr>
              <a:t>o context, no citations.</a:t>
            </a:r>
            <a:endParaRPr sz="1050" b="0" u="none" strike="noStrike">
              <a:solidFill>
                <a:srgbClr val="000000"/>
              </a:solidFill>
              <a:latin typeface="Arial"/>
              <a:ea typeface="Arial"/>
              <a:cs typeface="Arial"/>
              <a:sym typeface="Arial"/>
            </a:endParaRPr>
          </a:p>
        </p:txBody>
      </p:sp>
      <p:sp>
        <p:nvSpPr>
          <p:cNvPr id="199" name="Google Shape;199;g3d2a2c2e009_3_4"/>
          <p:cNvSpPr txBox="1"/>
          <p:nvPr/>
        </p:nvSpPr>
        <p:spPr>
          <a:xfrm>
            <a:off x="1432934" y="2466894"/>
            <a:ext cx="6258600" cy="352500"/>
          </a:xfrm>
          <a:prstGeom prst="rect">
            <a:avLst/>
          </a:prstGeom>
          <a:noFill/>
          <a:ln>
            <a:noFill/>
          </a:ln>
        </p:spPr>
        <p:txBody>
          <a:bodyPr spcFirstLastPara="1" wrap="square" lIns="90000" tIns="45000" rIns="90000" bIns="45000" anchor="t" anchorCtr="0">
            <a:spAutoFit/>
          </a:bodyPr>
          <a:lstStyle/>
          <a:p>
            <a:pPr marL="0" marR="0" lvl="0" indent="0" algn="ctr" rtl="0">
              <a:spcBef>
                <a:spcPts val="0"/>
              </a:spcBef>
              <a:spcAft>
                <a:spcPts val="0"/>
              </a:spcAft>
              <a:buNone/>
            </a:pPr>
            <a:r>
              <a:rPr lang="de-DE" sz="1100" b="1" u="none" strike="noStrike">
                <a:solidFill>
                  <a:srgbClr val="6B7280"/>
                </a:solidFill>
                <a:latin typeface="Courier New"/>
                <a:ea typeface="Courier New"/>
                <a:cs typeface="Courier New"/>
                <a:sym typeface="Courier New"/>
              </a:rPr>
              <a:t>Query </a:t>
            </a:r>
            <a:r>
              <a:rPr lang="de-DE" sz="1700" b="1" u="none" strike="noStrike">
                <a:solidFill>
                  <a:srgbClr val="6B7280"/>
                </a:solidFill>
                <a:latin typeface="Courier New"/>
                <a:ea typeface="Courier New"/>
                <a:cs typeface="Courier New"/>
                <a:sym typeface="Courier New"/>
              </a:rPr>
              <a:t>→</a:t>
            </a:r>
            <a:r>
              <a:rPr lang="de-DE" sz="1100" b="1" u="none" strike="noStrike">
                <a:solidFill>
                  <a:srgbClr val="6B7280"/>
                </a:solidFill>
                <a:latin typeface="Courier New"/>
                <a:ea typeface="Courier New"/>
                <a:cs typeface="Courier New"/>
                <a:sym typeface="Courier New"/>
              </a:rPr>
              <a:t> [Lexicographic search only] </a:t>
            </a:r>
            <a:r>
              <a:rPr lang="de-DE" sz="1700" b="1" u="none" strike="noStrike">
                <a:solidFill>
                  <a:srgbClr val="6B7280"/>
                </a:solidFill>
                <a:latin typeface="Courier New"/>
                <a:ea typeface="Courier New"/>
                <a:cs typeface="Courier New"/>
                <a:sym typeface="Courier New"/>
              </a:rPr>
              <a:t>→</a:t>
            </a:r>
            <a:r>
              <a:rPr lang="de-DE" sz="1100" b="1" u="none" strike="noStrike">
                <a:solidFill>
                  <a:srgbClr val="6B7280"/>
                </a:solidFill>
                <a:latin typeface="Courier New"/>
                <a:ea typeface="Courier New"/>
                <a:cs typeface="Courier New"/>
                <a:sym typeface="Courier New"/>
              </a:rPr>
              <a:t> Small AI (flan-t5-s)</a:t>
            </a:r>
            <a:endParaRPr sz="1100" b="0" u="none" strike="noStrike">
              <a:solidFill>
                <a:srgbClr val="000000"/>
              </a:solidFill>
              <a:latin typeface="Arial"/>
              <a:ea typeface="Arial"/>
              <a:cs typeface="Arial"/>
              <a:sym typeface="Arial"/>
            </a:endParaRPr>
          </a:p>
        </p:txBody>
      </p:sp>
      <p:sp>
        <p:nvSpPr>
          <p:cNvPr id="200" name="Google Shape;200;g3d2a2c2e009_3_4"/>
          <p:cNvSpPr/>
          <p:nvPr/>
        </p:nvSpPr>
        <p:spPr>
          <a:xfrm>
            <a:off x="1319709" y="3136295"/>
            <a:ext cx="2880000" cy="1364400"/>
          </a:xfrm>
          <a:prstGeom prst="rect">
            <a:avLst/>
          </a:prstGeom>
          <a:solidFill>
            <a:schemeClr val="lt1"/>
          </a:solidFill>
          <a:ln>
            <a:noFill/>
          </a:ln>
        </p:spPr>
        <p:txBody>
          <a:bodyPr spcFirstLastPara="1" wrap="square" lIns="90000" tIns="45000" rIns="90000" bIns="45000" anchor="t" anchorCtr="0">
            <a:noAutofit/>
          </a:bodyPr>
          <a:lstStyle/>
          <a:p>
            <a:pPr marL="457200" marR="0" lvl="0" indent="0" algn="l" rtl="0">
              <a:lnSpc>
                <a:spcPct val="100000"/>
              </a:lnSpc>
              <a:spcBef>
                <a:spcPts val="0"/>
              </a:spcBef>
              <a:spcAft>
                <a:spcPts val="0"/>
              </a:spcAft>
              <a:buNone/>
            </a:pPr>
            <a:endParaRPr sz="1100" dirty="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dirty="0">
                <a:solidFill>
                  <a:srgbClr val="555555"/>
                </a:solidFill>
                <a:latin typeface="Georgia"/>
                <a:ea typeface="Georgia"/>
                <a:cs typeface="Georgia"/>
                <a:sym typeface="Georgia"/>
              </a:rPr>
              <a:t>BM25 </a:t>
            </a:r>
            <a:r>
              <a:rPr lang="de-DE" sz="1100" dirty="0" err="1">
                <a:solidFill>
                  <a:srgbClr val="555555"/>
                </a:solidFill>
                <a:latin typeface="Georgia"/>
                <a:ea typeface="Georgia"/>
                <a:cs typeface="Georgia"/>
                <a:sym typeface="Georgia"/>
              </a:rPr>
              <a:t>is</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used</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for</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retrieval</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scoring</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docs</a:t>
            </a:r>
            <a:r>
              <a:rPr lang="de-DE" sz="1100" dirty="0">
                <a:solidFill>
                  <a:srgbClr val="555555"/>
                </a:solidFill>
                <a:latin typeface="Georgia"/>
                <a:ea typeface="Georgia"/>
                <a:cs typeface="Georgia"/>
                <a:sym typeface="Georgia"/>
              </a:rPr>
              <a:t> on </a:t>
            </a:r>
            <a:r>
              <a:rPr lang="de-DE" sz="1100" dirty="0" err="1">
                <a:solidFill>
                  <a:srgbClr val="555555"/>
                </a:solidFill>
                <a:latin typeface="Georgia"/>
                <a:ea typeface="Georgia"/>
                <a:cs typeface="Georgia"/>
                <a:sym typeface="Georgia"/>
              </a:rPr>
              <a:t>term</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frequency</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context</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is</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being</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built</a:t>
            </a:r>
            <a:br>
              <a:rPr lang="de-DE" sz="1100" dirty="0">
                <a:solidFill>
                  <a:srgbClr val="555555"/>
                </a:solidFill>
                <a:latin typeface="Georgia"/>
                <a:ea typeface="Georgia"/>
                <a:cs typeface="Georgia"/>
                <a:sym typeface="Georgia"/>
              </a:rPr>
            </a:br>
            <a:r>
              <a:rPr lang="de-DE" sz="1100" dirty="0">
                <a:solidFill>
                  <a:srgbClr val="555555"/>
                </a:solidFill>
                <a:latin typeface="Georgia"/>
                <a:ea typeface="Georgia"/>
                <a:cs typeface="Georgia"/>
                <a:sym typeface="Georgia"/>
              </a:rPr>
              <a:t> </a:t>
            </a:r>
            <a:endParaRPr sz="1100" dirty="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dirty="0">
                <a:solidFill>
                  <a:srgbClr val="555555"/>
                </a:solidFill>
                <a:latin typeface="Georgia"/>
                <a:ea typeface="Georgia"/>
                <a:cs typeface="Georgia"/>
                <a:sym typeface="Georgia"/>
              </a:rPr>
              <a:t>LLM Prompt: </a:t>
            </a:r>
            <a:r>
              <a:rPr lang="de-DE" sz="1100" dirty="0" err="1">
                <a:solidFill>
                  <a:srgbClr val="555555"/>
                </a:solidFill>
                <a:latin typeface="Georgia"/>
                <a:ea typeface="Georgia"/>
                <a:cs typeface="Georgia"/>
                <a:sym typeface="Georgia"/>
              </a:rPr>
              <a:t>gets</a:t>
            </a:r>
            <a:r>
              <a:rPr lang="de-DE" sz="1100" dirty="0">
                <a:solidFill>
                  <a:srgbClr val="555555"/>
                </a:solidFill>
                <a:latin typeface="Georgia"/>
                <a:ea typeface="Georgia"/>
                <a:cs typeface="Georgia"/>
                <a:sym typeface="Georgia"/>
              </a:rPr>
              <a:t> </a:t>
            </a:r>
            <a:r>
              <a:rPr lang="de-DE" sz="1100" dirty="0" err="1">
                <a:solidFill>
                  <a:srgbClr val="555555"/>
                </a:solidFill>
                <a:latin typeface="Georgia"/>
                <a:ea typeface="Georgia"/>
                <a:cs typeface="Georgia"/>
                <a:sym typeface="Georgia"/>
              </a:rPr>
              <a:t>context</a:t>
            </a:r>
            <a:r>
              <a:rPr lang="de-DE" sz="1100" dirty="0">
                <a:solidFill>
                  <a:srgbClr val="555555"/>
                </a:solidFill>
                <a:latin typeface="Georgia"/>
                <a:ea typeface="Georgia"/>
                <a:cs typeface="Georgia"/>
                <a:sym typeface="Georgia"/>
              </a:rPr>
              <a:t> &amp; </a:t>
            </a:r>
            <a:r>
              <a:rPr lang="de-DE" sz="1100" dirty="0" err="1">
                <a:solidFill>
                  <a:srgbClr val="555555"/>
                </a:solidFill>
                <a:latin typeface="Georgia"/>
                <a:ea typeface="Georgia"/>
                <a:cs typeface="Georgia"/>
                <a:sym typeface="Georgia"/>
              </a:rPr>
              <a:t>query</a:t>
            </a:r>
            <a:br>
              <a:rPr lang="de-DE" sz="1100" dirty="0">
                <a:solidFill>
                  <a:srgbClr val="555555"/>
                </a:solidFill>
                <a:latin typeface="Georgia"/>
                <a:ea typeface="Georgia"/>
                <a:cs typeface="Georgia"/>
                <a:sym typeface="Georgia"/>
              </a:rPr>
            </a:br>
            <a:r>
              <a:rPr lang="de-DE" sz="1100" dirty="0">
                <a:solidFill>
                  <a:srgbClr val="555555"/>
                </a:solidFill>
                <a:latin typeface="Georgia"/>
                <a:ea typeface="Georgia"/>
                <a:cs typeface="Georgia"/>
                <a:sym typeface="Georgia"/>
              </a:rPr>
              <a:t> </a:t>
            </a:r>
            <a:endParaRPr sz="1100" dirty="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dirty="0">
                <a:solidFill>
                  <a:srgbClr val="555555"/>
                </a:solidFill>
                <a:latin typeface="Georgia"/>
                <a:ea typeface="Georgia"/>
                <a:cs typeface="Georgia"/>
                <a:sym typeface="Georgia"/>
              </a:rPr>
              <a:t>Small LLM </a:t>
            </a:r>
            <a:r>
              <a:rPr lang="de-DE" sz="1100" dirty="0" err="1">
                <a:solidFill>
                  <a:srgbClr val="555555"/>
                </a:solidFill>
                <a:latin typeface="Georgia"/>
                <a:ea typeface="Georgia"/>
                <a:cs typeface="Georgia"/>
                <a:sym typeface="Georgia"/>
              </a:rPr>
              <a:t>produces</a:t>
            </a:r>
            <a:r>
              <a:rPr lang="de-DE" sz="1100" dirty="0">
                <a:solidFill>
                  <a:srgbClr val="555555"/>
                </a:solidFill>
                <a:latin typeface="Georgia"/>
                <a:ea typeface="Georgia"/>
                <a:cs typeface="Georgia"/>
                <a:sym typeface="Georgia"/>
              </a:rPr>
              <a:t> an </a:t>
            </a:r>
            <a:r>
              <a:rPr lang="de-DE" sz="1100" dirty="0" err="1">
                <a:solidFill>
                  <a:srgbClr val="555555"/>
                </a:solidFill>
                <a:latin typeface="Georgia"/>
                <a:ea typeface="Georgia"/>
                <a:cs typeface="Georgia"/>
                <a:sym typeface="Georgia"/>
              </a:rPr>
              <a:t>answer</a:t>
            </a:r>
            <a:endParaRPr sz="1100" u="none" strike="noStrike" dirty="0">
              <a:solidFill>
                <a:schemeClr val="dk1"/>
              </a:solidFill>
              <a:latin typeface="Georgia"/>
              <a:ea typeface="Georgia"/>
              <a:cs typeface="Georgia"/>
              <a:sym typeface="Georgia"/>
            </a:endParaRPr>
          </a:p>
        </p:txBody>
      </p:sp>
      <p:sp>
        <p:nvSpPr>
          <p:cNvPr id="201" name="Google Shape;201;g3d2a2c2e009_3_4"/>
          <p:cNvSpPr/>
          <p:nvPr/>
        </p:nvSpPr>
        <p:spPr>
          <a:xfrm>
            <a:off x="1319699" y="3107075"/>
            <a:ext cx="2880000" cy="54300"/>
          </a:xfrm>
          <a:prstGeom prst="rect">
            <a:avLst/>
          </a:prstGeom>
          <a:solidFill>
            <a:srgbClr val="E5C9C3"/>
          </a:solidFill>
          <a:ln w="12700" cap="flat" cmpd="sng">
            <a:solidFill>
              <a:srgbClr val="E5C9C3"/>
            </a:solidFill>
            <a:prstDash val="solid"/>
            <a:round/>
            <a:headEnd type="none" w="sm" len="sm"/>
            <a:tailEnd type="none" w="sm" len="sm"/>
          </a:ln>
        </p:spPr>
        <p:txBody>
          <a:bodyPr spcFirstLastPara="1" wrap="square" lIns="90000" tIns="9700" rIns="90000" bIns="97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cxnSp>
        <p:nvCxnSpPr>
          <p:cNvPr id="202" name="Google Shape;202;g3d2a2c2e009_3_4"/>
          <p:cNvCxnSpPr>
            <a:stCxn id="188" idx="3"/>
            <a:endCxn id="194" idx="1"/>
          </p:cNvCxnSpPr>
          <p:nvPr/>
        </p:nvCxnSpPr>
        <p:spPr>
          <a:xfrm>
            <a:off x="3754929" y="1974477"/>
            <a:ext cx="260100" cy="0"/>
          </a:xfrm>
          <a:prstGeom prst="straightConnector1">
            <a:avLst/>
          </a:prstGeom>
          <a:noFill/>
          <a:ln w="28575" cap="flat" cmpd="sng">
            <a:solidFill>
              <a:srgbClr val="0A7C6E"/>
            </a:solidFill>
            <a:prstDash val="solid"/>
            <a:round/>
            <a:headEnd type="none" w="sm" len="sm"/>
            <a:tailEnd type="stealth" w="med" len="med"/>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207"/>
        <p:cNvGrpSpPr/>
        <p:nvPr/>
      </p:nvGrpSpPr>
      <p:grpSpPr>
        <a:xfrm>
          <a:off x="0" y="0"/>
          <a:ext cx="0" cy="0"/>
          <a:chOff x="0" y="0"/>
          <a:chExt cx="0" cy="0"/>
        </a:xfrm>
      </p:grpSpPr>
      <p:sp>
        <p:nvSpPr>
          <p:cNvPr id="208" name="Google Shape;208;g3d2a2c2e009_1_25"/>
          <p:cNvSpPr/>
          <p:nvPr/>
        </p:nvSpPr>
        <p:spPr>
          <a:xfrm>
            <a:off x="502920" y="201240"/>
            <a:ext cx="1869000" cy="219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HOW IT WORKS</a:t>
            </a:r>
            <a:endParaRPr sz="1100" b="0" u="none" strike="noStrike">
              <a:solidFill>
                <a:srgbClr val="000000"/>
              </a:solidFill>
              <a:latin typeface="Arial"/>
              <a:ea typeface="Arial"/>
              <a:cs typeface="Arial"/>
              <a:sym typeface="Arial"/>
            </a:endParaRPr>
          </a:p>
        </p:txBody>
      </p:sp>
      <p:sp>
        <p:nvSpPr>
          <p:cNvPr id="209" name="Google Shape;209;g3d2a2c2e009_1_25"/>
          <p:cNvSpPr/>
          <p:nvPr/>
        </p:nvSpPr>
        <p:spPr>
          <a:xfrm>
            <a:off x="502920" y="420480"/>
            <a:ext cx="8229000" cy="4566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Pipeline — Clinical Question to Answer</a:t>
            </a:r>
            <a:endParaRPr sz="2200" b="0" u="none" strike="noStrike">
              <a:solidFill>
                <a:srgbClr val="000000"/>
              </a:solidFill>
              <a:latin typeface="Arial"/>
              <a:ea typeface="Arial"/>
              <a:cs typeface="Arial"/>
              <a:sym typeface="Arial"/>
            </a:endParaRPr>
          </a:p>
        </p:txBody>
      </p:sp>
      <p:sp>
        <p:nvSpPr>
          <p:cNvPr id="210" name="Google Shape;210;g3d2a2c2e009_1_25"/>
          <p:cNvSpPr/>
          <p:nvPr/>
        </p:nvSpPr>
        <p:spPr>
          <a:xfrm>
            <a:off x="502920" y="956854"/>
            <a:ext cx="8229000" cy="200400"/>
          </a:xfrm>
          <a:prstGeom prst="rect">
            <a:avLst/>
          </a:prstGeom>
          <a:noFill/>
          <a:ln>
            <a:noFill/>
          </a:ln>
        </p:spPr>
        <p:txBody>
          <a:bodyPr spcFirstLastPara="1" wrap="square" lIns="90000" tIns="45000" rIns="90000" bIns="45000" anchor="ctr" anchorCtr="0">
            <a:noAutofit/>
          </a:bodyPr>
          <a:lstStyle/>
          <a:p>
            <a:pPr marL="0" lvl="0" indent="0" algn="l" rtl="0">
              <a:spcBef>
                <a:spcPts val="0"/>
              </a:spcBef>
              <a:spcAft>
                <a:spcPts val="0"/>
              </a:spcAft>
              <a:buClr>
                <a:schemeClr val="dk1"/>
              </a:buClr>
              <a:buFont typeface="Arial"/>
              <a:buNone/>
            </a:pPr>
            <a:r>
              <a:rPr lang="de-DE" sz="1100" b="1">
                <a:solidFill>
                  <a:srgbClr val="0A7C6E"/>
                </a:solidFill>
                <a:latin typeface="Courier New"/>
                <a:ea typeface="Courier New"/>
                <a:cs typeface="Courier New"/>
                <a:sym typeface="Courier New"/>
              </a:rPr>
              <a:t>Second Iteration:</a:t>
            </a:r>
            <a:r>
              <a:rPr lang="de-DE" sz="1100">
                <a:solidFill>
                  <a:srgbClr val="0A7C6E"/>
                </a:solidFill>
                <a:latin typeface="Courier New"/>
                <a:ea typeface="Courier New"/>
                <a:cs typeface="Courier New"/>
                <a:sym typeface="Courier New"/>
              </a:rPr>
              <a:t> </a:t>
            </a:r>
            <a:r>
              <a:rPr lang="de-DE" sz="1100" b="1">
                <a:solidFill>
                  <a:srgbClr val="0A7C6E"/>
                </a:solidFill>
                <a:latin typeface="Courier New"/>
                <a:ea typeface="Courier New"/>
                <a:cs typeface="Courier New"/>
                <a:sym typeface="Courier New"/>
              </a:rPr>
              <a:t>Lexicographical AND Semantic Processing</a:t>
            </a:r>
            <a:endParaRPr sz="1100" b="1" u="none" strike="noStrike">
              <a:solidFill>
                <a:srgbClr val="000000"/>
              </a:solidFill>
            </a:endParaRPr>
          </a:p>
        </p:txBody>
      </p:sp>
      <p:sp>
        <p:nvSpPr>
          <p:cNvPr id="211" name="Google Shape;211;g3d2a2c2e009_1_25"/>
          <p:cNvSpPr/>
          <p:nvPr/>
        </p:nvSpPr>
        <p:spPr>
          <a:xfrm>
            <a:off x="4951634" y="3556847"/>
            <a:ext cx="2868000" cy="1025100"/>
          </a:xfrm>
          <a:prstGeom prst="rect">
            <a:avLst/>
          </a:prstGeom>
          <a:solidFill>
            <a:srgbClr val="D4B96A"/>
          </a:solidFill>
          <a:ln>
            <a:noFill/>
          </a:ln>
          <a:effectLst>
            <a:outerShdw blurRad="57150" dist="19050" dir="5400000" algn="bl" rotWithShape="0">
              <a:srgbClr val="000000">
                <a:alpha val="50000"/>
              </a:srgbClr>
            </a:outerShdw>
          </a:effectLst>
        </p:spPr>
        <p:txBody>
          <a:bodyPr spcFirstLastPara="1" wrap="square" lIns="126000" tIns="82800" rIns="126000" bIns="82800" anchor="t" anchorCtr="0">
            <a:noAutofit/>
          </a:bodyPr>
          <a:lstStyle/>
          <a:p>
            <a:pPr marL="0" marR="0" lvl="0" indent="0" algn="l" rtl="0">
              <a:lnSpc>
                <a:spcPct val="135000"/>
              </a:lnSpc>
              <a:spcBef>
                <a:spcPts val="0"/>
              </a:spcBef>
              <a:spcAft>
                <a:spcPts val="0"/>
              </a:spcAft>
              <a:buNone/>
            </a:pPr>
            <a:r>
              <a:rPr lang="de-DE" sz="1050" b="1" i="1" dirty="0">
                <a:solidFill>
                  <a:srgbClr val="0D2137"/>
                </a:solidFill>
                <a:latin typeface="Georgia"/>
                <a:ea typeface="Georgia"/>
                <a:cs typeface="Georgia"/>
                <a:sym typeface="Georgia"/>
              </a:rPr>
              <a:t>A </a:t>
            </a:r>
            <a:r>
              <a:rPr lang="de-DE" sz="1050" b="1" i="1" dirty="0" err="1">
                <a:solidFill>
                  <a:srgbClr val="0D2137"/>
                </a:solidFill>
                <a:latin typeface="Georgia"/>
                <a:ea typeface="Georgia"/>
                <a:cs typeface="Georgia"/>
                <a:sym typeface="Georgia"/>
              </a:rPr>
              <a:t>paper</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retrieved</a:t>
            </a:r>
            <a:r>
              <a:rPr lang="de-DE" sz="1050" b="1" i="1" dirty="0">
                <a:solidFill>
                  <a:srgbClr val="0D2137"/>
                </a:solidFill>
                <a:latin typeface="Georgia"/>
                <a:ea typeface="Georgia"/>
                <a:cs typeface="Georgia"/>
                <a:sym typeface="Georgia"/>
              </a:rPr>
              <a:t>, but not </a:t>
            </a:r>
            <a:r>
              <a:rPr lang="de-DE" sz="1050" b="1" i="1" dirty="0" err="1">
                <a:solidFill>
                  <a:srgbClr val="0D2137"/>
                </a:solidFill>
                <a:latin typeface="Georgia"/>
                <a:ea typeface="Georgia"/>
                <a:cs typeface="Georgia"/>
                <a:sym typeface="Georgia"/>
              </a:rPr>
              <a:t>the</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most</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specific</a:t>
            </a:r>
            <a:r>
              <a:rPr lang="de-DE" sz="1050" b="1" i="1" dirty="0">
                <a:solidFill>
                  <a:srgbClr val="0D2137"/>
                </a:solidFill>
                <a:latin typeface="Georgia"/>
                <a:ea typeface="Georgia"/>
                <a:cs typeface="Georgia"/>
                <a:sym typeface="Georgia"/>
              </a:rPr>
              <a:t>. </a:t>
            </a:r>
            <a:br>
              <a:rPr lang="de-DE" sz="1050" b="1" i="1" dirty="0">
                <a:solidFill>
                  <a:srgbClr val="0D2137"/>
                </a:solidFill>
                <a:latin typeface="Georgia"/>
                <a:ea typeface="Georgia"/>
                <a:cs typeface="Georgia"/>
                <a:sym typeface="Georgia"/>
              </a:rPr>
            </a:br>
            <a:r>
              <a:rPr lang="de-DE" sz="1050" b="1" i="1" dirty="0" err="1">
                <a:solidFill>
                  <a:srgbClr val="0D2137"/>
                </a:solidFill>
                <a:latin typeface="Georgia"/>
                <a:ea typeface="Georgia"/>
                <a:cs typeface="Georgia"/>
                <a:sym typeface="Georgia"/>
              </a:rPr>
              <a:t>Answer</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partially</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grounded</a:t>
            </a:r>
            <a:r>
              <a:rPr lang="de-DE" sz="1050" b="1" i="1" dirty="0">
                <a:solidFill>
                  <a:srgbClr val="0D2137"/>
                </a:solidFill>
                <a:latin typeface="Georgia"/>
                <a:ea typeface="Georgia"/>
                <a:cs typeface="Georgia"/>
                <a:sym typeface="Georgia"/>
              </a:rPr>
              <a:t>.</a:t>
            </a:r>
            <a:endParaRPr sz="1050" b="1" i="1" dirty="0">
              <a:solidFill>
                <a:srgbClr val="0D2137"/>
              </a:solidFill>
              <a:latin typeface="Georgia"/>
              <a:ea typeface="Georgia"/>
              <a:cs typeface="Georgia"/>
              <a:sym typeface="Georgia"/>
            </a:endParaRPr>
          </a:p>
          <a:p>
            <a:pPr marL="0" marR="0" lvl="0" indent="0" algn="l" rtl="0">
              <a:lnSpc>
                <a:spcPct val="135000"/>
              </a:lnSpc>
              <a:spcBef>
                <a:spcPts val="0"/>
              </a:spcBef>
              <a:spcAft>
                <a:spcPts val="0"/>
              </a:spcAft>
              <a:buNone/>
            </a:pPr>
            <a:r>
              <a:rPr lang="de-DE" sz="1050" b="1" i="1" dirty="0">
                <a:solidFill>
                  <a:srgbClr val="0D2137"/>
                </a:solidFill>
                <a:latin typeface="Georgia"/>
                <a:ea typeface="Georgia"/>
                <a:cs typeface="Georgia"/>
                <a:sym typeface="Georgia"/>
              </a:rPr>
              <a:t>Key </a:t>
            </a:r>
            <a:r>
              <a:rPr lang="de-DE" sz="1050" b="1" i="1" dirty="0" err="1">
                <a:solidFill>
                  <a:srgbClr val="0D2137"/>
                </a:solidFill>
                <a:latin typeface="Georgia"/>
                <a:ea typeface="Georgia"/>
                <a:cs typeface="Georgia"/>
                <a:sym typeface="Georgia"/>
              </a:rPr>
              <a:t>markers</a:t>
            </a:r>
            <a:r>
              <a:rPr lang="de-DE" sz="1050" b="1" i="1" dirty="0">
                <a:solidFill>
                  <a:srgbClr val="0D2137"/>
                </a:solidFill>
                <a:latin typeface="Georgia"/>
                <a:ea typeface="Georgia"/>
                <a:cs typeface="Georgia"/>
                <a:sym typeface="Georgia"/>
              </a:rPr>
              <a:t> </a:t>
            </a:r>
            <a:r>
              <a:rPr lang="de-DE" sz="1050" b="1" i="1" dirty="0" err="1">
                <a:solidFill>
                  <a:srgbClr val="0D2137"/>
                </a:solidFill>
                <a:latin typeface="Georgia"/>
                <a:ea typeface="Georgia"/>
                <a:cs typeface="Georgia"/>
                <a:sym typeface="Georgia"/>
              </a:rPr>
              <a:t>missing</a:t>
            </a:r>
            <a:r>
              <a:rPr lang="de-DE" sz="1050" b="1" i="1" dirty="0">
                <a:solidFill>
                  <a:srgbClr val="0D2137"/>
                </a:solidFill>
                <a:latin typeface="Georgia"/>
                <a:ea typeface="Georgia"/>
                <a:cs typeface="Georgia"/>
                <a:sym typeface="Georgia"/>
              </a:rPr>
              <a:t>.</a:t>
            </a:r>
            <a:endParaRPr sz="1050" b="0" u="none" strike="noStrike" dirty="0">
              <a:solidFill>
                <a:srgbClr val="000000"/>
              </a:solidFill>
              <a:latin typeface="Arial"/>
              <a:ea typeface="Arial"/>
              <a:cs typeface="Arial"/>
              <a:sym typeface="Arial"/>
            </a:endParaRPr>
          </a:p>
        </p:txBody>
      </p:sp>
      <p:sp>
        <p:nvSpPr>
          <p:cNvPr id="212" name="Google Shape;212;g3d2a2c2e009_1_25"/>
          <p:cNvSpPr txBox="1"/>
          <p:nvPr/>
        </p:nvSpPr>
        <p:spPr>
          <a:xfrm>
            <a:off x="541650" y="2657877"/>
            <a:ext cx="8060700" cy="352500"/>
          </a:xfrm>
          <a:prstGeom prst="rect">
            <a:avLst/>
          </a:prstGeom>
          <a:noFill/>
          <a:ln>
            <a:noFill/>
          </a:ln>
        </p:spPr>
        <p:txBody>
          <a:bodyPr spcFirstLastPara="1" wrap="square" lIns="90000" tIns="45000" rIns="90000" bIns="45000" anchor="ctr" anchorCtr="0">
            <a:noAutofit/>
          </a:bodyPr>
          <a:lstStyle/>
          <a:p>
            <a:pPr marL="0" lvl="0" indent="0" algn="ctr" rtl="0">
              <a:spcBef>
                <a:spcPts val="0"/>
              </a:spcBef>
              <a:spcAft>
                <a:spcPts val="0"/>
              </a:spcAft>
              <a:buNone/>
            </a:pPr>
            <a:r>
              <a:rPr lang="de-DE" sz="1100" b="1" dirty="0">
                <a:solidFill>
                  <a:srgbClr val="6B7280"/>
                </a:solidFill>
                <a:latin typeface="Courier New"/>
                <a:ea typeface="Courier New"/>
                <a:cs typeface="Courier New"/>
                <a:sym typeface="Courier New"/>
              </a:rPr>
              <a:t>Query </a:t>
            </a:r>
            <a:r>
              <a:rPr lang="de-DE" sz="1700" b="1" dirty="0">
                <a:solidFill>
                  <a:srgbClr val="6B7280"/>
                </a:solidFill>
                <a:latin typeface="Courier New"/>
                <a:ea typeface="Courier New"/>
                <a:cs typeface="Courier New"/>
                <a:sym typeface="Courier New"/>
              </a:rPr>
              <a:t>→</a:t>
            </a:r>
            <a:r>
              <a:rPr lang="de-DE" sz="1100" b="1" dirty="0">
                <a:solidFill>
                  <a:srgbClr val="6B7280"/>
                </a:solidFill>
                <a:latin typeface="Courier New"/>
                <a:ea typeface="Courier New"/>
                <a:cs typeface="Courier New"/>
                <a:sym typeface="Courier New"/>
              </a:rPr>
              <a:t> BM25(</a:t>
            </a:r>
            <a:r>
              <a:rPr lang="de-DE" sz="1100" b="1" dirty="0" err="1">
                <a:solidFill>
                  <a:srgbClr val="6B7280"/>
                </a:solidFill>
                <a:latin typeface="Courier New"/>
                <a:ea typeface="Courier New"/>
                <a:cs typeface="Courier New"/>
                <a:sym typeface="Courier New"/>
              </a:rPr>
              <a:t>lexicographic</a:t>
            </a:r>
            <a:r>
              <a:rPr lang="de-DE" sz="1100" b="1" dirty="0">
                <a:solidFill>
                  <a:srgbClr val="6B7280"/>
                </a:solidFill>
                <a:latin typeface="Courier New"/>
                <a:ea typeface="Courier New"/>
                <a:cs typeface="Courier New"/>
                <a:sym typeface="Courier New"/>
              </a:rPr>
              <a:t> </a:t>
            </a:r>
            <a:r>
              <a:rPr lang="de-DE" sz="1100" b="1" dirty="0" err="1">
                <a:solidFill>
                  <a:srgbClr val="6B7280"/>
                </a:solidFill>
                <a:latin typeface="Courier New"/>
                <a:ea typeface="Courier New"/>
                <a:cs typeface="Courier New"/>
                <a:sym typeface="Courier New"/>
              </a:rPr>
              <a:t>search</a:t>
            </a:r>
            <a:r>
              <a:rPr lang="de-DE" sz="1100" b="1" dirty="0">
                <a:solidFill>
                  <a:srgbClr val="6B7280"/>
                </a:solidFill>
                <a:latin typeface="Courier New"/>
                <a:ea typeface="Courier New"/>
                <a:cs typeface="Courier New"/>
                <a:sym typeface="Courier New"/>
              </a:rPr>
              <a:t>) | FAISS (</a:t>
            </a:r>
            <a:r>
              <a:rPr lang="de-DE" sz="1100" b="1" dirty="0" err="1">
                <a:solidFill>
                  <a:srgbClr val="6B7280"/>
                </a:solidFill>
                <a:latin typeface="Courier New"/>
                <a:ea typeface="Courier New"/>
                <a:cs typeface="Courier New"/>
                <a:sym typeface="Courier New"/>
              </a:rPr>
              <a:t>semantic</a:t>
            </a:r>
            <a:r>
              <a:rPr lang="de-DE" sz="1100" b="1" dirty="0">
                <a:solidFill>
                  <a:srgbClr val="6B7280"/>
                </a:solidFill>
                <a:latin typeface="Courier New"/>
                <a:ea typeface="Courier New"/>
                <a:cs typeface="Courier New"/>
                <a:sym typeface="Courier New"/>
              </a:rPr>
              <a:t> </a:t>
            </a:r>
            <a:r>
              <a:rPr lang="de-DE" sz="1100" b="1" dirty="0" err="1">
                <a:solidFill>
                  <a:srgbClr val="6B7280"/>
                </a:solidFill>
                <a:latin typeface="Courier New"/>
                <a:ea typeface="Courier New"/>
                <a:cs typeface="Courier New"/>
                <a:sym typeface="Courier New"/>
              </a:rPr>
              <a:t>search</a:t>
            </a:r>
            <a:r>
              <a:rPr lang="de-DE" sz="1100" b="1" dirty="0">
                <a:solidFill>
                  <a:srgbClr val="6B7280"/>
                </a:solidFill>
                <a:latin typeface="Courier New"/>
                <a:ea typeface="Courier New"/>
                <a:cs typeface="Courier New"/>
                <a:sym typeface="Courier New"/>
              </a:rPr>
              <a:t>) </a:t>
            </a:r>
            <a:r>
              <a:rPr lang="de-DE" sz="1700" b="1" dirty="0">
                <a:solidFill>
                  <a:srgbClr val="6B7280"/>
                </a:solidFill>
                <a:latin typeface="Courier New"/>
                <a:ea typeface="Courier New"/>
                <a:cs typeface="Courier New"/>
                <a:sym typeface="Courier New"/>
              </a:rPr>
              <a:t>→</a:t>
            </a:r>
            <a:r>
              <a:rPr lang="de-DE" sz="1100" b="1" dirty="0">
                <a:solidFill>
                  <a:srgbClr val="6B7280"/>
                </a:solidFill>
                <a:latin typeface="Courier New"/>
                <a:ea typeface="Courier New"/>
                <a:cs typeface="Courier New"/>
                <a:sym typeface="Courier New"/>
              </a:rPr>
              <a:t> RRF(</a:t>
            </a:r>
            <a:r>
              <a:rPr lang="de-DE" sz="1100" b="1" dirty="0" err="1">
                <a:solidFill>
                  <a:srgbClr val="6B7280"/>
                </a:solidFill>
                <a:latin typeface="Courier New"/>
                <a:ea typeface="Courier New"/>
                <a:cs typeface="Courier New"/>
                <a:sym typeface="Courier New"/>
              </a:rPr>
              <a:t>merge</a:t>
            </a:r>
            <a:r>
              <a:rPr lang="de-DE" sz="1100" b="1" dirty="0">
                <a:solidFill>
                  <a:srgbClr val="6B7280"/>
                </a:solidFill>
                <a:latin typeface="Courier New"/>
                <a:ea typeface="Courier New"/>
                <a:cs typeface="Courier New"/>
                <a:sym typeface="Courier New"/>
              </a:rPr>
              <a:t>) </a:t>
            </a:r>
            <a:r>
              <a:rPr lang="de-DE" sz="1700" b="1" dirty="0">
                <a:solidFill>
                  <a:srgbClr val="6B7280"/>
                </a:solidFill>
                <a:latin typeface="Courier New"/>
                <a:ea typeface="Courier New"/>
                <a:cs typeface="Courier New"/>
                <a:sym typeface="Courier New"/>
              </a:rPr>
              <a:t>→</a:t>
            </a:r>
            <a:r>
              <a:rPr lang="de-DE" sz="1100" b="1" dirty="0">
                <a:solidFill>
                  <a:srgbClr val="6B7280"/>
                </a:solidFill>
                <a:latin typeface="Courier New"/>
                <a:ea typeface="Courier New"/>
                <a:cs typeface="Courier New"/>
                <a:sym typeface="Courier New"/>
              </a:rPr>
              <a:t> </a:t>
            </a:r>
            <a:r>
              <a:rPr lang="de-DE" sz="1100" b="1" dirty="0" err="1">
                <a:solidFill>
                  <a:srgbClr val="6B7280"/>
                </a:solidFill>
                <a:latin typeface="Courier New"/>
                <a:ea typeface="Courier New"/>
                <a:cs typeface="Courier New"/>
                <a:sym typeface="Courier New"/>
              </a:rPr>
              <a:t>Llama</a:t>
            </a:r>
            <a:r>
              <a:rPr lang="de-DE" sz="1100" b="1" dirty="0">
                <a:solidFill>
                  <a:srgbClr val="6B7280"/>
                </a:solidFill>
                <a:latin typeface="Courier New"/>
                <a:ea typeface="Courier New"/>
                <a:cs typeface="Courier New"/>
                <a:sym typeface="Courier New"/>
              </a:rPr>
              <a:t> 8B</a:t>
            </a:r>
            <a:endParaRPr sz="1100" b="1" dirty="0">
              <a:solidFill>
                <a:srgbClr val="6B7280"/>
              </a:solidFill>
              <a:latin typeface="Courier New"/>
              <a:ea typeface="Courier New"/>
              <a:cs typeface="Courier New"/>
              <a:sym typeface="Courier New"/>
            </a:endParaRPr>
          </a:p>
        </p:txBody>
      </p:sp>
      <p:grpSp>
        <p:nvGrpSpPr>
          <p:cNvPr id="213" name="Google Shape;213;g3d2a2c2e009_1_25"/>
          <p:cNvGrpSpPr/>
          <p:nvPr/>
        </p:nvGrpSpPr>
        <p:grpSpPr>
          <a:xfrm>
            <a:off x="1221112" y="3207421"/>
            <a:ext cx="2978785" cy="1785423"/>
            <a:chOff x="1319699" y="3357978"/>
            <a:chExt cx="2880001" cy="1785423"/>
          </a:xfrm>
        </p:grpSpPr>
        <p:sp>
          <p:nvSpPr>
            <p:cNvPr id="214" name="Google Shape;214;g3d2a2c2e009_1_25"/>
            <p:cNvSpPr/>
            <p:nvPr/>
          </p:nvSpPr>
          <p:spPr>
            <a:xfrm>
              <a:off x="1319700" y="3387201"/>
              <a:ext cx="2880000" cy="1756200"/>
            </a:xfrm>
            <a:prstGeom prst="rect">
              <a:avLst/>
            </a:prstGeom>
            <a:solidFill>
              <a:schemeClr val="lt1"/>
            </a:solidFill>
            <a:ln>
              <a:noFill/>
            </a:ln>
          </p:spPr>
          <p:txBody>
            <a:bodyPr spcFirstLastPara="1" wrap="square" lIns="90000" tIns="45000" rIns="90000" bIns="45000" anchor="t" anchorCtr="0">
              <a:noAutofit/>
            </a:bodyPr>
            <a:lstStyle/>
            <a:p>
              <a:pPr marL="457200" marR="0" lvl="0" indent="0" algn="l" rtl="0">
                <a:lnSpc>
                  <a:spcPct val="100000"/>
                </a:lnSpc>
                <a:spcBef>
                  <a:spcPts val="0"/>
                </a:spcBef>
                <a:spcAft>
                  <a:spcPts val="0"/>
                </a:spcAft>
                <a:buNone/>
              </a:pPr>
              <a:endParaRPr sz="110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a:solidFill>
                    <a:srgbClr val="555555"/>
                  </a:solidFill>
                  <a:latin typeface="Georgia"/>
                  <a:ea typeface="Georgia"/>
                  <a:cs typeface="Georgia"/>
                  <a:sym typeface="Georgia"/>
                </a:rPr>
                <a:t>Lexicographic and semantic search branches  work </a:t>
              </a:r>
              <a:r>
                <a:rPr lang="de-DE" sz="1100" b="1">
                  <a:solidFill>
                    <a:srgbClr val="555555"/>
                  </a:solidFill>
                  <a:latin typeface="Georgia"/>
                  <a:ea typeface="Georgia"/>
                  <a:cs typeface="Georgia"/>
                  <a:sym typeface="Georgia"/>
                </a:rPr>
                <a:t>in parallel</a:t>
              </a:r>
              <a:br>
                <a:rPr lang="de-DE" sz="1100">
                  <a:solidFill>
                    <a:srgbClr val="555555"/>
                  </a:solidFill>
                  <a:latin typeface="Georgia"/>
                  <a:ea typeface="Georgia"/>
                  <a:cs typeface="Georgia"/>
                  <a:sym typeface="Georgia"/>
                </a:rPr>
              </a:br>
              <a:endParaRPr sz="110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a:solidFill>
                    <a:srgbClr val="555555"/>
                  </a:solidFill>
                  <a:latin typeface="Georgia"/>
                  <a:ea typeface="Georgia"/>
                  <a:cs typeface="Georgia"/>
                  <a:sym typeface="Georgia"/>
                </a:rPr>
                <a:t>The resulting output is merged by </a:t>
              </a:r>
              <a:r>
                <a:rPr lang="de-DE" sz="1100" b="1">
                  <a:solidFill>
                    <a:srgbClr val="555555"/>
                  </a:solidFill>
                  <a:latin typeface="Georgia"/>
                  <a:ea typeface="Georgia"/>
                  <a:cs typeface="Georgia"/>
                  <a:sym typeface="Georgia"/>
                </a:rPr>
                <a:t>Reciprocal Ranking Function (RRF)</a:t>
              </a:r>
              <a:r>
                <a:rPr lang="de-DE" sz="1100">
                  <a:solidFill>
                    <a:srgbClr val="555555"/>
                  </a:solidFill>
                  <a:latin typeface="Georgia"/>
                  <a:ea typeface="Georgia"/>
                  <a:cs typeface="Georgia"/>
                  <a:sym typeface="Georgia"/>
                </a:rPr>
                <a:t> , duplicates are removed</a:t>
              </a:r>
              <a:br>
                <a:rPr lang="de-DE" sz="1100">
                  <a:solidFill>
                    <a:srgbClr val="555555"/>
                  </a:solidFill>
                  <a:latin typeface="Georgia"/>
                  <a:ea typeface="Georgia"/>
                  <a:cs typeface="Georgia"/>
                  <a:sym typeface="Georgia"/>
                </a:rPr>
              </a:br>
              <a:endParaRPr sz="110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a:solidFill>
                    <a:srgbClr val="555555"/>
                  </a:solidFill>
                  <a:latin typeface="Georgia"/>
                  <a:ea typeface="Georgia"/>
                  <a:cs typeface="Georgia"/>
                  <a:sym typeface="Georgia"/>
                </a:rPr>
                <a:t>RRF output used as input for </a:t>
              </a:r>
              <a:br>
                <a:rPr lang="de-DE" sz="1100">
                  <a:solidFill>
                    <a:srgbClr val="555555"/>
                  </a:solidFill>
                  <a:latin typeface="Georgia"/>
                  <a:ea typeface="Georgia"/>
                  <a:cs typeface="Georgia"/>
                  <a:sym typeface="Georgia"/>
                </a:rPr>
              </a:br>
              <a:r>
                <a:rPr lang="de-DE" sz="1100">
                  <a:solidFill>
                    <a:srgbClr val="555555"/>
                  </a:solidFill>
                  <a:latin typeface="Georgia"/>
                  <a:ea typeface="Georgia"/>
                  <a:cs typeface="Georgia"/>
                  <a:sym typeface="Georgia"/>
                </a:rPr>
                <a:t>(medium sized) </a:t>
              </a:r>
              <a:r>
                <a:rPr lang="de-DE" sz="1100" b="1">
                  <a:solidFill>
                    <a:srgbClr val="555555"/>
                  </a:solidFill>
                  <a:latin typeface="Georgia"/>
                  <a:ea typeface="Georgia"/>
                  <a:cs typeface="Georgia"/>
                  <a:sym typeface="Georgia"/>
                </a:rPr>
                <a:t>llama 8B LLM</a:t>
              </a:r>
              <a:endParaRPr sz="1100" b="1">
                <a:solidFill>
                  <a:srgbClr val="555555"/>
                </a:solidFill>
                <a:latin typeface="Georgia"/>
                <a:ea typeface="Georgia"/>
                <a:cs typeface="Georgia"/>
                <a:sym typeface="Georgia"/>
              </a:endParaRPr>
            </a:p>
          </p:txBody>
        </p:sp>
        <p:sp>
          <p:nvSpPr>
            <p:cNvPr id="215" name="Google Shape;215;g3d2a2c2e009_1_25"/>
            <p:cNvSpPr/>
            <p:nvPr/>
          </p:nvSpPr>
          <p:spPr>
            <a:xfrm>
              <a:off x="1319699" y="3357978"/>
              <a:ext cx="2880000" cy="54300"/>
            </a:xfrm>
            <a:prstGeom prst="rect">
              <a:avLst/>
            </a:prstGeom>
            <a:solidFill>
              <a:srgbClr val="D4B96A"/>
            </a:solidFill>
            <a:ln>
              <a:noFill/>
            </a:ln>
          </p:spPr>
          <p:txBody>
            <a:bodyPr spcFirstLastPara="1" wrap="square" lIns="90000" tIns="9700" rIns="90000" bIns="97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grpSp>
      <p:grpSp>
        <p:nvGrpSpPr>
          <p:cNvPr id="216" name="Google Shape;216;g3d2a2c2e009_1_25"/>
          <p:cNvGrpSpPr/>
          <p:nvPr/>
        </p:nvGrpSpPr>
        <p:grpSpPr>
          <a:xfrm>
            <a:off x="462449" y="1330717"/>
            <a:ext cx="8219100" cy="1203877"/>
            <a:chOff x="658999" y="1390742"/>
            <a:chExt cx="8219100" cy="1203877"/>
          </a:xfrm>
        </p:grpSpPr>
        <p:grpSp>
          <p:nvGrpSpPr>
            <p:cNvPr id="217" name="Google Shape;217;g3d2a2c2e009_1_25"/>
            <p:cNvGrpSpPr/>
            <p:nvPr/>
          </p:nvGrpSpPr>
          <p:grpSpPr>
            <a:xfrm>
              <a:off x="4966099" y="1563352"/>
              <a:ext cx="1142400" cy="822300"/>
              <a:chOff x="6383179" y="1563327"/>
              <a:chExt cx="1142400" cy="822300"/>
            </a:xfrm>
          </p:grpSpPr>
          <p:sp>
            <p:nvSpPr>
              <p:cNvPr id="218" name="Google Shape;218;g3d2a2c2e009_1_25"/>
              <p:cNvSpPr/>
              <p:nvPr/>
            </p:nvSpPr>
            <p:spPr>
              <a:xfrm>
                <a:off x="6383179" y="1563327"/>
                <a:ext cx="1142400" cy="822300"/>
              </a:xfrm>
              <a:prstGeom prst="rect">
                <a:avLst/>
              </a:prstGeom>
              <a:solidFill>
                <a:srgbClr val="FFFFFF"/>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219" name="Google Shape;219;g3d2a2c2e009_1_25"/>
              <p:cNvSpPr/>
              <p:nvPr/>
            </p:nvSpPr>
            <p:spPr>
              <a:xfrm>
                <a:off x="6440439" y="178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a:solidFill>
                      <a:srgbClr val="0D2137"/>
                    </a:solidFill>
                    <a:latin typeface="Georgia"/>
                    <a:ea typeface="Georgia"/>
                    <a:cs typeface="Georgia"/>
                    <a:sym typeface="Georgia"/>
                  </a:rPr>
                  <a:t>RRF</a:t>
                </a:r>
                <a:br>
                  <a:rPr lang="de-DE" sz="1100">
                    <a:solidFill>
                      <a:srgbClr val="0D2137"/>
                    </a:solidFill>
                    <a:latin typeface="Georgia"/>
                    <a:ea typeface="Georgia"/>
                    <a:cs typeface="Georgia"/>
                    <a:sym typeface="Georgia"/>
                  </a:rPr>
                </a:br>
                <a:r>
                  <a:rPr lang="de-DE" sz="1100">
                    <a:solidFill>
                      <a:srgbClr val="0D2137"/>
                    </a:solidFill>
                    <a:latin typeface="Georgia"/>
                    <a:ea typeface="Georgia"/>
                    <a:cs typeface="Georgia"/>
                    <a:sym typeface="Georgia"/>
                  </a:rPr>
                  <a:t>(Fusion) </a:t>
                </a:r>
                <a:endParaRPr sz="1100" u="none" strike="noStrike">
                  <a:solidFill>
                    <a:srgbClr val="000000"/>
                  </a:solidFill>
                  <a:latin typeface="Georgia"/>
                  <a:ea typeface="Georgia"/>
                  <a:cs typeface="Georgia"/>
                  <a:sym typeface="Georgia"/>
                </a:endParaRPr>
              </a:p>
            </p:txBody>
          </p:sp>
        </p:grpSp>
        <p:sp>
          <p:nvSpPr>
            <p:cNvPr id="220" name="Google Shape;220;g3d2a2c2e009_1_25"/>
            <p:cNvSpPr/>
            <p:nvPr/>
          </p:nvSpPr>
          <p:spPr>
            <a:xfrm>
              <a:off x="7735699" y="1563327"/>
              <a:ext cx="1142400" cy="822300"/>
            </a:xfrm>
            <a:prstGeom prst="rect">
              <a:avLst/>
            </a:prstGeom>
            <a:solidFill>
              <a:srgbClr val="2A4A6A"/>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221" name="Google Shape;221;g3d2a2c2e009_1_25"/>
            <p:cNvSpPr/>
            <p:nvPr/>
          </p:nvSpPr>
          <p:spPr>
            <a:xfrm>
              <a:off x="7790599" y="178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LLM</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Answer</a:t>
              </a:r>
              <a:endParaRPr sz="1100" u="none" strike="noStrike">
                <a:solidFill>
                  <a:srgbClr val="000000"/>
                </a:solidFill>
                <a:latin typeface="Georgia"/>
                <a:ea typeface="Georgia"/>
                <a:cs typeface="Georgia"/>
                <a:sym typeface="Georgia"/>
              </a:endParaRPr>
            </a:p>
          </p:txBody>
        </p:sp>
        <p:cxnSp>
          <p:nvCxnSpPr>
            <p:cNvPr id="222" name="Google Shape;222;g3d2a2c2e009_1_25"/>
            <p:cNvCxnSpPr>
              <a:cxnSpLocks/>
              <a:stCxn id="239" idx="3"/>
              <a:endCxn id="220" idx="1"/>
            </p:cNvCxnSpPr>
            <p:nvPr/>
          </p:nvCxnSpPr>
          <p:spPr>
            <a:xfrm flipV="1">
              <a:off x="7512949" y="1974477"/>
              <a:ext cx="222750" cy="1266"/>
            </a:xfrm>
            <a:prstGeom prst="straightConnector1">
              <a:avLst/>
            </a:prstGeom>
            <a:noFill/>
            <a:ln w="28575" cap="flat" cmpd="sng">
              <a:solidFill>
                <a:srgbClr val="0A7C6E"/>
              </a:solidFill>
              <a:prstDash val="solid"/>
              <a:round/>
              <a:headEnd type="none" w="sm" len="sm"/>
              <a:tailEnd type="stealth" w="med" len="med"/>
            </a:ln>
          </p:spPr>
        </p:cxnSp>
        <p:grpSp>
          <p:nvGrpSpPr>
            <p:cNvPr id="224" name="Google Shape;224;g3d2a2c2e009_1_25"/>
            <p:cNvGrpSpPr/>
            <p:nvPr/>
          </p:nvGrpSpPr>
          <p:grpSpPr>
            <a:xfrm>
              <a:off x="658999" y="1390742"/>
              <a:ext cx="4364326" cy="1203877"/>
              <a:chOff x="1236074" y="1390742"/>
              <a:chExt cx="4364326" cy="1203877"/>
            </a:xfrm>
          </p:grpSpPr>
          <p:sp>
            <p:nvSpPr>
              <p:cNvPr id="225" name="Google Shape;225;g3d2a2c2e009_1_25"/>
              <p:cNvSpPr/>
              <p:nvPr/>
            </p:nvSpPr>
            <p:spPr>
              <a:xfrm>
                <a:off x="1236074" y="1563357"/>
                <a:ext cx="1142400" cy="822300"/>
              </a:xfrm>
              <a:prstGeom prst="rect">
                <a:avLst/>
              </a:prstGeom>
              <a:solidFill>
                <a:srgbClr val="9ABDD8"/>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endParaRPr sz="1100"/>
              </a:p>
            </p:txBody>
          </p:sp>
          <p:sp>
            <p:nvSpPr>
              <p:cNvPr id="226" name="Google Shape;226;g3d2a2c2e009_1_25"/>
              <p:cNvSpPr/>
              <p:nvPr/>
            </p:nvSpPr>
            <p:spPr>
              <a:xfrm>
                <a:off x="1290974" y="178280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0D2137"/>
                    </a:solidFill>
                    <a:latin typeface="Georgia"/>
                    <a:ea typeface="Georgia"/>
                    <a:cs typeface="Georgia"/>
                    <a:sym typeface="Georgia"/>
                  </a:rPr>
                  <a:t>Query</a:t>
                </a:r>
                <a:endParaRPr sz="1100" b="1" u="none" strike="noStrike">
                  <a:solidFill>
                    <a:srgbClr val="000000"/>
                  </a:solidFill>
                  <a:latin typeface="Georgia"/>
                  <a:ea typeface="Georgia"/>
                  <a:cs typeface="Georgia"/>
                  <a:sym typeface="Georgia"/>
                </a:endParaRPr>
              </a:p>
            </p:txBody>
          </p:sp>
          <p:sp>
            <p:nvSpPr>
              <p:cNvPr id="227" name="Google Shape;227;g3d2a2c2e009_1_25"/>
              <p:cNvSpPr/>
              <p:nvPr/>
            </p:nvSpPr>
            <p:spPr>
              <a:xfrm>
                <a:off x="2583794" y="1563357"/>
                <a:ext cx="1142400" cy="822300"/>
              </a:xfrm>
              <a:prstGeom prst="rect">
                <a:avLst/>
              </a:prstGeom>
              <a:solidFill>
                <a:schemeClr val="lt1"/>
              </a:solidFill>
              <a:ln w="9525" cap="flat" cmpd="sng">
                <a:solidFill>
                  <a:srgbClr val="E5E7EB"/>
                </a:solidFill>
                <a:prstDash val="solid"/>
                <a:round/>
                <a:headEnd type="none" w="sm" len="sm"/>
                <a:tailEnd type="none" w="sm" len="sm"/>
              </a:ln>
              <a:effectLst>
                <a:outerShdw blurRad="50760" dist="12218" dir="8100000" algn="bl" rotWithShape="0">
                  <a:schemeClr val="lt1">
                    <a:alpha val="7060"/>
                  </a:scheme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100" b="0" u="none" strike="noStrike">
                  <a:solidFill>
                    <a:srgbClr val="000000"/>
                  </a:solidFill>
                  <a:latin typeface="Arial"/>
                  <a:ea typeface="Arial"/>
                  <a:cs typeface="Arial"/>
                  <a:sym typeface="Arial"/>
                </a:endParaRPr>
              </a:p>
            </p:txBody>
          </p:sp>
          <p:sp>
            <p:nvSpPr>
              <p:cNvPr id="228" name="Google Shape;228;g3d2a2c2e009_1_25"/>
              <p:cNvSpPr/>
              <p:nvPr/>
            </p:nvSpPr>
            <p:spPr>
              <a:xfrm>
                <a:off x="2638694" y="178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Keyword</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Search</a:t>
                </a:r>
                <a:endParaRPr sz="1100" u="none" strike="noStrike">
                  <a:solidFill>
                    <a:srgbClr val="000000"/>
                  </a:solidFill>
                  <a:latin typeface="Georgia"/>
                  <a:ea typeface="Georgia"/>
                  <a:cs typeface="Georgia"/>
                  <a:sym typeface="Georgia"/>
                </a:endParaRPr>
              </a:p>
            </p:txBody>
          </p:sp>
          <p:cxnSp>
            <p:nvCxnSpPr>
              <p:cNvPr id="229" name="Google Shape;229;g3d2a2c2e009_1_25"/>
              <p:cNvCxnSpPr>
                <a:stCxn id="226" idx="3"/>
                <a:endCxn id="228" idx="1"/>
              </p:cNvCxnSpPr>
              <p:nvPr/>
            </p:nvCxnSpPr>
            <p:spPr>
              <a:xfrm>
                <a:off x="2323574" y="1974507"/>
                <a:ext cx="315000" cy="0"/>
              </a:xfrm>
              <a:prstGeom prst="straightConnector1">
                <a:avLst/>
              </a:prstGeom>
              <a:noFill/>
              <a:ln w="28575" cap="flat" cmpd="sng">
                <a:solidFill>
                  <a:srgbClr val="0A7C6E"/>
                </a:solidFill>
                <a:prstDash val="solid"/>
                <a:round/>
                <a:headEnd type="none" w="sm" len="sm"/>
                <a:tailEnd type="stealth" w="med" len="med"/>
              </a:ln>
            </p:spPr>
          </p:cxnSp>
          <p:cxnSp>
            <p:nvCxnSpPr>
              <p:cNvPr id="230" name="Google Shape;230;g3d2a2c2e009_1_25"/>
              <p:cNvCxnSpPr>
                <a:stCxn id="231" idx="3"/>
                <a:endCxn id="219" idx="1"/>
              </p:cNvCxnSpPr>
              <p:nvPr/>
            </p:nvCxnSpPr>
            <p:spPr>
              <a:xfrm>
                <a:off x="5124000" y="1619042"/>
                <a:ext cx="476400" cy="355500"/>
              </a:xfrm>
              <a:prstGeom prst="straightConnector1">
                <a:avLst/>
              </a:prstGeom>
              <a:noFill/>
              <a:ln w="28575" cap="flat" cmpd="sng">
                <a:solidFill>
                  <a:srgbClr val="0A7C6E"/>
                </a:solidFill>
                <a:prstDash val="solid"/>
                <a:round/>
                <a:headEnd type="none" w="sm" len="sm"/>
                <a:tailEnd type="stealth" w="med" len="med"/>
              </a:ln>
            </p:spPr>
          </p:cxnSp>
          <p:cxnSp>
            <p:nvCxnSpPr>
              <p:cNvPr id="232" name="Google Shape;232;g3d2a2c2e009_1_25"/>
              <p:cNvCxnSpPr>
                <a:stCxn id="228" idx="3"/>
                <a:endCxn id="231" idx="1"/>
              </p:cNvCxnSpPr>
              <p:nvPr/>
            </p:nvCxnSpPr>
            <p:spPr>
              <a:xfrm rot="10800000" flipH="1">
                <a:off x="3671294" y="1618977"/>
                <a:ext cx="343800" cy="355500"/>
              </a:xfrm>
              <a:prstGeom prst="straightConnector1">
                <a:avLst/>
              </a:prstGeom>
              <a:noFill/>
              <a:ln w="28575" cap="flat" cmpd="sng">
                <a:solidFill>
                  <a:srgbClr val="0A7C6E"/>
                </a:solidFill>
                <a:prstDash val="solid"/>
                <a:round/>
                <a:headEnd type="none" w="sm" len="sm"/>
                <a:tailEnd type="stealth" w="med" len="med"/>
              </a:ln>
            </p:spPr>
          </p:cxnSp>
          <p:sp>
            <p:nvSpPr>
              <p:cNvPr id="231" name="Google Shape;231;g3d2a2c2e009_1_25"/>
              <p:cNvSpPr/>
              <p:nvPr/>
            </p:nvSpPr>
            <p:spPr>
              <a:xfrm>
                <a:off x="4015200" y="1390742"/>
                <a:ext cx="1108800" cy="456600"/>
              </a:xfrm>
              <a:prstGeom prst="rect">
                <a:avLst/>
              </a:prstGeom>
              <a:solidFill>
                <a:schemeClr val="lt1"/>
              </a:solidFill>
              <a:ln w="12700" cap="flat" cmpd="sng">
                <a:solidFill>
                  <a:srgbClr val="E5E7EB"/>
                </a:solidFill>
                <a:prstDash val="solid"/>
                <a:miter lim="800000"/>
                <a:headEnd type="none" w="sm" len="sm"/>
                <a:tailEnd type="none" w="sm" len="sm"/>
              </a:ln>
            </p:spPr>
            <p:txBody>
              <a:bodyPr spcFirstLastPara="1" wrap="square" lIns="90000" tIns="45000" rIns="90000" bIns="45000" anchor="ctr" anchorCtr="1">
                <a:noAutofit/>
              </a:bodyPr>
              <a:lstStyle/>
              <a:p>
                <a:pPr marL="0" marR="0" lvl="0" indent="0" algn="ctr" rtl="0">
                  <a:lnSpc>
                    <a:spcPct val="100000"/>
                  </a:lnSpc>
                  <a:spcBef>
                    <a:spcPts val="0"/>
                  </a:spcBef>
                  <a:spcAft>
                    <a:spcPts val="0"/>
                  </a:spcAft>
                  <a:buNone/>
                </a:pPr>
                <a:r>
                  <a:rPr lang="de-DE" sz="1100" u="none" strike="noStrike" dirty="0">
                    <a:solidFill>
                      <a:schemeClr val="dk1"/>
                    </a:solidFill>
                    <a:latin typeface="Georgia"/>
                    <a:ea typeface="Georgia"/>
                    <a:cs typeface="Georgia"/>
                    <a:sym typeface="Georgia"/>
                  </a:rPr>
                  <a:t>Chunking</a:t>
                </a:r>
                <a:br>
                  <a:rPr lang="de-DE" sz="1100" dirty="0">
                    <a:solidFill>
                      <a:schemeClr val="dk1"/>
                    </a:solidFill>
                    <a:latin typeface="Georgia"/>
                    <a:ea typeface="Georgia"/>
                    <a:cs typeface="Georgia"/>
                    <a:sym typeface="Georgia"/>
                  </a:rPr>
                </a:br>
                <a:r>
                  <a:rPr lang="de-DE" sz="1100" u="none" strike="noStrike" dirty="0" err="1">
                    <a:solidFill>
                      <a:schemeClr val="dk1"/>
                    </a:solidFill>
                    <a:latin typeface="Georgia"/>
                    <a:ea typeface="Georgia"/>
                    <a:cs typeface="Georgia"/>
                    <a:sym typeface="Georgia"/>
                  </a:rPr>
                  <a:t>embedding</a:t>
                </a:r>
                <a:endParaRPr sz="1100" u="none" strike="noStrike" dirty="0">
                  <a:solidFill>
                    <a:schemeClr val="dk1"/>
                  </a:solidFill>
                  <a:latin typeface="Georgia"/>
                  <a:ea typeface="Georgia"/>
                  <a:cs typeface="Georgia"/>
                  <a:sym typeface="Georgia"/>
                </a:endParaRPr>
              </a:p>
            </p:txBody>
          </p:sp>
          <p:grpSp>
            <p:nvGrpSpPr>
              <p:cNvPr id="233" name="Google Shape;233;g3d2a2c2e009_1_25"/>
              <p:cNvGrpSpPr/>
              <p:nvPr/>
            </p:nvGrpSpPr>
            <p:grpSpPr>
              <a:xfrm>
                <a:off x="3998400" y="2089119"/>
                <a:ext cx="1142400" cy="505500"/>
                <a:chOff x="3982388" y="2166182"/>
                <a:chExt cx="1142400" cy="505500"/>
              </a:xfrm>
            </p:grpSpPr>
            <p:sp>
              <p:nvSpPr>
                <p:cNvPr id="234" name="Google Shape;234;g3d2a2c2e009_1_25"/>
                <p:cNvSpPr/>
                <p:nvPr/>
              </p:nvSpPr>
              <p:spPr>
                <a:xfrm>
                  <a:off x="3982388" y="2166182"/>
                  <a:ext cx="1142400" cy="505500"/>
                </a:xfrm>
                <a:prstGeom prst="rect">
                  <a:avLst/>
                </a:prstGeom>
                <a:solidFill>
                  <a:srgbClr val="D4B96A"/>
                </a:solidFill>
                <a:ln w="9525" cap="flat" cmpd="sng">
                  <a:solidFill>
                    <a:srgbClr val="E5E7EB"/>
                  </a:solidFill>
                  <a:prstDash val="solid"/>
                  <a:round/>
                  <a:headEnd type="none" w="sm" len="sm"/>
                  <a:tailEnd type="none" w="sm" len="sm"/>
                </a:ln>
                <a:effectLst>
                  <a:outerShdw blurRad="50760" dist="12218" dir="8100000" algn="bl" rotWithShape="0">
                    <a:srgbClr val="000000">
                      <a:alpha val="7060"/>
                    </a:srgb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chemeClr val="dk1"/>
                    </a:solidFill>
                    <a:latin typeface="Arial"/>
                    <a:ea typeface="Arial"/>
                    <a:cs typeface="Arial"/>
                    <a:sym typeface="Arial"/>
                  </a:endParaRPr>
                </a:p>
              </p:txBody>
            </p:sp>
            <p:sp>
              <p:nvSpPr>
                <p:cNvPr id="235" name="Google Shape;235;g3d2a2c2e009_1_25"/>
                <p:cNvSpPr/>
                <p:nvPr/>
              </p:nvSpPr>
              <p:spPr>
                <a:xfrm>
                  <a:off x="4037288" y="2326461"/>
                  <a:ext cx="1032600" cy="221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chemeClr val="dk1"/>
                      </a:solidFill>
                      <a:latin typeface="Georgia"/>
                      <a:ea typeface="Georgia"/>
                      <a:cs typeface="Georgia"/>
                      <a:sym typeface="Georgia"/>
                    </a:rPr>
                    <a:t>Semantic</a:t>
                  </a:r>
                  <a:endParaRPr sz="1100" u="none" strike="noStrike">
                    <a:solidFill>
                      <a:schemeClr val="dk1"/>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b="1" u="none" strike="noStrike">
                      <a:solidFill>
                        <a:schemeClr val="dk1"/>
                      </a:solidFill>
                      <a:latin typeface="Georgia"/>
                      <a:ea typeface="Georgia"/>
                      <a:cs typeface="Georgia"/>
                      <a:sym typeface="Georgia"/>
                    </a:rPr>
                    <a:t>Search</a:t>
                  </a:r>
                  <a:endParaRPr sz="1100" u="none" strike="noStrike">
                    <a:solidFill>
                      <a:schemeClr val="dk1"/>
                    </a:solidFill>
                    <a:latin typeface="Georgia"/>
                    <a:ea typeface="Georgia"/>
                    <a:cs typeface="Georgia"/>
                    <a:sym typeface="Georgia"/>
                  </a:endParaRPr>
                </a:p>
              </p:txBody>
            </p:sp>
          </p:grpSp>
          <p:cxnSp>
            <p:nvCxnSpPr>
              <p:cNvPr id="236" name="Google Shape;236;g3d2a2c2e009_1_25"/>
              <p:cNvCxnSpPr>
                <a:stCxn id="228" idx="3"/>
                <a:endCxn id="234" idx="1"/>
              </p:cNvCxnSpPr>
              <p:nvPr/>
            </p:nvCxnSpPr>
            <p:spPr>
              <a:xfrm>
                <a:off x="3671294" y="1974477"/>
                <a:ext cx="327000" cy="367500"/>
              </a:xfrm>
              <a:prstGeom prst="straightConnector1">
                <a:avLst/>
              </a:prstGeom>
              <a:noFill/>
              <a:ln w="28575" cap="flat" cmpd="sng">
                <a:solidFill>
                  <a:srgbClr val="0A7C6E"/>
                </a:solidFill>
                <a:prstDash val="solid"/>
                <a:round/>
                <a:headEnd type="none" w="sm" len="sm"/>
                <a:tailEnd type="stealth" w="med" len="med"/>
              </a:ln>
            </p:spPr>
          </p:cxnSp>
          <p:cxnSp>
            <p:nvCxnSpPr>
              <p:cNvPr id="237" name="Google Shape;237;g3d2a2c2e009_1_25"/>
              <p:cNvCxnSpPr>
                <a:stCxn id="234" idx="3"/>
                <a:endCxn id="219" idx="1"/>
              </p:cNvCxnSpPr>
              <p:nvPr/>
            </p:nvCxnSpPr>
            <p:spPr>
              <a:xfrm rot="10800000" flipH="1">
                <a:off x="5140800" y="1974369"/>
                <a:ext cx="459600" cy="367500"/>
              </a:xfrm>
              <a:prstGeom prst="straightConnector1">
                <a:avLst/>
              </a:prstGeom>
              <a:noFill/>
              <a:ln w="28575" cap="flat" cmpd="sng">
                <a:solidFill>
                  <a:srgbClr val="0A7C6E"/>
                </a:solidFill>
                <a:prstDash val="solid"/>
                <a:round/>
                <a:headEnd type="none" w="sm" len="sm"/>
                <a:tailEnd type="stealth" w="med" len="med"/>
              </a:ln>
            </p:spPr>
          </p:cxnSp>
        </p:grpSp>
        <p:grpSp>
          <p:nvGrpSpPr>
            <p:cNvPr id="238" name="Google Shape;238;g3d2a2c2e009_1_25"/>
            <p:cNvGrpSpPr/>
            <p:nvPr/>
          </p:nvGrpSpPr>
          <p:grpSpPr>
            <a:xfrm>
              <a:off x="6370549" y="1564593"/>
              <a:ext cx="1142400" cy="822300"/>
              <a:chOff x="6383179" y="1546393"/>
              <a:chExt cx="1142400" cy="822300"/>
            </a:xfrm>
          </p:grpSpPr>
          <p:sp>
            <p:nvSpPr>
              <p:cNvPr id="239" name="Google Shape;239;g3d2a2c2e009_1_25"/>
              <p:cNvSpPr/>
              <p:nvPr/>
            </p:nvSpPr>
            <p:spPr>
              <a:xfrm>
                <a:off x="6383179" y="1546393"/>
                <a:ext cx="1142400" cy="822300"/>
              </a:xfrm>
              <a:prstGeom prst="rect">
                <a:avLst/>
              </a:prstGeom>
              <a:solidFill>
                <a:srgbClr val="FFFFFF"/>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223" name="Google Shape;223;g3d2a2c2e009_1_25"/>
              <p:cNvSpPr/>
              <p:nvPr/>
            </p:nvSpPr>
            <p:spPr>
              <a:xfrm>
                <a:off x="6465529" y="1782777"/>
                <a:ext cx="1032600" cy="3834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Top-K</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Articles</a:t>
                </a:r>
                <a:endParaRPr sz="1100" u="none" strike="noStrike">
                  <a:solidFill>
                    <a:srgbClr val="000000"/>
                  </a:solidFill>
                  <a:latin typeface="Georgia"/>
                  <a:ea typeface="Georgia"/>
                  <a:cs typeface="Georgia"/>
                  <a:sym typeface="Georgia"/>
                </a:endParaRPr>
              </a:p>
            </p:txBody>
          </p:sp>
        </p:grpSp>
        <p:cxnSp>
          <p:nvCxnSpPr>
            <p:cNvPr id="240" name="Google Shape;240;g3d2a2c2e009_1_25"/>
            <p:cNvCxnSpPr>
              <a:cxnSpLocks/>
              <a:stCxn id="218" idx="3"/>
              <a:endCxn id="239" idx="1"/>
            </p:cNvCxnSpPr>
            <p:nvPr/>
          </p:nvCxnSpPr>
          <p:spPr>
            <a:xfrm>
              <a:off x="6108499" y="1974502"/>
              <a:ext cx="262050" cy="1241"/>
            </a:xfrm>
            <a:prstGeom prst="straightConnector1">
              <a:avLst/>
            </a:prstGeom>
            <a:noFill/>
            <a:ln w="28575" cap="flat" cmpd="sng">
              <a:solidFill>
                <a:srgbClr val="0A7C6E"/>
              </a:solidFill>
              <a:prstDash val="solid"/>
              <a:round/>
              <a:headEnd type="none" w="sm" len="sm"/>
              <a:tailEnd type="stealth" w="med" len="med"/>
            </a:ln>
          </p:spPr>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245"/>
        <p:cNvGrpSpPr/>
        <p:nvPr/>
      </p:nvGrpSpPr>
      <p:grpSpPr>
        <a:xfrm>
          <a:off x="0" y="0"/>
          <a:ext cx="0" cy="0"/>
          <a:chOff x="0" y="0"/>
          <a:chExt cx="0" cy="0"/>
        </a:xfrm>
      </p:grpSpPr>
      <p:sp>
        <p:nvSpPr>
          <p:cNvPr id="246" name="Google Shape;246;g3d2a2c2e009_1_81"/>
          <p:cNvSpPr/>
          <p:nvPr/>
        </p:nvSpPr>
        <p:spPr>
          <a:xfrm>
            <a:off x="502920" y="201240"/>
            <a:ext cx="1869000" cy="219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b="1" u="none" strike="noStrike">
                <a:solidFill>
                  <a:srgbClr val="0A7C6E"/>
                </a:solidFill>
                <a:latin typeface="Courier New"/>
                <a:ea typeface="Courier New"/>
                <a:cs typeface="Courier New"/>
                <a:sym typeface="Courier New"/>
              </a:rPr>
              <a:t>HOW IT WORKS</a:t>
            </a:r>
            <a:endParaRPr sz="1100" b="0" u="none" strike="noStrike">
              <a:solidFill>
                <a:srgbClr val="000000"/>
              </a:solidFill>
              <a:latin typeface="Arial"/>
              <a:ea typeface="Arial"/>
              <a:cs typeface="Arial"/>
              <a:sym typeface="Arial"/>
            </a:endParaRPr>
          </a:p>
        </p:txBody>
      </p:sp>
      <p:sp>
        <p:nvSpPr>
          <p:cNvPr id="247" name="Google Shape;247;g3d2a2c2e009_1_81"/>
          <p:cNvSpPr/>
          <p:nvPr/>
        </p:nvSpPr>
        <p:spPr>
          <a:xfrm>
            <a:off x="502920" y="420480"/>
            <a:ext cx="8229000" cy="4566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2200" b="1" u="none" strike="noStrike">
                <a:solidFill>
                  <a:srgbClr val="0D2137"/>
                </a:solidFill>
                <a:latin typeface="Georgia"/>
                <a:ea typeface="Georgia"/>
                <a:cs typeface="Georgia"/>
                <a:sym typeface="Georgia"/>
              </a:rPr>
              <a:t>The Pipeline — Clinical Question to Answer</a:t>
            </a:r>
            <a:endParaRPr sz="2200" b="0" u="none" strike="noStrike">
              <a:solidFill>
                <a:srgbClr val="000000"/>
              </a:solidFill>
              <a:latin typeface="Arial"/>
              <a:ea typeface="Arial"/>
              <a:cs typeface="Arial"/>
              <a:sym typeface="Arial"/>
            </a:endParaRPr>
          </a:p>
        </p:txBody>
      </p:sp>
      <p:sp>
        <p:nvSpPr>
          <p:cNvPr id="248" name="Google Shape;248;g3d2a2c2e009_1_81"/>
          <p:cNvSpPr/>
          <p:nvPr/>
        </p:nvSpPr>
        <p:spPr>
          <a:xfrm>
            <a:off x="502920" y="956854"/>
            <a:ext cx="8229000" cy="200400"/>
          </a:xfrm>
          <a:prstGeom prst="rect">
            <a:avLst/>
          </a:prstGeom>
          <a:noFill/>
          <a:ln>
            <a:noFill/>
          </a:ln>
        </p:spPr>
        <p:txBody>
          <a:bodyPr spcFirstLastPara="1" wrap="square" lIns="90000" tIns="45000" rIns="90000" bIns="45000" anchor="ctr" anchorCtr="0">
            <a:noAutofit/>
          </a:bodyPr>
          <a:lstStyle/>
          <a:p>
            <a:pPr marL="0" lvl="0" indent="0" algn="l" rtl="0">
              <a:spcBef>
                <a:spcPts val="0"/>
              </a:spcBef>
              <a:spcAft>
                <a:spcPts val="0"/>
              </a:spcAft>
              <a:buNone/>
            </a:pPr>
            <a:r>
              <a:rPr lang="de-DE" sz="1100" b="1">
                <a:solidFill>
                  <a:srgbClr val="0A7C6E"/>
                </a:solidFill>
                <a:latin typeface="Courier New"/>
                <a:ea typeface="Courier New"/>
                <a:cs typeface="Courier New"/>
                <a:sym typeface="Courier New"/>
              </a:rPr>
              <a:t>Third Iteration:</a:t>
            </a:r>
            <a:r>
              <a:rPr lang="de-DE" sz="1100">
                <a:solidFill>
                  <a:srgbClr val="0A7C6E"/>
                </a:solidFill>
                <a:latin typeface="Courier New"/>
                <a:ea typeface="Courier New"/>
                <a:cs typeface="Courier New"/>
                <a:sym typeface="Courier New"/>
              </a:rPr>
              <a:t> </a:t>
            </a:r>
            <a:r>
              <a:rPr lang="de-DE" sz="1100" b="1">
                <a:solidFill>
                  <a:srgbClr val="0A7C6E"/>
                </a:solidFill>
                <a:latin typeface="Courier New"/>
                <a:ea typeface="Courier New"/>
                <a:cs typeface="Courier New"/>
                <a:sym typeface="Courier New"/>
              </a:rPr>
              <a:t>Lexicographical AND Semantic Processing</a:t>
            </a:r>
            <a:endParaRPr sz="1100" b="1" u="none" strike="noStrike">
              <a:solidFill>
                <a:srgbClr val="000000"/>
              </a:solidFill>
            </a:endParaRPr>
          </a:p>
        </p:txBody>
      </p:sp>
      <p:sp>
        <p:nvSpPr>
          <p:cNvPr id="249" name="Google Shape;249;g3d2a2c2e009_1_81"/>
          <p:cNvSpPr/>
          <p:nvPr/>
        </p:nvSpPr>
        <p:spPr>
          <a:xfrm>
            <a:off x="4951634" y="3556847"/>
            <a:ext cx="2868000" cy="1025100"/>
          </a:xfrm>
          <a:prstGeom prst="rect">
            <a:avLst/>
          </a:prstGeom>
          <a:solidFill>
            <a:srgbClr val="0A7C6E"/>
          </a:solidFill>
          <a:ln>
            <a:noFill/>
          </a:ln>
          <a:effectLst>
            <a:outerShdw blurRad="57150" dist="19050" dir="5400000" algn="bl" rotWithShape="0">
              <a:srgbClr val="000000">
                <a:alpha val="50000"/>
              </a:srgbClr>
            </a:outerShdw>
          </a:effectLst>
        </p:spPr>
        <p:txBody>
          <a:bodyPr spcFirstLastPara="1" wrap="square" lIns="126000" tIns="82800" rIns="126000" bIns="82800" anchor="t" anchorCtr="0">
            <a:noAutofit/>
          </a:bodyPr>
          <a:lstStyle/>
          <a:p>
            <a:pPr marL="0" marR="0" lvl="0" indent="0" algn="l" defTabSz="914400" rtl="0" eaLnBrk="1" fontAlgn="auto" latinLnBrk="0" hangingPunct="1">
              <a:lnSpc>
                <a:spcPct val="135000"/>
              </a:lnSpc>
              <a:spcBef>
                <a:spcPts val="0"/>
              </a:spcBef>
              <a:spcAft>
                <a:spcPts val="0"/>
              </a:spcAft>
              <a:buClrTx/>
              <a:buSzTx/>
              <a:buFontTx/>
              <a:buNone/>
              <a:tabLst>
                <a:tab pos="0" algn="l"/>
              </a:tabLst>
              <a:defRPr/>
            </a:pPr>
            <a:r>
              <a:rPr kumimoji="0" lang="en-US" sz="1200" b="1" i="1" u="none" strike="noStrike" kern="1200" cap="none" spc="0" normalizeH="0" baseline="0" noProof="0" dirty="0">
                <a:ln>
                  <a:noFill/>
                </a:ln>
                <a:solidFill>
                  <a:schemeClr val="bg1"/>
                </a:solidFill>
                <a:effectLst/>
                <a:uLnTx/>
                <a:uFillTx/>
                <a:latin typeface="Georgia"/>
                <a:ea typeface="+mn-ea"/>
                <a:cs typeface="+mn-cs"/>
              </a:rPr>
              <a:t>Relevant papers retrieved. Specific, grounded, citable. Covers major aspects of query.</a:t>
            </a:r>
            <a:endParaRPr kumimoji="0" lang="de-DE" sz="1200" b="0" i="0" u="none" strike="noStrike" kern="1200" cap="none" spc="0" normalizeH="0" baseline="0" noProof="0" dirty="0">
              <a:ln>
                <a:noFill/>
              </a:ln>
              <a:solidFill>
                <a:schemeClr val="bg1"/>
              </a:solidFill>
              <a:effectLst/>
              <a:uLnTx/>
              <a:uFillTx/>
              <a:latin typeface="Arial"/>
              <a:ea typeface="+mn-ea"/>
              <a:cs typeface="+mn-cs"/>
            </a:endParaRPr>
          </a:p>
        </p:txBody>
      </p:sp>
      <p:sp>
        <p:nvSpPr>
          <p:cNvPr id="250" name="Google Shape;250;g3d2a2c2e009_1_81"/>
          <p:cNvSpPr txBox="1"/>
          <p:nvPr/>
        </p:nvSpPr>
        <p:spPr>
          <a:xfrm>
            <a:off x="373350" y="2657875"/>
            <a:ext cx="8609100" cy="352500"/>
          </a:xfrm>
          <a:prstGeom prst="rect">
            <a:avLst/>
          </a:prstGeom>
          <a:noFill/>
          <a:ln>
            <a:noFill/>
          </a:ln>
        </p:spPr>
        <p:txBody>
          <a:bodyPr spcFirstLastPara="1" wrap="square" lIns="90000" tIns="45000" rIns="90000" bIns="45000" anchor="ctr" anchorCtr="0">
            <a:noAutofit/>
          </a:bodyPr>
          <a:lstStyle/>
          <a:p>
            <a:pPr marL="0" lvl="0" indent="0" algn="ctr" rtl="0">
              <a:spcBef>
                <a:spcPts val="0"/>
              </a:spcBef>
              <a:spcAft>
                <a:spcPts val="0"/>
              </a:spcAft>
              <a:buNone/>
            </a:pPr>
            <a:r>
              <a:rPr lang="de-DE" sz="1100" b="1">
                <a:solidFill>
                  <a:srgbClr val="6B7280"/>
                </a:solidFill>
                <a:latin typeface="Courier New"/>
                <a:ea typeface="Courier New"/>
                <a:cs typeface="Courier New"/>
                <a:sym typeface="Courier New"/>
              </a:rPr>
              <a:t>Query </a:t>
            </a:r>
            <a:r>
              <a:rPr lang="de-DE" sz="1700" b="1">
                <a:solidFill>
                  <a:srgbClr val="6B7280"/>
                </a:solidFill>
                <a:latin typeface="Courier New"/>
                <a:ea typeface="Courier New"/>
                <a:cs typeface="Courier New"/>
                <a:sym typeface="Courier New"/>
              </a:rPr>
              <a:t>→</a:t>
            </a:r>
            <a:r>
              <a:rPr lang="de-DE" sz="1100" b="1">
                <a:solidFill>
                  <a:srgbClr val="6B7280"/>
                </a:solidFill>
                <a:latin typeface="Courier New"/>
                <a:ea typeface="Courier New"/>
                <a:cs typeface="Courier New"/>
                <a:sym typeface="Courier New"/>
              </a:rPr>
              <a:t> BM25(lexicographic search) | PubmedBERT + FAISS (semantic search) </a:t>
            </a:r>
            <a:r>
              <a:rPr lang="de-DE" sz="1700" b="1">
                <a:solidFill>
                  <a:srgbClr val="6B7280"/>
                </a:solidFill>
                <a:latin typeface="Courier New"/>
                <a:ea typeface="Courier New"/>
                <a:cs typeface="Courier New"/>
                <a:sym typeface="Courier New"/>
              </a:rPr>
              <a:t>→</a:t>
            </a:r>
            <a:r>
              <a:rPr lang="de-DE" sz="1100" b="1">
                <a:solidFill>
                  <a:srgbClr val="6B7280"/>
                </a:solidFill>
                <a:latin typeface="Courier New"/>
                <a:ea typeface="Courier New"/>
                <a:cs typeface="Courier New"/>
                <a:sym typeface="Courier New"/>
              </a:rPr>
              <a:t> RRF(merge) </a:t>
            </a:r>
            <a:r>
              <a:rPr lang="de-DE" sz="1700" b="1">
                <a:solidFill>
                  <a:srgbClr val="6B7280"/>
                </a:solidFill>
                <a:latin typeface="Courier New"/>
                <a:ea typeface="Courier New"/>
                <a:cs typeface="Courier New"/>
                <a:sym typeface="Courier New"/>
              </a:rPr>
              <a:t>→</a:t>
            </a:r>
            <a:r>
              <a:rPr lang="de-DE" sz="1100" b="1">
                <a:solidFill>
                  <a:srgbClr val="6B7280"/>
                </a:solidFill>
                <a:latin typeface="Courier New"/>
                <a:ea typeface="Courier New"/>
                <a:cs typeface="Courier New"/>
                <a:sym typeface="Courier New"/>
              </a:rPr>
              <a:t> Llama 70B</a:t>
            </a:r>
            <a:endParaRPr sz="1100" b="1">
              <a:solidFill>
                <a:srgbClr val="6B7280"/>
              </a:solidFill>
              <a:latin typeface="Courier New"/>
              <a:ea typeface="Courier New"/>
              <a:cs typeface="Courier New"/>
              <a:sym typeface="Courier New"/>
            </a:endParaRPr>
          </a:p>
        </p:txBody>
      </p:sp>
      <p:grpSp>
        <p:nvGrpSpPr>
          <p:cNvPr id="251" name="Google Shape;251;g3d2a2c2e009_1_81"/>
          <p:cNvGrpSpPr/>
          <p:nvPr/>
        </p:nvGrpSpPr>
        <p:grpSpPr>
          <a:xfrm>
            <a:off x="1221112" y="3207421"/>
            <a:ext cx="2978785" cy="1785423"/>
            <a:chOff x="1319699" y="3357978"/>
            <a:chExt cx="2880001" cy="1785423"/>
          </a:xfrm>
        </p:grpSpPr>
        <p:sp>
          <p:nvSpPr>
            <p:cNvPr id="252" name="Google Shape;252;g3d2a2c2e009_1_81"/>
            <p:cNvSpPr/>
            <p:nvPr/>
          </p:nvSpPr>
          <p:spPr>
            <a:xfrm>
              <a:off x="1319700" y="3387201"/>
              <a:ext cx="2880000" cy="1756200"/>
            </a:xfrm>
            <a:prstGeom prst="rect">
              <a:avLst/>
            </a:prstGeom>
            <a:solidFill>
              <a:schemeClr val="lt1"/>
            </a:solidFill>
            <a:ln>
              <a:noFill/>
            </a:ln>
          </p:spPr>
          <p:txBody>
            <a:bodyPr spcFirstLastPara="1" wrap="square" lIns="90000" tIns="45000" rIns="90000" bIns="45000" anchor="t" anchorCtr="0">
              <a:noAutofit/>
            </a:bodyPr>
            <a:lstStyle/>
            <a:p>
              <a:pPr marL="457200" marR="0" lvl="0" indent="0" algn="l" rtl="0">
                <a:lnSpc>
                  <a:spcPct val="100000"/>
                </a:lnSpc>
                <a:spcBef>
                  <a:spcPts val="0"/>
                </a:spcBef>
                <a:spcAft>
                  <a:spcPts val="0"/>
                </a:spcAft>
                <a:buNone/>
              </a:pPr>
              <a:endParaRPr sz="1100" dirty="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dirty="0" err="1">
                  <a:solidFill>
                    <a:srgbClr val="555555"/>
                  </a:solidFill>
                  <a:latin typeface="Georgia"/>
                  <a:ea typeface="Georgia"/>
                  <a:cs typeface="Georgia"/>
                  <a:sym typeface="Georgia"/>
                </a:rPr>
                <a:t>PubMedBERT</a:t>
              </a:r>
              <a:r>
                <a:rPr lang="de-DE" sz="1100" dirty="0">
                  <a:solidFill>
                    <a:srgbClr val="555555"/>
                  </a:solidFill>
                  <a:latin typeface="Georgia"/>
                  <a:ea typeface="Georgia"/>
                  <a:cs typeface="Georgia"/>
                  <a:sym typeface="Georgia"/>
                </a:rPr>
                <a:t>: </a:t>
              </a:r>
              <a:r>
                <a:rPr lang="de-DE" sz="1100" b="1" dirty="0">
                  <a:solidFill>
                    <a:srgbClr val="555555"/>
                  </a:solidFill>
                  <a:latin typeface="Georgia"/>
                  <a:ea typeface="Georgia"/>
                  <a:cs typeface="Georgia"/>
                  <a:sym typeface="Georgia"/>
                </a:rPr>
                <a:t> </a:t>
              </a:r>
              <a:r>
                <a:rPr lang="de-DE" sz="1100" b="1" dirty="0" err="1">
                  <a:solidFill>
                    <a:srgbClr val="555555"/>
                  </a:solidFill>
                  <a:latin typeface="Georgia"/>
                  <a:ea typeface="Georgia"/>
                  <a:cs typeface="Georgia"/>
                  <a:sym typeface="Georgia"/>
                </a:rPr>
                <a:t>specialized</a:t>
              </a:r>
              <a:r>
                <a:rPr lang="de-DE" sz="1100" b="1" dirty="0">
                  <a:solidFill>
                    <a:srgbClr val="555555"/>
                  </a:solidFill>
                  <a:latin typeface="Georgia"/>
                  <a:ea typeface="Georgia"/>
                  <a:cs typeface="Georgia"/>
                  <a:sym typeface="Georgia"/>
                </a:rPr>
                <a:t> LLM</a:t>
              </a:r>
              <a:br>
                <a:rPr lang="de-DE" sz="1100" dirty="0">
                  <a:solidFill>
                    <a:srgbClr val="555555"/>
                  </a:solidFill>
                  <a:latin typeface="Georgia"/>
                  <a:ea typeface="Georgia"/>
                  <a:cs typeface="Georgia"/>
                  <a:sym typeface="Georgia"/>
                </a:rPr>
              </a:br>
              <a:endParaRPr sz="300" dirty="0">
                <a:solidFill>
                  <a:srgbClr val="555555"/>
                </a:solidFill>
                <a:latin typeface="Georgia"/>
                <a:ea typeface="Georgia"/>
                <a:cs typeface="Georgia"/>
                <a:sym typeface="Georgia"/>
              </a:endParaRPr>
            </a:p>
            <a:p>
              <a:pPr marL="450000" marR="0" lvl="1" indent="-205083" algn="l" rtl="0">
                <a:lnSpc>
                  <a:spcPct val="100000"/>
                </a:lnSpc>
                <a:spcBef>
                  <a:spcPts val="0"/>
                </a:spcBef>
                <a:spcAft>
                  <a:spcPts val="0"/>
                </a:spcAft>
                <a:buClr>
                  <a:schemeClr val="dk1"/>
                </a:buClr>
                <a:buSzPts val="395"/>
                <a:buFont typeface="Georgia"/>
                <a:buChar char="○"/>
              </a:pPr>
              <a:r>
                <a:rPr lang="de-DE" sz="1000" dirty="0" err="1">
                  <a:solidFill>
                    <a:srgbClr val="555555"/>
                  </a:solidFill>
                  <a:latin typeface="Georgia"/>
                  <a:ea typeface="Georgia"/>
                  <a:cs typeface="Georgia"/>
                  <a:sym typeface="Georgia"/>
                </a:rPr>
                <a:t>Used</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for</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the</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medical</a:t>
              </a:r>
              <a:r>
                <a:rPr lang="de-DE" sz="1000" dirty="0">
                  <a:solidFill>
                    <a:srgbClr val="555555"/>
                  </a:solidFill>
                  <a:latin typeface="Georgia"/>
                  <a:ea typeface="Georgia"/>
                  <a:cs typeface="Georgia"/>
                  <a:sym typeface="Georgia"/>
                </a:rPr>
                <a:t> and </a:t>
              </a:r>
              <a:r>
                <a:rPr lang="de-DE" sz="1000" dirty="0" err="1">
                  <a:solidFill>
                    <a:srgbClr val="555555"/>
                  </a:solidFill>
                  <a:latin typeface="Georgia"/>
                  <a:ea typeface="Georgia"/>
                  <a:cs typeface="Georgia"/>
                  <a:sym typeface="Georgia"/>
                </a:rPr>
                <a:t>biological</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fields</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likeliness</a:t>
              </a:r>
              <a:r>
                <a:rPr lang="de-DE" sz="1000" dirty="0">
                  <a:solidFill>
                    <a:srgbClr val="555555"/>
                  </a:solidFill>
                  <a:latin typeface="Georgia"/>
                  <a:ea typeface="Georgia"/>
                  <a:cs typeface="Georgia"/>
                  <a:sym typeface="Georgia"/>
                </a:rPr>
                <a:t>. </a:t>
              </a:r>
              <a:br>
                <a:rPr lang="de-DE" sz="1000" dirty="0">
                  <a:solidFill>
                    <a:srgbClr val="555555"/>
                  </a:solidFill>
                  <a:latin typeface="Georgia"/>
                  <a:ea typeface="Georgia"/>
                  <a:cs typeface="Georgia"/>
                  <a:sym typeface="Georgia"/>
                </a:rPr>
              </a:br>
              <a:endParaRPr sz="200" dirty="0">
                <a:solidFill>
                  <a:srgbClr val="555555"/>
                </a:solidFill>
                <a:latin typeface="Georgia"/>
                <a:ea typeface="Georgia"/>
                <a:cs typeface="Georgia"/>
                <a:sym typeface="Georgia"/>
              </a:endParaRPr>
            </a:p>
            <a:p>
              <a:pPr marL="450000" marR="0" lvl="1" indent="-205083" algn="l" rtl="0">
                <a:lnSpc>
                  <a:spcPct val="100000"/>
                </a:lnSpc>
                <a:spcBef>
                  <a:spcPts val="0"/>
                </a:spcBef>
                <a:spcAft>
                  <a:spcPts val="0"/>
                </a:spcAft>
                <a:buClr>
                  <a:schemeClr val="dk1"/>
                </a:buClr>
                <a:buSzPts val="395"/>
                <a:buFont typeface="Georgia"/>
                <a:buChar char="○"/>
              </a:pPr>
              <a:r>
                <a:rPr lang="de-DE" sz="1000" dirty="0" err="1">
                  <a:solidFill>
                    <a:srgbClr val="555555"/>
                  </a:solidFill>
                  <a:latin typeface="Georgia"/>
                  <a:ea typeface="Georgia"/>
                  <a:cs typeface="Georgia"/>
                  <a:sym typeface="Georgia"/>
                </a:rPr>
                <a:t>converts</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medical</a:t>
              </a:r>
              <a:r>
                <a:rPr lang="de-DE" sz="1000" dirty="0">
                  <a:solidFill>
                    <a:srgbClr val="555555"/>
                  </a:solidFill>
                  <a:latin typeface="Georgia"/>
                  <a:ea typeface="Georgia"/>
                  <a:cs typeface="Georgia"/>
                  <a:sym typeface="Georgia"/>
                </a:rPr>
                <a:t> and </a:t>
              </a:r>
              <a:r>
                <a:rPr lang="de-DE" sz="1000" dirty="0" err="1">
                  <a:solidFill>
                    <a:srgbClr val="555555"/>
                  </a:solidFill>
                  <a:latin typeface="Georgia"/>
                  <a:ea typeface="Georgia"/>
                  <a:cs typeface="Georgia"/>
                  <a:sym typeface="Georgia"/>
                </a:rPr>
                <a:t>biological</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tokens</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into</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embeddings</a:t>
              </a:r>
              <a:br>
                <a:rPr lang="de-DE" sz="1000" dirty="0">
                  <a:solidFill>
                    <a:srgbClr val="555555"/>
                  </a:solidFill>
                  <a:latin typeface="Georgia"/>
                  <a:ea typeface="Georgia"/>
                  <a:cs typeface="Georgia"/>
                  <a:sym typeface="Georgia"/>
                </a:rPr>
              </a:br>
              <a:endParaRPr sz="200" dirty="0">
                <a:solidFill>
                  <a:srgbClr val="555555"/>
                </a:solidFill>
                <a:latin typeface="Georgia"/>
                <a:ea typeface="Georgia"/>
                <a:cs typeface="Georgia"/>
                <a:sym typeface="Georgia"/>
              </a:endParaRPr>
            </a:p>
            <a:p>
              <a:pPr marL="450000" marR="0" lvl="1" indent="-211433" algn="l" rtl="0">
                <a:lnSpc>
                  <a:spcPct val="100000"/>
                </a:lnSpc>
                <a:spcBef>
                  <a:spcPts val="0"/>
                </a:spcBef>
                <a:spcAft>
                  <a:spcPts val="0"/>
                </a:spcAft>
                <a:buClr>
                  <a:schemeClr val="dk1"/>
                </a:buClr>
                <a:buSzPts val="495"/>
                <a:buFont typeface="Georgia"/>
                <a:buChar char="○"/>
              </a:pPr>
              <a:r>
                <a:rPr lang="de-DE" sz="1000" dirty="0" err="1">
                  <a:solidFill>
                    <a:srgbClr val="555555"/>
                  </a:solidFill>
                  <a:latin typeface="Georgia"/>
                  <a:ea typeface="Georgia"/>
                  <a:cs typeface="Georgia"/>
                  <a:sym typeface="Georgia"/>
                </a:rPr>
                <a:t>Trained</a:t>
              </a:r>
              <a:r>
                <a:rPr lang="de-DE" sz="1000" dirty="0">
                  <a:solidFill>
                    <a:srgbClr val="555555"/>
                  </a:solidFill>
                  <a:latin typeface="Georgia"/>
                  <a:ea typeface="Georgia"/>
                  <a:cs typeface="Georgia"/>
                  <a:sym typeface="Georgia"/>
                </a:rPr>
                <a:t> on </a:t>
              </a:r>
              <a:r>
                <a:rPr lang="de-DE" sz="1000" dirty="0" err="1">
                  <a:solidFill>
                    <a:srgbClr val="555555"/>
                  </a:solidFill>
                  <a:latin typeface="Georgia"/>
                  <a:ea typeface="Georgia"/>
                  <a:cs typeface="Georgia"/>
                  <a:sym typeface="Georgia"/>
                </a:rPr>
                <a:t>PubMed</a:t>
              </a:r>
              <a:r>
                <a:rPr lang="de-DE" sz="1000" dirty="0">
                  <a:solidFill>
                    <a:srgbClr val="555555"/>
                  </a:solidFill>
                  <a:latin typeface="Georgia"/>
                  <a:ea typeface="Georgia"/>
                  <a:cs typeface="Georgia"/>
                  <a:sym typeface="Georgia"/>
                </a:rPr>
                <a:t> </a:t>
              </a:r>
              <a:r>
                <a:rPr lang="de-DE" sz="1000" dirty="0" err="1">
                  <a:solidFill>
                    <a:srgbClr val="555555"/>
                  </a:solidFill>
                  <a:latin typeface="Georgia"/>
                  <a:ea typeface="Georgia"/>
                  <a:cs typeface="Georgia"/>
                  <a:sym typeface="Georgia"/>
                </a:rPr>
                <a:t>documents</a:t>
              </a:r>
              <a:r>
                <a:rPr lang="de-DE" sz="1000" dirty="0">
                  <a:solidFill>
                    <a:srgbClr val="555555"/>
                  </a:solidFill>
                  <a:latin typeface="Georgia"/>
                  <a:ea typeface="Georgia"/>
                  <a:cs typeface="Georgia"/>
                  <a:sym typeface="Georgia"/>
                </a:rPr>
                <a:t>.</a:t>
              </a:r>
              <a:br>
                <a:rPr lang="de-DE" sz="1100" dirty="0">
                  <a:solidFill>
                    <a:srgbClr val="555555"/>
                  </a:solidFill>
                  <a:latin typeface="Georgia"/>
                  <a:ea typeface="Georgia"/>
                  <a:cs typeface="Georgia"/>
                  <a:sym typeface="Georgia"/>
                </a:rPr>
              </a:br>
              <a:endParaRPr sz="1100" dirty="0">
                <a:solidFill>
                  <a:srgbClr val="555555"/>
                </a:solidFill>
                <a:latin typeface="Georgia"/>
                <a:ea typeface="Georgia"/>
                <a:cs typeface="Georgia"/>
                <a:sym typeface="Georgia"/>
              </a:endParaRPr>
            </a:p>
            <a:p>
              <a:pPr marL="179999" marR="0" lvl="0" indent="-121432" algn="l" rtl="0">
                <a:lnSpc>
                  <a:spcPct val="100000"/>
                </a:lnSpc>
                <a:spcBef>
                  <a:spcPts val="0"/>
                </a:spcBef>
                <a:spcAft>
                  <a:spcPts val="0"/>
                </a:spcAft>
                <a:buClr>
                  <a:schemeClr val="dk1"/>
                </a:buClr>
                <a:buSzPts val="495"/>
                <a:buFont typeface="Georgia"/>
                <a:buChar char="●"/>
              </a:pPr>
              <a:r>
                <a:rPr lang="de-DE" sz="1100" dirty="0">
                  <a:solidFill>
                    <a:srgbClr val="555555"/>
                  </a:solidFill>
                  <a:latin typeface="Georgia"/>
                  <a:ea typeface="Georgia"/>
                  <a:cs typeface="Georgia"/>
                  <a:sym typeface="Georgia"/>
                </a:rPr>
                <a:t>Bigger LLM (</a:t>
              </a:r>
              <a:r>
                <a:rPr lang="de-DE" sz="1100" dirty="0" err="1">
                  <a:solidFill>
                    <a:srgbClr val="555555"/>
                  </a:solidFill>
                  <a:latin typeface="Georgia"/>
                  <a:ea typeface="Georgia"/>
                  <a:cs typeface="Georgia"/>
                  <a:sym typeface="Georgia"/>
                </a:rPr>
                <a:t>Llama</a:t>
              </a:r>
              <a:r>
                <a:rPr lang="de-DE" sz="1100" dirty="0">
                  <a:solidFill>
                    <a:srgbClr val="555555"/>
                  </a:solidFill>
                  <a:latin typeface="Georgia"/>
                  <a:ea typeface="Georgia"/>
                  <a:cs typeface="Georgia"/>
                  <a:sym typeface="Georgia"/>
                </a:rPr>
                <a:t> 70b)</a:t>
              </a:r>
              <a:endParaRPr sz="1100" dirty="0">
                <a:solidFill>
                  <a:srgbClr val="555555"/>
                </a:solidFill>
                <a:latin typeface="Georgia"/>
                <a:ea typeface="Georgia"/>
                <a:cs typeface="Georgia"/>
                <a:sym typeface="Georgia"/>
              </a:endParaRPr>
            </a:p>
          </p:txBody>
        </p:sp>
        <p:sp>
          <p:nvSpPr>
            <p:cNvPr id="253" name="Google Shape;253;g3d2a2c2e009_1_81"/>
            <p:cNvSpPr/>
            <p:nvPr/>
          </p:nvSpPr>
          <p:spPr>
            <a:xfrm>
              <a:off x="1319699" y="3357978"/>
              <a:ext cx="2880000" cy="54300"/>
            </a:xfrm>
            <a:prstGeom prst="rect">
              <a:avLst/>
            </a:prstGeom>
            <a:solidFill>
              <a:srgbClr val="0A7C6E"/>
            </a:solidFill>
            <a:ln>
              <a:noFill/>
            </a:ln>
          </p:spPr>
          <p:txBody>
            <a:bodyPr spcFirstLastPara="1" wrap="square" lIns="90000" tIns="9700" rIns="90000" bIns="97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grpSp>
      <p:sp>
        <p:nvSpPr>
          <p:cNvPr id="265" name="Google Shape;265;g3d2a2c2e009_1_81"/>
          <p:cNvSpPr/>
          <p:nvPr/>
        </p:nvSpPr>
        <p:spPr>
          <a:xfrm>
            <a:off x="1810169" y="1521502"/>
            <a:ext cx="1142400" cy="828000"/>
          </a:xfrm>
          <a:prstGeom prst="rect">
            <a:avLst/>
          </a:prstGeom>
          <a:solidFill>
            <a:schemeClr val="lt1"/>
          </a:solidFill>
          <a:ln w="9525" cap="flat" cmpd="sng">
            <a:solidFill>
              <a:srgbClr val="E5E7EB"/>
            </a:solidFill>
            <a:prstDash val="solid"/>
            <a:round/>
            <a:headEnd type="none" w="sm" len="sm"/>
            <a:tailEnd type="none" w="sm" len="sm"/>
          </a:ln>
          <a:effectLst>
            <a:outerShdw blurRad="50760" dist="12218" dir="8100000" algn="bl" rotWithShape="0">
              <a:schemeClr val="lt1">
                <a:alpha val="7060"/>
              </a:schemeClr>
            </a:outerShdw>
          </a:effectLst>
        </p:spPr>
        <p:txBody>
          <a:bodyPr spcFirstLastPara="1" wrap="square" lIns="90000" tIns="45000" rIns="90000" bIns="45000" anchor="t" anchorCtr="0">
            <a:noAutofit/>
          </a:bodyPr>
          <a:lstStyle/>
          <a:p>
            <a:pPr marL="0" marR="0" lvl="0" indent="0" algn="l" rtl="0">
              <a:spcBef>
                <a:spcPts val="0"/>
              </a:spcBef>
              <a:spcAft>
                <a:spcPts val="0"/>
              </a:spcAft>
              <a:buNone/>
            </a:pPr>
            <a:endParaRPr sz="1100" b="0" u="none" strike="noStrike">
              <a:solidFill>
                <a:srgbClr val="000000"/>
              </a:solidFill>
              <a:latin typeface="Arial"/>
              <a:ea typeface="Arial"/>
              <a:cs typeface="Arial"/>
              <a:sym typeface="Arial"/>
            </a:endParaRPr>
          </a:p>
        </p:txBody>
      </p:sp>
      <p:sp>
        <p:nvSpPr>
          <p:cNvPr id="266" name="Google Shape;266;g3d2a2c2e009_1_81"/>
          <p:cNvSpPr/>
          <p:nvPr/>
        </p:nvSpPr>
        <p:spPr>
          <a:xfrm>
            <a:off x="1865069" y="1722752"/>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u="none" strike="noStrike" dirty="0">
                <a:solidFill>
                  <a:srgbClr val="0D2137"/>
                </a:solidFill>
                <a:latin typeface="Georgia"/>
                <a:ea typeface="Georgia"/>
                <a:cs typeface="Georgia"/>
                <a:sym typeface="Georgia"/>
              </a:rPr>
              <a:t>Keyword</a:t>
            </a:r>
            <a:endParaRPr sz="1100" u="none" strike="noStrike" dirty="0">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dirty="0">
                <a:solidFill>
                  <a:srgbClr val="0D2137"/>
                </a:solidFill>
                <a:latin typeface="Georgia"/>
                <a:ea typeface="Georgia"/>
                <a:cs typeface="Georgia"/>
                <a:sym typeface="Georgia"/>
              </a:rPr>
              <a:t>Search</a:t>
            </a:r>
            <a:endParaRPr sz="1100" u="none" strike="noStrike" dirty="0">
              <a:solidFill>
                <a:srgbClr val="000000"/>
              </a:solidFill>
              <a:latin typeface="Georgia"/>
              <a:ea typeface="Georgia"/>
              <a:cs typeface="Georgia"/>
              <a:sym typeface="Georgia"/>
            </a:endParaRPr>
          </a:p>
        </p:txBody>
      </p:sp>
      <p:sp>
        <p:nvSpPr>
          <p:cNvPr id="256" name="Google Shape;256;g3d2a2c2e009_1_81"/>
          <p:cNvSpPr/>
          <p:nvPr/>
        </p:nvSpPr>
        <p:spPr>
          <a:xfrm>
            <a:off x="4769549" y="1521502"/>
            <a:ext cx="1142400" cy="828000"/>
          </a:xfrm>
          <a:prstGeom prst="rect">
            <a:avLst/>
          </a:prstGeom>
          <a:solidFill>
            <a:srgbClr val="FFFFFF"/>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257" name="Google Shape;257;g3d2a2c2e009_1_81"/>
          <p:cNvSpPr/>
          <p:nvPr/>
        </p:nvSpPr>
        <p:spPr>
          <a:xfrm>
            <a:off x="4826809" y="1722777"/>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a:solidFill>
                  <a:srgbClr val="0D2137"/>
                </a:solidFill>
                <a:latin typeface="Georgia"/>
                <a:ea typeface="Georgia"/>
                <a:cs typeface="Georgia"/>
                <a:sym typeface="Georgia"/>
              </a:rPr>
              <a:t>RRF</a:t>
            </a:r>
            <a:br>
              <a:rPr lang="de-DE" sz="1100">
                <a:solidFill>
                  <a:srgbClr val="0D2137"/>
                </a:solidFill>
                <a:latin typeface="Georgia"/>
                <a:ea typeface="Georgia"/>
                <a:cs typeface="Georgia"/>
                <a:sym typeface="Georgia"/>
              </a:rPr>
            </a:br>
            <a:r>
              <a:rPr lang="de-DE" sz="1100">
                <a:solidFill>
                  <a:srgbClr val="0D2137"/>
                </a:solidFill>
                <a:latin typeface="Georgia"/>
                <a:ea typeface="Georgia"/>
                <a:cs typeface="Georgia"/>
                <a:sym typeface="Georgia"/>
              </a:rPr>
              <a:t>(Fusion) </a:t>
            </a:r>
            <a:endParaRPr sz="1100" u="none" strike="noStrike">
              <a:solidFill>
                <a:srgbClr val="000000"/>
              </a:solidFill>
              <a:latin typeface="Georgia"/>
              <a:ea typeface="Georgia"/>
              <a:cs typeface="Georgia"/>
              <a:sym typeface="Georgia"/>
            </a:endParaRPr>
          </a:p>
        </p:txBody>
      </p:sp>
      <p:sp>
        <p:nvSpPr>
          <p:cNvPr id="258" name="Google Shape;258;g3d2a2c2e009_1_81"/>
          <p:cNvSpPr/>
          <p:nvPr/>
        </p:nvSpPr>
        <p:spPr>
          <a:xfrm>
            <a:off x="7539149" y="1521502"/>
            <a:ext cx="1142400" cy="828000"/>
          </a:xfrm>
          <a:prstGeom prst="rect">
            <a:avLst/>
          </a:prstGeom>
          <a:solidFill>
            <a:srgbClr val="0D2137"/>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259" name="Google Shape;259;g3d2a2c2e009_1_81"/>
          <p:cNvSpPr/>
          <p:nvPr/>
        </p:nvSpPr>
        <p:spPr>
          <a:xfrm>
            <a:off x="7594049" y="1722752"/>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LLM</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b="1" u="none" strike="noStrike">
                <a:solidFill>
                  <a:srgbClr val="12B39A"/>
                </a:solidFill>
                <a:latin typeface="Georgia"/>
                <a:ea typeface="Georgia"/>
                <a:cs typeface="Georgia"/>
                <a:sym typeface="Georgia"/>
              </a:rPr>
              <a:t>Answer</a:t>
            </a:r>
            <a:endParaRPr sz="1100" u="none" strike="noStrike">
              <a:solidFill>
                <a:srgbClr val="000000"/>
              </a:solidFill>
              <a:latin typeface="Georgia"/>
              <a:ea typeface="Georgia"/>
              <a:cs typeface="Georgia"/>
              <a:sym typeface="Georgia"/>
            </a:endParaRPr>
          </a:p>
        </p:txBody>
      </p:sp>
      <p:cxnSp>
        <p:nvCxnSpPr>
          <p:cNvPr id="260" name="Google Shape;260;g3d2a2c2e009_1_81"/>
          <p:cNvCxnSpPr>
            <a:cxnSpLocks/>
            <a:stCxn id="277" idx="3"/>
            <a:endCxn id="258" idx="1"/>
          </p:cNvCxnSpPr>
          <p:nvPr/>
        </p:nvCxnSpPr>
        <p:spPr>
          <a:xfrm>
            <a:off x="7316399" y="1935502"/>
            <a:ext cx="222750" cy="0"/>
          </a:xfrm>
          <a:prstGeom prst="straightConnector1">
            <a:avLst/>
          </a:prstGeom>
          <a:noFill/>
          <a:ln w="28575" cap="flat" cmpd="sng">
            <a:solidFill>
              <a:srgbClr val="0A7C6E"/>
            </a:solidFill>
            <a:prstDash val="solid"/>
            <a:round/>
            <a:headEnd type="none" w="sm" len="sm"/>
            <a:tailEnd type="stealth" w="med" len="med"/>
          </a:ln>
        </p:spPr>
      </p:cxnSp>
      <p:sp>
        <p:nvSpPr>
          <p:cNvPr id="263" name="Google Shape;263;g3d2a2c2e009_1_81"/>
          <p:cNvSpPr/>
          <p:nvPr/>
        </p:nvSpPr>
        <p:spPr>
          <a:xfrm>
            <a:off x="462449" y="1521502"/>
            <a:ext cx="1142400" cy="828000"/>
          </a:xfrm>
          <a:prstGeom prst="rect">
            <a:avLst/>
          </a:prstGeom>
          <a:solidFill>
            <a:srgbClr val="9ABDD8"/>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endParaRPr sz="1100"/>
          </a:p>
        </p:txBody>
      </p:sp>
      <p:sp>
        <p:nvSpPr>
          <p:cNvPr id="264" name="Google Shape;264;g3d2a2c2e009_1_81"/>
          <p:cNvSpPr/>
          <p:nvPr/>
        </p:nvSpPr>
        <p:spPr>
          <a:xfrm>
            <a:off x="517349" y="1722782"/>
            <a:ext cx="1032600" cy="383400"/>
          </a:xfrm>
          <a:prstGeom prst="rect">
            <a:avLst/>
          </a:prstGeom>
          <a:noFill/>
          <a:ln>
            <a:noFill/>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de-DE" sz="1100" b="1" u="none" strike="noStrike">
                <a:solidFill>
                  <a:srgbClr val="0D2137"/>
                </a:solidFill>
                <a:latin typeface="Georgia"/>
                <a:ea typeface="Georgia"/>
                <a:cs typeface="Georgia"/>
                <a:sym typeface="Georgia"/>
              </a:rPr>
              <a:t>Query</a:t>
            </a:r>
            <a:endParaRPr sz="1100" b="1" u="none" strike="noStrike">
              <a:solidFill>
                <a:srgbClr val="000000"/>
              </a:solidFill>
              <a:latin typeface="Georgia"/>
              <a:ea typeface="Georgia"/>
              <a:cs typeface="Georgia"/>
              <a:sym typeface="Georgia"/>
            </a:endParaRPr>
          </a:p>
        </p:txBody>
      </p:sp>
      <p:cxnSp>
        <p:nvCxnSpPr>
          <p:cNvPr id="267" name="Google Shape;267;g3d2a2c2e009_1_81"/>
          <p:cNvCxnSpPr>
            <a:cxnSpLocks/>
            <a:stCxn id="263" idx="3"/>
            <a:endCxn id="265" idx="1"/>
          </p:cNvCxnSpPr>
          <p:nvPr/>
        </p:nvCxnSpPr>
        <p:spPr>
          <a:xfrm>
            <a:off x="1604849" y="1935502"/>
            <a:ext cx="205320" cy="0"/>
          </a:xfrm>
          <a:prstGeom prst="straightConnector1">
            <a:avLst/>
          </a:prstGeom>
          <a:noFill/>
          <a:ln w="28575" cap="flat" cmpd="sng">
            <a:solidFill>
              <a:srgbClr val="0A7C6E"/>
            </a:solidFill>
            <a:prstDash val="solid"/>
            <a:round/>
            <a:headEnd type="none" w="sm" len="sm"/>
            <a:tailEnd type="stealth" w="med" len="med"/>
          </a:ln>
        </p:spPr>
      </p:cxnSp>
      <p:cxnSp>
        <p:nvCxnSpPr>
          <p:cNvPr id="268" name="Google Shape;268;g3d2a2c2e009_1_81"/>
          <p:cNvCxnSpPr>
            <a:cxnSpLocks/>
            <a:stCxn id="269" idx="3"/>
            <a:endCxn id="256" idx="1"/>
          </p:cNvCxnSpPr>
          <p:nvPr/>
        </p:nvCxnSpPr>
        <p:spPr>
          <a:xfrm>
            <a:off x="4435431" y="1935502"/>
            <a:ext cx="334118" cy="0"/>
          </a:xfrm>
          <a:prstGeom prst="straightConnector1">
            <a:avLst/>
          </a:prstGeom>
          <a:noFill/>
          <a:ln w="28575" cap="flat" cmpd="sng">
            <a:solidFill>
              <a:srgbClr val="0A7C6E"/>
            </a:solidFill>
            <a:prstDash val="solid"/>
            <a:round/>
            <a:headEnd type="none" w="sm" len="sm"/>
            <a:tailEnd type="stealth" w="med" len="med"/>
          </a:ln>
        </p:spPr>
      </p:cxnSp>
      <p:cxnSp>
        <p:nvCxnSpPr>
          <p:cNvPr id="270" name="Google Shape;270;g3d2a2c2e009_1_81"/>
          <p:cNvCxnSpPr>
            <a:cxnSpLocks/>
            <a:stCxn id="265" idx="3"/>
            <a:endCxn id="269" idx="1"/>
          </p:cNvCxnSpPr>
          <p:nvPr/>
        </p:nvCxnSpPr>
        <p:spPr>
          <a:xfrm>
            <a:off x="2952569" y="1935502"/>
            <a:ext cx="374062" cy="0"/>
          </a:xfrm>
          <a:prstGeom prst="straightConnector1">
            <a:avLst/>
          </a:prstGeom>
          <a:noFill/>
          <a:ln w="28575" cap="flat" cmpd="sng">
            <a:solidFill>
              <a:srgbClr val="0A7C6E"/>
            </a:solidFill>
            <a:prstDash val="solid"/>
            <a:round/>
            <a:headEnd type="none" w="sm" len="sm"/>
            <a:tailEnd type="stealth" w="med" len="med"/>
          </a:ln>
        </p:spPr>
      </p:cxnSp>
      <p:sp>
        <p:nvSpPr>
          <p:cNvPr id="269" name="Google Shape;269;g3d2a2c2e009_1_81"/>
          <p:cNvSpPr/>
          <p:nvPr/>
        </p:nvSpPr>
        <p:spPr>
          <a:xfrm>
            <a:off x="3326631" y="1521502"/>
            <a:ext cx="1108800" cy="828000"/>
          </a:xfrm>
          <a:prstGeom prst="rect">
            <a:avLst/>
          </a:prstGeom>
          <a:solidFill>
            <a:srgbClr val="0A7C6E"/>
          </a:solidFill>
          <a:ln w="12700" cap="flat" cmpd="sng">
            <a:noFill/>
            <a:prstDash val="solid"/>
            <a:miter lim="800000"/>
            <a:headEnd type="none" w="sm" len="sm"/>
            <a:tailEnd type="none" w="sm" len="sm"/>
          </a:ln>
        </p:spPr>
        <p:txBody>
          <a:bodyPr spcFirstLastPara="1" wrap="square" lIns="90000" tIns="45000" rIns="90000" bIns="45000" anchor="ctr" anchorCtr="1">
            <a:noAutofit/>
          </a:bodyPr>
          <a:lstStyle/>
          <a:p>
            <a:pPr marL="0" marR="0" lvl="0" indent="0" algn="ctr" rtl="0">
              <a:lnSpc>
                <a:spcPct val="100000"/>
              </a:lnSpc>
              <a:spcBef>
                <a:spcPts val="0"/>
              </a:spcBef>
              <a:spcAft>
                <a:spcPts val="0"/>
              </a:spcAft>
              <a:buNone/>
            </a:pPr>
            <a:r>
              <a:rPr lang="de-DE" sz="1100" dirty="0" err="1">
                <a:solidFill>
                  <a:schemeClr val="lt1"/>
                </a:solidFill>
                <a:latin typeface="Georgia"/>
                <a:ea typeface="Georgia"/>
                <a:cs typeface="Georgia"/>
                <a:sym typeface="Georgia"/>
              </a:rPr>
              <a:t>PubmedBERT</a:t>
            </a:r>
            <a:br>
              <a:rPr lang="de-DE" sz="1100" dirty="0">
                <a:solidFill>
                  <a:schemeClr val="lt1"/>
                </a:solidFill>
                <a:latin typeface="Georgia"/>
                <a:ea typeface="Georgia"/>
                <a:cs typeface="Georgia"/>
                <a:sym typeface="Georgia"/>
              </a:rPr>
            </a:br>
            <a:r>
              <a:rPr lang="de-DE" sz="700" dirty="0">
                <a:solidFill>
                  <a:schemeClr val="lt1"/>
                </a:solidFill>
                <a:latin typeface="Georgia"/>
                <a:ea typeface="Georgia"/>
                <a:cs typeface="Georgia"/>
                <a:sym typeface="Georgia"/>
              </a:rPr>
              <a:t>(</a:t>
            </a:r>
            <a:r>
              <a:rPr lang="de-DE" sz="900" u="none" strike="noStrike" dirty="0" err="1">
                <a:solidFill>
                  <a:schemeClr val="lt1"/>
                </a:solidFill>
                <a:latin typeface="Georgia"/>
                <a:ea typeface="Georgia"/>
                <a:cs typeface="Georgia"/>
                <a:sym typeface="Georgia"/>
              </a:rPr>
              <a:t>embedding</a:t>
            </a:r>
            <a:r>
              <a:rPr lang="de-DE" sz="900" u="none" strike="noStrike" dirty="0">
                <a:solidFill>
                  <a:schemeClr val="lt1"/>
                </a:solidFill>
                <a:latin typeface="Georgia"/>
                <a:ea typeface="Georgia"/>
                <a:cs typeface="Georgia"/>
                <a:sym typeface="Georgia"/>
              </a:rPr>
              <a:t> LLM) </a:t>
            </a:r>
            <a:r>
              <a:rPr lang="de-DE" sz="1100" u="none" strike="noStrike" dirty="0">
                <a:solidFill>
                  <a:schemeClr val="lt1"/>
                </a:solidFill>
                <a:latin typeface="Georgia"/>
                <a:ea typeface="Georgia"/>
                <a:cs typeface="Georgia"/>
                <a:sym typeface="Georgia"/>
              </a:rPr>
              <a:t>+</a:t>
            </a:r>
            <a:br>
              <a:rPr lang="de-DE" sz="1100" u="none" strike="noStrike" dirty="0">
                <a:solidFill>
                  <a:schemeClr val="lt1"/>
                </a:solidFill>
                <a:latin typeface="Georgia"/>
                <a:ea typeface="Georgia"/>
                <a:cs typeface="Georgia"/>
                <a:sym typeface="Georgia"/>
              </a:rPr>
            </a:br>
            <a:r>
              <a:rPr lang="de-DE" sz="1100" u="none" strike="noStrike" dirty="0" err="1">
                <a:solidFill>
                  <a:schemeClr val="lt1"/>
                </a:solidFill>
                <a:latin typeface="Georgia"/>
                <a:ea typeface="Georgia"/>
                <a:cs typeface="Georgia"/>
                <a:sym typeface="Georgia"/>
              </a:rPr>
              <a:t>Semantic</a:t>
            </a:r>
            <a:r>
              <a:rPr lang="de-DE" sz="1100" u="none" strike="noStrike" dirty="0">
                <a:solidFill>
                  <a:schemeClr val="lt1"/>
                </a:solidFill>
                <a:latin typeface="Georgia"/>
                <a:ea typeface="Georgia"/>
                <a:cs typeface="Georgia"/>
                <a:sym typeface="Georgia"/>
              </a:rPr>
              <a:t> </a:t>
            </a:r>
            <a:br>
              <a:rPr lang="de-DE" sz="1100" u="none" strike="noStrike" dirty="0">
                <a:solidFill>
                  <a:schemeClr val="lt1"/>
                </a:solidFill>
                <a:latin typeface="Georgia"/>
                <a:ea typeface="Georgia"/>
                <a:cs typeface="Georgia"/>
                <a:sym typeface="Georgia"/>
              </a:rPr>
            </a:br>
            <a:r>
              <a:rPr lang="de-DE" sz="1100" u="none" strike="noStrike" dirty="0">
                <a:solidFill>
                  <a:schemeClr val="lt1"/>
                </a:solidFill>
                <a:latin typeface="Georgia"/>
                <a:ea typeface="Georgia"/>
                <a:cs typeface="Georgia"/>
                <a:sym typeface="Georgia"/>
              </a:rPr>
              <a:t>Search</a:t>
            </a:r>
            <a:endParaRPr sz="1000" u="none" strike="noStrike" dirty="0">
              <a:solidFill>
                <a:schemeClr val="lt1"/>
              </a:solidFill>
              <a:latin typeface="Georgia"/>
              <a:ea typeface="Georgia"/>
              <a:cs typeface="Georgia"/>
              <a:sym typeface="Georgia"/>
            </a:endParaRPr>
          </a:p>
        </p:txBody>
      </p:sp>
      <p:sp>
        <p:nvSpPr>
          <p:cNvPr id="277" name="Google Shape;277;g3d2a2c2e009_1_81"/>
          <p:cNvSpPr/>
          <p:nvPr/>
        </p:nvSpPr>
        <p:spPr>
          <a:xfrm>
            <a:off x="6173999" y="1521502"/>
            <a:ext cx="1142400" cy="828000"/>
          </a:xfrm>
          <a:prstGeom prst="rect">
            <a:avLst/>
          </a:prstGeom>
          <a:solidFill>
            <a:srgbClr val="FFFFFF"/>
          </a:solidFill>
          <a:ln w="9525" cap="flat" cmpd="sng">
            <a:solidFill>
              <a:srgbClr val="E5E7EB"/>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261" name="Google Shape;261;g3d2a2c2e009_1_81"/>
          <p:cNvSpPr/>
          <p:nvPr/>
        </p:nvSpPr>
        <p:spPr>
          <a:xfrm>
            <a:off x="6256349" y="1740952"/>
            <a:ext cx="1032600" cy="3834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Top-K</a:t>
            </a:r>
            <a:endParaRPr sz="1100" u="none" strike="noStrike">
              <a:solidFill>
                <a:srgbClr val="000000"/>
              </a:solidFill>
              <a:latin typeface="Georgia"/>
              <a:ea typeface="Georgia"/>
              <a:cs typeface="Georgia"/>
              <a:sym typeface="Georgia"/>
            </a:endParaRPr>
          </a:p>
          <a:p>
            <a:pPr marL="0" marR="0" lvl="0" indent="0" algn="ctr" rtl="0">
              <a:lnSpc>
                <a:spcPct val="100000"/>
              </a:lnSpc>
              <a:spcBef>
                <a:spcPts val="0"/>
              </a:spcBef>
              <a:spcAft>
                <a:spcPts val="0"/>
              </a:spcAft>
              <a:buNone/>
            </a:pPr>
            <a:r>
              <a:rPr lang="de-DE" sz="1100" u="none" strike="noStrike">
                <a:solidFill>
                  <a:srgbClr val="0D2137"/>
                </a:solidFill>
                <a:latin typeface="Georgia"/>
                <a:ea typeface="Georgia"/>
                <a:cs typeface="Georgia"/>
                <a:sym typeface="Georgia"/>
              </a:rPr>
              <a:t>Articles</a:t>
            </a:r>
            <a:endParaRPr sz="1100" u="none" strike="noStrike">
              <a:solidFill>
                <a:srgbClr val="000000"/>
              </a:solidFill>
              <a:latin typeface="Georgia"/>
              <a:ea typeface="Georgia"/>
              <a:cs typeface="Georgia"/>
              <a:sym typeface="Georgia"/>
            </a:endParaRPr>
          </a:p>
        </p:txBody>
      </p:sp>
      <p:cxnSp>
        <p:nvCxnSpPr>
          <p:cNvPr id="278" name="Google Shape;278;g3d2a2c2e009_1_81"/>
          <p:cNvCxnSpPr>
            <a:cxnSpLocks/>
            <a:stCxn id="256" idx="3"/>
            <a:endCxn id="277" idx="1"/>
          </p:cNvCxnSpPr>
          <p:nvPr/>
        </p:nvCxnSpPr>
        <p:spPr>
          <a:xfrm>
            <a:off x="5911949" y="1935502"/>
            <a:ext cx="262050" cy="0"/>
          </a:xfrm>
          <a:prstGeom prst="straightConnector1">
            <a:avLst/>
          </a:prstGeom>
          <a:noFill/>
          <a:ln w="28575" cap="flat" cmpd="sng">
            <a:solidFill>
              <a:srgbClr val="0A7C6E"/>
            </a:solidFill>
            <a:prstDash val="solid"/>
            <a:round/>
            <a:headEnd type="none" w="sm" len="sm"/>
            <a:tailEnd type="stealth"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282"/>
        <p:cNvGrpSpPr/>
        <p:nvPr/>
      </p:nvGrpSpPr>
      <p:grpSpPr>
        <a:xfrm>
          <a:off x="0" y="0"/>
          <a:ext cx="0" cy="0"/>
          <a:chOff x="0" y="0"/>
          <a:chExt cx="0" cy="0"/>
        </a:xfrm>
      </p:grpSpPr>
      <p:grpSp>
        <p:nvGrpSpPr>
          <p:cNvPr id="283" name="Google Shape;283;g3d27537c611_0_39"/>
          <p:cNvGrpSpPr/>
          <p:nvPr/>
        </p:nvGrpSpPr>
        <p:grpSpPr>
          <a:xfrm>
            <a:off x="4175267" y="4374298"/>
            <a:ext cx="639600" cy="255600"/>
            <a:chOff x="7499160" y="4485600"/>
            <a:chExt cx="639600" cy="255600"/>
          </a:xfrm>
        </p:grpSpPr>
        <p:sp>
          <p:nvSpPr>
            <p:cNvPr id="284" name="Google Shape;284;g3d27537c611_0_39"/>
            <p:cNvSpPr/>
            <p:nvPr/>
          </p:nvSpPr>
          <p:spPr>
            <a:xfrm>
              <a:off x="7499160" y="4485600"/>
              <a:ext cx="639600" cy="255600"/>
            </a:xfrm>
            <a:prstGeom prst="roundRect">
              <a:avLst>
                <a:gd name="adj" fmla="val 50000"/>
              </a:avLst>
            </a:prstGeom>
            <a:solidFill>
              <a:srgbClr val="0D2137">
                <a:alpha val="60000"/>
              </a:srgbClr>
            </a:solidFill>
            <a:ln w="9525" cap="flat" cmpd="sng">
              <a:solidFill>
                <a:srgbClr val="FFFFFF">
                  <a:alpha val="25099"/>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285" name="Google Shape;285;g3d27537c611_0_39"/>
            <p:cNvSpPr/>
            <p:nvPr/>
          </p:nvSpPr>
          <p:spPr>
            <a:xfrm>
              <a:off x="7499160" y="4485600"/>
              <a:ext cx="639600" cy="255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DDDDD"/>
                </a:buClr>
                <a:buSzPts val="1000"/>
                <a:buFont typeface="Courier New"/>
                <a:buNone/>
              </a:pPr>
              <a:r>
                <a:rPr lang="de-DE" sz="1000">
                  <a:solidFill>
                    <a:srgbClr val="DDDDDD"/>
                  </a:solidFill>
                  <a:latin typeface="Courier New"/>
                  <a:ea typeface="Courier New"/>
                  <a:cs typeface="Courier New"/>
                  <a:sym typeface="Courier New"/>
                </a:rPr>
                <a:t>Thomas</a:t>
              </a:r>
              <a:endParaRPr sz="1000" b="0" i="0" u="none" strike="noStrike" cap="none">
                <a:solidFill>
                  <a:srgbClr val="FFFFFF"/>
                </a:solidFill>
                <a:latin typeface="Arial"/>
                <a:ea typeface="Arial"/>
                <a:cs typeface="Arial"/>
                <a:sym typeface="Arial"/>
              </a:endParaRPr>
            </a:p>
          </p:txBody>
        </p:sp>
      </p:grpSp>
      <p:sp>
        <p:nvSpPr>
          <p:cNvPr id="286" name="Google Shape;286;g3d27537c611_0_39"/>
          <p:cNvSpPr/>
          <p:nvPr/>
        </p:nvSpPr>
        <p:spPr>
          <a:xfrm>
            <a:off x="645420" y="924130"/>
            <a:ext cx="7955400" cy="20112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FFFFFF"/>
              </a:buClr>
              <a:buSzPts val="4400"/>
              <a:buFont typeface="Georgia"/>
              <a:buNone/>
            </a:pPr>
            <a:r>
              <a:rPr lang="de-DE" sz="4400" b="1">
                <a:solidFill>
                  <a:srgbClr val="FFFFFF"/>
                </a:solidFill>
                <a:latin typeface="Georgia"/>
                <a:ea typeface="Georgia"/>
                <a:cs typeface="Georgia"/>
                <a:sym typeface="Georgia"/>
              </a:rPr>
              <a:t>PMC Research Assistant</a:t>
            </a:r>
            <a:endParaRPr sz="4400" b="0" i="0" u="none" strike="noStrike" cap="none">
              <a:solidFill>
                <a:srgbClr val="FFFFFF"/>
              </a:solidFill>
              <a:latin typeface="Arial"/>
              <a:ea typeface="Arial"/>
              <a:cs typeface="Arial"/>
              <a:sym typeface="Arial"/>
            </a:endParaRPr>
          </a:p>
          <a:p>
            <a:pPr marL="0" marR="0" lvl="0" indent="0" algn="l" rtl="0">
              <a:lnSpc>
                <a:spcPct val="110000"/>
              </a:lnSpc>
              <a:spcBef>
                <a:spcPts val="0"/>
              </a:spcBef>
              <a:spcAft>
                <a:spcPts val="0"/>
              </a:spcAft>
              <a:buClr>
                <a:srgbClr val="12B39A"/>
              </a:buClr>
              <a:buSzPts val="2200"/>
              <a:buFont typeface="Georgia"/>
              <a:buNone/>
            </a:pPr>
            <a:r>
              <a:rPr lang="de-DE" sz="2200" b="1" i="1" u="none" strike="noStrike" cap="none">
                <a:solidFill>
                  <a:srgbClr val="12B39A"/>
                </a:solidFill>
                <a:latin typeface="Georgia"/>
                <a:ea typeface="Georgia"/>
                <a:cs typeface="Georgia"/>
                <a:sym typeface="Georgia"/>
              </a:rPr>
              <a:t>             </a:t>
            </a:r>
            <a:r>
              <a:rPr lang="de-DE" sz="2200" b="1" i="1">
                <a:solidFill>
                  <a:srgbClr val="12B39A"/>
                </a:solidFill>
                <a:latin typeface="Georgia"/>
                <a:ea typeface="Georgia"/>
                <a:cs typeface="Georgia"/>
                <a:sym typeface="Georgia"/>
              </a:rPr>
              <a:t>From  a Clinical Question to a Reliable Answer</a:t>
            </a:r>
            <a:r>
              <a:rPr lang="de-DE" sz="2200" b="1" i="1" u="none" strike="noStrike" cap="none">
                <a:solidFill>
                  <a:srgbClr val="12B39A"/>
                </a:solidFill>
                <a:latin typeface="Georgia"/>
                <a:ea typeface="Georgia"/>
                <a:cs typeface="Georgia"/>
                <a:sym typeface="Georgia"/>
              </a:rPr>
              <a:t> </a:t>
            </a:r>
            <a:endParaRPr sz="2200" b="0" i="0" u="none" strike="noStrike" cap="none">
              <a:solidFill>
                <a:srgbClr val="FFFFFF"/>
              </a:solidFill>
              <a:latin typeface="Arial"/>
              <a:ea typeface="Arial"/>
              <a:cs typeface="Arial"/>
              <a:sym typeface="Arial"/>
            </a:endParaRPr>
          </a:p>
        </p:txBody>
      </p:sp>
      <p:sp>
        <p:nvSpPr>
          <p:cNvPr id="287" name="Google Shape;287;g3d27537c611_0_39"/>
          <p:cNvSpPr txBox="1"/>
          <p:nvPr/>
        </p:nvSpPr>
        <p:spPr>
          <a:xfrm>
            <a:off x="2378675" y="3070525"/>
            <a:ext cx="44889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de-DE" sz="1700">
                <a:solidFill>
                  <a:srgbClr val="DDDDDD"/>
                </a:solidFill>
                <a:latin typeface="Courier New"/>
                <a:ea typeface="Courier New"/>
                <a:cs typeface="Courier New"/>
                <a:sym typeface="Courier New"/>
              </a:rPr>
              <a:t>Part II. Evaluation &amp; Demo</a:t>
            </a:r>
            <a:endParaRPr sz="1700">
              <a:solidFill>
                <a:srgbClr val="DDDDDD"/>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292"/>
        <p:cNvGrpSpPr/>
        <p:nvPr/>
      </p:nvGrpSpPr>
      <p:grpSpPr>
        <a:xfrm>
          <a:off x="0" y="0"/>
          <a:ext cx="0" cy="0"/>
          <a:chOff x="0" y="0"/>
          <a:chExt cx="0" cy="0"/>
        </a:xfrm>
      </p:grpSpPr>
      <p:sp>
        <p:nvSpPr>
          <p:cNvPr id="293" name="Google Shape;293;p20"/>
          <p:cNvSpPr/>
          <p:nvPr/>
        </p:nvSpPr>
        <p:spPr>
          <a:xfrm>
            <a:off x="457200" y="256032"/>
            <a:ext cx="8229600"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Font typeface="Arial"/>
              <a:buNone/>
            </a:pPr>
            <a:r>
              <a:rPr lang="de-DE" sz="1100" b="1">
                <a:solidFill>
                  <a:srgbClr val="0A7C6E"/>
                </a:solidFill>
                <a:latin typeface="Courier New"/>
                <a:ea typeface="Courier New"/>
                <a:cs typeface="Courier New"/>
                <a:sym typeface="Courier New"/>
              </a:rPr>
              <a:t>EVALUATION</a:t>
            </a:r>
            <a:endParaRPr sz="1100">
              <a:solidFill>
                <a:schemeClr val="dk1"/>
              </a:solidFill>
              <a:latin typeface="Calibri"/>
              <a:ea typeface="Calibri"/>
              <a:cs typeface="Calibri"/>
              <a:sym typeface="Calibri"/>
            </a:endParaRPr>
          </a:p>
        </p:txBody>
      </p:sp>
      <p:sp>
        <p:nvSpPr>
          <p:cNvPr id="294" name="Google Shape;294;p20"/>
          <p:cNvSpPr/>
          <p:nvPr/>
        </p:nvSpPr>
        <p:spPr>
          <a:xfrm>
            <a:off x="457200" y="548640"/>
            <a:ext cx="822960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2000"/>
              <a:buFont typeface="Georgia"/>
              <a:buNone/>
            </a:pPr>
            <a:r>
              <a:rPr lang="de-DE" sz="2000" b="1">
                <a:solidFill>
                  <a:srgbClr val="111111"/>
                </a:solidFill>
                <a:latin typeface="Georgia"/>
                <a:ea typeface="Georgia"/>
                <a:cs typeface="Georgia"/>
                <a:sym typeface="Georgia"/>
              </a:rPr>
              <a:t>How we measured what “a good model" means</a:t>
            </a:r>
            <a:endParaRPr sz="2000">
              <a:solidFill>
                <a:schemeClr val="dk1"/>
              </a:solidFill>
              <a:latin typeface="Calibri"/>
              <a:ea typeface="Calibri"/>
              <a:cs typeface="Calibri"/>
              <a:sym typeface="Calibri"/>
            </a:endParaRPr>
          </a:p>
        </p:txBody>
      </p:sp>
      <p:sp>
        <p:nvSpPr>
          <p:cNvPr id="295" name="Google Shape;295;p20"/>
          <p:cNvSpPr/>
          <p:nvPr/>
        </p:nvSpPr>
        <p:spPr>
          <a:xfrm>
            <a:off x="384048" y="1397681"/>
            <a:ext cx="3566100" cy="2926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 name="Google Shape;296;p20"/>
          <p:cNvGrpSpPr/>
          <p:nvPr/>
        </p:nvGrpSpPr>
        <p:grpSpPr>
          <a:xfrm>
            <a:off x="384048" y="2139696"/>
            <a:ext cx="3566160" cy="1938528"/>
            <a:chOff x="384048" y="2139696"/>
            <a:chExt cx="3566160" cy="1938528"/>
          </a:xfrm>
        </p:grpSpPr>
        <p:sp>
          <p:nvSpPr>
            <p:cNvPr id="297" name="Google Shape;297;p20"/>
            <p:cNvSpPr/>
            <p:nvPr/>
          </p:nvSpPr>
          <p:spPr>
            <a:xfrm>
              <a:off x="384048" y="2139696"/>
              <a:ext cx="3566100" cy="387600"/>
            </a:xfrm>
            <a:prstGeom prst="rect">
              <a:avLst/>
            </a:prstGeom>
            <a:solidFill>
              <a:srgbClr val="EEF7F7"/>
            </a:solidFill>
            <a:ln w="12700" cap="flat" cmpd="sng">
              <a:solidFill>
                <a:srgbClr val="EEF7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0"/>
            <p:cNvSpPr/>
            <p:nvPr/>
          </p:nvSpPr>
          <p:spPr>
            <a:xfrm>
              <a:off x="384048" y="2915107"/>
              <a:ext cx="3566160" cy="387706"/>
            </a:xfrm>
            <a:prstGeom prst="rect">
              <a:avLst/>
            </a:prstGeom>
            <a:solidFill>
              <a:srgbClr val="EEF7F7"/>
            </a:solidFill>
            <a:ln w="12700" cap="flat" cmpd="sng">
              <a:solidFill>
                <a:srgbClr val="EEF7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0"/>
            <p:cNvSpPr/>
            <p:nvPr/>
          </p:nvSpPr>
          <p:spPr>
            <a:xfrm>
              <a:off x="384048" y="3690518"/>
              <a:ext cx="3566160" cy="387706"/>
            </a:xfrm>
            <a:prstGeom prst="rect">
              <a:avLst/>
            </a:prstGeom>
            <a:solidFill>
              <a:srgbClr val="EEF7F7"/>
            </a:solidFill>
            <a:ln w="12700" cap="flat" cmpd="sng">
              <a:solidFill>
                <a:srgbClr val="EEF7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 name="Google Shape;300;p20"/>
          <p:cNvSpPr/>
          <p:nvPr/>
        </p:nvSpPr>
        <p:spPr>
          <a:xfrm>
            <a:off x="390111" y="1405474"/>
            <a:ext cx="3566100" cy="45600"/>
          </a:xfrm>
          <a:prstGeom prst="rect">
            <a:avLst/>
          </a:prstGeom>
          <a:solidFill>
            <a:srgbClr val="02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0"/>
          <p:cNvSpPr/>
          <p:nvPr/>
        </p:nvSpPr>
        <p:spPr>
          <a:xfrm>
            <a:off x="548640" y="1481328"/>
            <a:ext cx="3236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7070"/>
              </a:buClr>
              <a:buSzPts val="1000"/>
              <a:buFont typeface="Courier New"/>
              <a:buNone/>
            </a:pPr>
            <a:r>
              <a:rPr lang="de-DE" sz="1000" b="1">
                <a:solidFill>
                  <a:srgbClr val="027070"/>
                </a:solidFill>
                <a:latin typeface="Courier New"/>
                <a:ea typeface="Courier New"/>
                <a:cs typeface="Courier New"/>
                <a:sym typeface="Courier New"/>
              </a:rPr>
              <a:t>STANDARD EVALUATION METRICS</a:t>
            </a:r>
            <a:endParaRPr sz="1000">
              <a:solidFill>
                <a:schemeClr val="dk1"/>
              </a:solidFill>
              <a:latin typeface="Calibri"/>
              <a:ea typeface="Calibri"/>
              <a:cs typeface="Calibri"/>
              <a:sym typeface="Calibri"/>
            </a:endParaRPr>
          </a:p>
        </p:txBody>
      </p:sp>
      <p:sp>
        <p:nvSpPr>
          <p:cNvPr id="302" name="Google Shape;302;p20"/>
          <p:cNvSpPr/>
          <p:nvPr/>
        </p:nvSpPr>
        <p:spPr>
          <a:xfrm>
            <a:off x="548640" y="1719072"/>
            <a:ext cx="323697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500"/>
              <a:buFont typeface="Georgia"/>
              <a:buNone/>
            </a:pPr>
            <a:r>
              <a:rPr lang="de-DE" sz="1500" b="1">
                <a:solidFill>
                  <a:srgbClr val="111111"/>
                </a:solidFill>
                <a:latin typeface="Georgia"/>
                <a:ea typeface="Georgia"/>
                <a:cs typeface="Georgia"/>
                <a:sym typeface="Georgia"/>
              </a:rPr>
              <a:t>PubMedQA Benchmark</a:t>
            </a:r>
            <a:endParaRPr sz="1500">
              <a:solidFill>
                <a:schemeClr val="dk1"/>
              </a:solidFill>
              <a:latin typeface="Calibri"/>
              <a:ea typeface="Calibri"/>
              <a:cs typeface="Calibri"/>
              <a:sym typeface="Calibri"/>
            </a:endParaRPr>
          </a:p>
        </p:txBody>
      </p:sp>
      <p:cxnSp>
        <p:nvCxnSpPr>
          <p:cNvPr id="303" name="Google Shape;303;p20"/>
          <p:cNvCxnSpPr/>
          <p:nvPr/>
        </p:nvCxnSpPr>
        <p:spPr>
          <a:xfrm>
            <a:off x="548640" y="2084832"/>
            <a:ext cx="3236976" cy="0"/>
          </a:xfrm>
          <a:prstGeom prst="straightConnector1">
            <a:avLst/>
          </a:prstGeom>
          <a:noFill/>
          <a:ln w="10150" cap="flat" cmpd="sng">
            <a:solidFill>
              <a:srgbClr val="D9DFDC"/>
            </a:solidFill>
            <a:prstDash val="solid"/>
            <a:round/>
            <a:headEnd type="none" w="sm" len="sm"/>
            <a:tailEnd type="none" w="sm" len="sm"/>
          </a:ln>
        </p:spPr>
      </p:cxnSp>
      <p:sp>
        <p:nvSpPr>
          <p:cNvPr id="304" name="Google Shape;304;p20"/>
          <p:cNvSpPr/>
          <p:nvPr/>
        </p:nvSpPr>
        <p:spPr>
          <a:xfrm>
            <a:off x="548640" y="2194560"/>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Format</a:t>
            </a:r>
            <a:endParaRPr sz="1100" b="1">
              <a:solidFill>
                <a:schemeClr val="dk1"/>
              </a:solidFill>
              <a:latin typeface="Calibri"/>
              <a:ea typeface="Calibri"/>
              <a:cs typeface="Calibri"/>
              <a:sym typeface="Calibri"/>
            </a:endParaRPr>
          </a:p>
        </p:txBody>
      </p:sp>
      <p:sp>
        <p:nvSpPr>
          <p:cNvPr id="305" name="Google Shape;305;p20"/>
          <p:cNvSpPr/>
          <p:nvPr/>
        </p:nvSpPr>
        <p:spPr>
          <a:xfrm>
            <a:off x="1645920" y="2194560"/>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Yes / No / Maybe</a:t>
            </a:r>
            <a:endParaRPr sz="1200">
              <a:solidFill>
                <a:schemeClr val="dk1"/>
              </a:solidFill>
              <a:latin typeface="Calibri"/>
              <a:ea typeface="Calibri"/>
              <a:cs typeface="Calibri"/>
              <a:sym typeface="Calibri"/>
            </a:endParaRPr>
          </a:p>
        </p:txBody>
      </p:sp>
      <p:sp>
        <p:nvSpPr>
          <p:cNvPr id="306" name="Google Shape;306;p20"/>
          <p:cNvSpPr/>
          <p:nvPr/>
        </p:nvSpPr>
        <p:spPr>
          <a:xfrm>
            <a:off x="548640" y="2582266"/>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Answers</a:t>
            </a:r>
            <a:endParaRPr sz="1100" b="1">
              <a:solidFill>
                <a:schemeClr val="dk1"/>
              </a:solidFill>
              <a:latin typeface="Calibri"/>
              <a:ea typeface="Calibri"/>
              <a:cs typeface="Calibri"/>
              <a:sym typeface="Calibri"/>
            </a:endParaRPr>
          </a:p>
        </p:txBody>
      </p:sp>
      <p:sp>
        <p:nvSpPr>
          <p:cNvPr id="307" name="Google Shape;307;p20"/>
          <p:cNvSpPr/>
          <p:nvPr/>
        </p:nvSpPr>
        <p:spPr>
          <a:xfrm>
            <a:off x="1645920" y="2582266"/>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one word</a:t>
            </a:r>
            <a:endParaRPr sz="1200">
              <a:solidFill>
                <a:schemeClr val="dk1"/>
              </a:solidFill>
              <a:latin typeface="Calibri"/>
              <a:ea typeface="Calibri"/>
              <a:cs typeface="Calibri"/>
              <a:sym typeface="Calibri"/>
            </a:endParaRPr>
          </a:p>
        </p:txBody>
      </p:sp>
      <p:sp>
        <p:nvSpPr>
          <p:cNvPr id="308" name="Google Shape;308;p20"/>
          <p:cNvSpPr/>
          <p:nvPr/>
        </p:nvSpPr>
        <p:spPr>
          <a:xfrm>
            <a:off x="548640" y="2969971"/>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Scoring</a:t>
            </a:r>
            <a:endParaRPr sz="1100" b="1">
              <a:solidFill>
                <a:schemeClr val="dk1"/>
              </a:solidFill>
              <a:latin typeface="Calibri"/>
              <a:ea typeface="Calibri"/>
              <a:cs typeface="Calibri"/>
              <a:sym typeface="Calibri"/>
            </a:endParaRPr>
          </a:p>
        </p:txBody>
      </p:sp>
      <p:sp>
        <p:nvSpPr>
          <p:cNvPr id="309" name="Google Shape;309;p20"/>
          <p:cNvSpPr/>
          <p:nvPr/>
        </p:nvSpPr>
        <p:spPr>
          <a:xfrm>
            <a:off x="1645920" y="2969971"/>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automatic</a:t>
            </a:r>
            <a:endParaRPr sz="1200">
              <a:solidFill>
                <a:schemeClr val="dk1"/>
              </a:solidFill>
              <a:latin typeface="Calibri"/>
              <a:ea typeface="Calibri"/>
              <a:cs typeface="Calibri"/>
              <a:sym typeface="Calibri"/>
            </a:endParaRPr>
          </a:p>
        </p:txBody>
      </p:sp>
      <p:sp>
        <p:nvSpPr>
          <p:cNvPr id="310" name="Google Shape;310;p20"/>
          <p:cNvSpPr/>
          <p:nvPr/>
        </p:nvSpPr>
        <p:spPr>
          <a:xfrm>
            <a:off x="548640" y="3357677"/>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Questions</a:t>
            </a:r>
            <a:endParaRPr sz="1100" b="1">
              <a:solidFill>
                <a:schemeClr val="dk1"/>
              </a:solidFill>
              <a:latin typeface="Calibri"/>
              <a:ea typeface="Calibri"/>
              <a:cs typeface="Calibri"/>
              <a:sym typeface="Calibri"/>
            </a:endParaRPr>
          </a:p>
        </p:txBody>
      </p:sp>
      <p:sp>
        <p:nvSpPr>
          <p:cNvPr id="311" name="Google Shape;311;p20"/>
          <p:cNvSpPr/>
          <p:nvPr/>
        </p:nvSpPr>
        <p:spPr>
          <a:xfrm>
            <a:off x="1645920" y="3357677"/>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1,000  (standard)</a:t>
            </a:r>
            <a:endParaRPr sz="1200">
              <a:solidFill>
                <a:schemeClr val="dk1"/>
              </a:solidFill>
              <a:latin typeface="Calibri"/>
              <a:ea typeface="Calibri"/>
              <a:cs typeface="Calibri"/>
              <a:sym typeface="Calibri"/>
            </a:endParaRPr>
          </a:p>
        </p:txBody>
      </p:sp>
      <p:sp>
        <p:nvSpPr>
          <p:cNvPr id="312" name="Google Shape;312;p20"/>
          <p:cNvSpPr/>
          <p:nvPr/>
        </p:nvSpPr>
        <p:spPr>
          <a:xfrm>
            <a:off x="548640" y="3745382"/>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Difficulty</a:t>
            </a:r>
            <a:endParaRPr sz="1100" b="1">
              <a:solidFill>
                <a:schemeClr val="dk1"/>
              </a:solidFill>
              <a:latin typeface="Calibri"/>
              <a:ea typeface="Calibri"/>
              <a:cs typeface="Calibri"/>
              <a:sym typeface="Calibri"/>
            </a:endParaRPr>
          </a:p>
        </p:txBody>
      </p:sp>
      <p:sp>
        <p:nvSpPr>
          <p:cNvPr id="313" name="Google Shape;313;p20"/>
          <p:cNvSpPr/>
          <p:nvPr/>
        </p:nvSpPr>
        <p:spPr>
          <a:xfrm>
            <a:off x="1645920" y="3745382"/>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low</a:t>
            </a:r>
            <a:endParaRPr sz="1200">
              <a:solidFill>
                <a:schemeClr val="dk1"/>
              </a:solidFill>
              <a:latin typeface="Calibri"/>
              <a:ea typeface="Calibri"/>
              <a:cs typeface="Calibri"/>
              <a:sym typeface="Calibri"/>
            </a:endParaRPr>
          </a:p>
        </p:txBody>
      </p:sp>
      <p:sp>
        <p:nvSpPr>
          <p:cNvPr id="314" name="Google Shape;314;p20"/>
          <p:cNvSpPr/>
          <p:nvPr/>
        </p:nvSpPr>
        <p:spPr>
          <a:xfrm>
            <a:off x="5120640" y="1389888"/>
            <a:ext cx="3566160" cy="2926080"/>
          </a:xfrm>
          <a:prstGeom prst="rect">
            <a:avLst/>
          </a:prstGeom>
          <a:solidFill>
            <a:srgbClr val="FFFFFF"/>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0"/>
          <p:cNvSpPr/>
          <p:nvPr/>
        </p:nvSpPr>
        <p:spPr>
          <a:xfrm>
            <a:off x="5358384" y="1481328"/>
            <a:ext cx="3236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87000"/>
              </a:buClr>
              <a:buSzPts val="1000"/>
              <a:buFont typeface="Courier New"/>
              <a:buNone/>
            </a:pPr>
            <a:r>
              <a:rPr lang="de-DE" sz="1000" b="1">
                <a:solidFill>
                  <a:srgbClr val="B87000"/>
                </a:solidFill>
                <a:latin typeface="Courier New"/>
                <a:ea typeface="Courier New"/>
                <a:cs typeface="Courier New"/>
                <a:sym typeface="Courier New"/>
              </a:rPr>
              <a:t>REALISTIC APPROACH FOR Q&amp;A</a:t>
            </a:r>
            <a:endParaRPr sz="1000">
              <a:solidFill>
                <a:schemeClr val="dk1"/>
              </a:solidFill>
              <a:latin typeface="Calibri"/>
              <a:ea typeface="Calibri"/>
              <a:cs typeface="Calibri"/>
              <a:sym typeface="Calibri"/>
            </a:endParaRPr>
          </a:p>
        </p:txBody>
      </p:sp>
      <p:sp>
        <p:nvSpPr>
          <p:cNvPr id="316" name="Google Shape;316;p20"/>
          <p:cNvSpPr/>
          <p:nvPr/>
        </p:nvSpPr>
        <p:spPr>
          <a:xfrm>
            <a:off x="5358384" y="1719072"/>
            <a:ext cx="323697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500"/>
              <a:buFont typeface="Georgia"/>
              <a:buNone/>
            </a:pPr>
            <a:r>
              <a:rPr lang="de-DE" sz="1500" b="1">
                <a:solidFill>
                  <a:srgbClr val="111111"/>
                </a:solidFill>
                <a:latin typeface="Georgia"/>
                <a:ea typeface="Georgia"/>
                <a:cs typeface="Georgia"/>
                <a:sym typeface="Georgia"/>
              </a:rPr>
              <a:t>8 Clinical Questions</a:t>
            </a:r>
            <a:endParaRPr sz="1500">
              <a:solidFill>
                <a:schemeClr val="dk1"/>
              </a:solidFill>
              <a:latin typeface="Calibri"/>
              <a:ea typeface="Calibri"/>
              <a:cs typeface="Calibri"/>
              <a:sym typeface="Calibri"/>
            </a:endParaRPr>
          </a:p>
        </p:txBody>
      </p:sp>
      <p:cxnSp>
        <p:nvCxnSpPr>
          <p:cNvPr id="317" name="Google Shape;317;p20"/>
          <p:cNvCxnSpPr/>
          <p:nvPr/>
        </p:nvCxnSpPr>
        <p:spPr>
          <a:xfrm>
            <a:off x="5358384" y="2084832"/>
            <a:ext cx="3236976" cy="0"/>
          </a:xfrm>
          <a:prstGeom prst="straightConnector1">
            <a:avLst/>
          </a:prstGeom>
          <a:noFill/>
          <a:ln w="10150" cap="flat" cmpd="sng">
            <a:solidFill>
              <a:srgbClr val="D9DFDC"/>
            </a:solidFill>
            <a:prstDash val="solid"/>
            <a:round/>
            <a:headEnd type="none" w="sm" len="sm"/>
            <a:tailEnd type="none" w="sm" len="sm"/>
          </a:ln>
        </p:spPr>
      </p:cxnSp>
      <p:sp>
        <p:nvSpPr>
          <p:cNvPr id="318" name="Google Shape;318;p20"/>
          <p:cNvSpPr/>
          <p:nvPr/>
        </p:nvSpPr>
        <p:spPr>
          <a:xfrm>
            <a:off x="5129852" y="2139696"/>
            <a:ext cx="3566160" cy="387706"/>
          </a:xfrm>
          <a:prstGeom prst="rect">
            <a:avLst/>
          </a:prstGeom>
          <a:solidFill>
            <a:srgbClr val="FDF8EE"/>
          </a:solidFill>
          <a:ln w="12700" cap="flat" cmpd="sng">
            <a:solidFill>
              <a:srgbClr val="FDF8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0"/>
          <p:cNvSpPr/>
          <p:nvPr/>
        </p:nvSpPr>
        <p:spPr>
          <a:xfrm>
            <a:off x="5358384" y="2194560"/>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Format</a:t>
            </a:r>
            <a:endParaRPr sz="1100" b="1">
              <a:solidFill>
                <a:schemeClr val="dk1"/>
              </a:solidFill>
              <a:latin typeface="Calibri"/>
              <a:ea typeface="Calibri"/>
              <a:cs typeface="Calibri"/>
              <a:sym typeface="Calibri"/>
            </a:endParaRPr>
          </a:p>
        </p:txBody>
      </p:sp>
      <p:sp>
        <p:nvSpPr>
          <p:cNvPr id="320" name="Google Shape;320;p20"/>
          <p:cNvSpPr/>
          <p:nvPr/>
        </p:nvSpPr>
        <p:spPr>
          <a:xfrm>
            <a:off x="6455664" y="2194560"/>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free-text answer</a:t>
            </a:r>
            <a:endParaRPr sz="1200">
              <a:solidFill>
                <a:schemeClr val="dk1"/>
              </a:solidFill>
              <a:latin typeface="Calibri"/>
              <a:ea typeface="Calibri"/>
              <a:cs typeface="Calibri"/>
              <a:sym typeface="Calibri"/>
            </a:endParaRPr>
          </a:p>
        </p:txBody>
      </p:sp>
      <p:sp>
        <p:nvSpPr>
          <p:cNvPr id="321" name="Google Shape;321;p20"/>
          <p:cNvSpPr/>
          <p:nvPr/>
        </p:nvSpPr>
        <p:spPr>
          <a:xfrm>
            <a:off x="5358384" y="2582266"/>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Answers</a:t>
            </a:r>
            <a:endParaRPr sz="1100" b="1">
              <a:solidFill>
                <a:schemeClr val="dk1"/>
              </a:solidFill>
              <a:latin typeface="Calibri"/>
              <a:ea typeface="Calibri"/>
              <a:cs typeface="Calibri"/>
              <a:sym typeface="Calibri"/>
            </a:endParaRPr>
          </a:p>
        </p:txBody>
      </p:sp>
      <p:sp>
        <p:nvSpPr>
          <p:cNvPr id="322" name="Google Shape;322;p20"/>
          <p:cNvSpPr/>
          <p:nvPr/>
        </p:nvSpPr>
        <p:spPr>
          <a:xfrm>
            <a:off x="6455664" y="2582266"/>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full paragraph</a:t>
            </a:r>
            <a:endParaRPr sz="1200">
              <a:solidFill>
                <a:schemeClr val="dk1"/>
              </a:solidFill>
              <a:latin typeface="Calibri"/>
              <a:ea typeface="Calibri"/>
              <a:cs typeface="Calibri"/>
              <a:sym typeface="Calibri"/>
            </a:endParaRPr>
          </a:p>
        </p:txBody>
      </p:sp>
      <p:sp>
        <p:nvSpPr>
          <p:cNvPr id="323" name="Google Shape;323;p20"/>
          <p:cNvSpPr/>
          <p:nvPr/>
        </p:nvSpPr>
        <p:spPr>
          <a:xfrm>
            <a:off x="5129852" y="2915107"/>
            <a:ext cx="3566160" cy="387706"/>
          </a:xfrm>
          <a:prstGeom prst="rect">
            <a:avLst/>
          </a:prstGeom>
          <a:solidFill>
            <a:srgbClr val="FDF8EE"/>
          </a:solidFill>
          <a:ln w="12700" cap="flat" cmpd="sng">
            <a:solidFill>
              <a:srgbClr val="FDF8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0"/>
          <p:cNvSpPr/>
          <p:nvPr/>
        </p:nvSpPr>
        <p:spPr>
          <a:xfrm>
            <a:off x="5358384" y="2969971"/>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Scoring</a:t>
            </a:r>
            <a:endParaRPr sz="1100" b="1">
              <a:solidFill>
                <a:schemeClr val="dk1"/>
              </a:solidFill>
              <a:latin typeface="Calibri"/>
              <a:ea typeface="Calibri"/>
              <a:cs typeface="Calibri"/>
              <a:sym typeface="Calibri"/>
            </a:endParaRPr>
          </a:p>
        </p:txBody>
      </p:sp>
      <p:sp>
        <p:nvSpPr>
          <p:cNvPr id="325" name="Google Shape;325;p20"/>
          <p:cNvSpPr/>
          <p:nvPr/>
        </p:nvSpPr>
        <p:spPr>
          <a:xfrm>
            <a:off x="6455664" y="2969971"/>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Combined scoring of 2 LLM raters  (1–5)</a:t>
            </a:r>
            <a:endParaRPr sz="1200">
              <a:solidFill>
                <a:schemeClr val="dk1"/>
              </a:solidFill>
              <a:latin typeface="Calibri"/>
              <a:ea typeface="Calibri"/>
              <a:cs typeface="Calibri"/>
              <a:sym typeface="Calibri"/>
            </a:endParaRPr>
          </a:p>
        </p:txBody>
      </p:sp>
      <p:sp>
        <p:nvSpPr>
          <p:cNvPr id="326" name="Google Shape;326;p20"/>
          <p:cNvSpPr/>
          <p:nvPr/>
        </p:nvSpPr>
        <p:spPr>
          <a:xfrm>
            <a:off x="5358384" y="3357677"/>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Questions</a:t>
            </a:r>
            <a:endParaRPr sz="1100" b="1">
              <a:solidFill>
                <a:schemeClr val="dk1"/>
              </a:solidFill>
              <a:latin typeface="Calibri"/>
              <a:ea typeface="Calibri"/>
              <a:cs typeface="Calibri"/>
              <a:sym typeface="Calibri"/>
            </a:endParaRPr>
          </a:p>
        </p:txBody>
      </p:sp>
      <p:sp>
        <p:nvSpPr>
          <p:cNvPr id="327" name="Google Shape;327;p20"/>
          <p:cNvSpPr/>
          <p:nvPr/>
        </p:nvSpPr>
        <p:spPr>
          <a:xfrm>
            <a:off x="6455664" y="3357677"/>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8  (custom)</a:t>
            </a:r>
            <a:endParaRPr sz="1200">
              <a:solidFill>
                <a:schemeClr val="dk1"/>
              </a:solidFill>
              <a:latin typeface="Calibri"/>
              <a:ea typeface="Calibri"/>
              <a:cs typeface="Calibri"/>
              <a:sym typeface="Calibri"/>
            </a:endParaRPr>
          </a:p>
        </p:txBody>
      </p:sp>
      <p:sp>
        <p:nvSpPr>
          <p:cNvPr id="328" name="Google Shape;328;p20"/>
          <p:cNvSpPr/>
          <p:nvPr/>
        </p:nvSpPr>
        <p:spPr>
          <a:xfrm>
            <a:off x="5129852" y="3690518"/>
            <a:ext cx="3566160" cy="387706"/>
          </a:xfrm>
          <a:prstGeom prst="rect">
            <a:avLst/>
          </a:prstGeom>
          <a:solidFill>
            <a:srgbClr val="FDF8EE"/>
          </a:solidFill>
          <a:ln w="12700" cap="flat" cmpd="sng">
            <a:solidFill>
              <a:srgbClr val="FDF8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0"/>
          <p:cNvSpPr/>
          <p:nvPr/>
        </p:nvSpPr>
        <p:spPr>
          <a:xfrm>
            <a:off x="5358384" y="3745382"/>
            <a:ext cx="1024128"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77777"/>
              </a:buClr>
              <a:buSzPts val="1000"/>
              <a:buFont typeface="Courier New"/>
              <a:buNone/>
            </a:pPr>
            <a:r>
              <a:rPr lang="de-DE" sz="1100" b="1">
                <a:solidFill>
                  <a:srgbClr val="777777"/>
                </a:solidFill>
                <a:latin typeface="Courier New"/>
                <a:ea typeface="Courier New"/>
                <a:cs typeface="Courier New"/>
                <a:sym typeface="Courier New"/>
              </a:rPr>
              <a:t>Difficulty</a:t>
            </a:r>
            <a:endParaRPr sz="1100" b="1">
              <a:solidFill>
                <a:schemeClr val="dk1"/>
              </a:solidFill>
              <a:latin typeface="Calibri"/>
              <a:ea typeface="Calibri"/>
              <a:cs typeface="Calibri"/>
              <a:sym typeface="Calibri"/>
            </a:endParaRPr>
          </a:p>
        </p:txBody>
      </p:sp>
      <p:sp>
        <p:nvSpPr>
          <p:cNvPr id="330" name="Google Shape;330;p20"/>
          <p:cNvSpPr/>
          <p:nvPr/>
        </p:nvSpPr>
        <p:spPr>
          <a:xfrm>
            <a:off x="6455664" y="3745382"/>
            <a:ext cx="2139696" cy="29626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1200"/>
              <a:buFont typeface="Georgia"/>
              <a:buNone/>
            </a:pPr>
            <a:r>
              <a:rPr lang="de-DE" sz="1200" b="1">
                <a:solidFill>
                  <a:srgbClr val="111111"/>
                </a:solidFill>
                <a:latin typeface="Georgia"/>
                <a:ea typeface="Georgia"/>
                <a:cs typeface="Georgia"/>
                <a:sym typeface="Georgia"/>
              </a:rPr>
              <a:t>high</a:t>
            </a:r>
            <a:endParaRPr sz="1200">
              <a:solidFill>
                <a:schemeClr val="dk1"/>
              </a:solidFill>
              <a:latin typeface="Calibri"/>
              <a:ea typeface="Calibri"/>
              <a:cs typeface="Calibri"/>
              <a:sym typeface="Calibri"/>
            </a:endParaRPr>
          </a:p>
        </p:txBody>
      </p:sp>
      <p:sp>
        <p:nvSpPr>
          <p:cNvPr id="331" name="Google Shape;331;p20"/>
          <p:cNvSpPr/>
          <p:nvPr/>
        </p:nvSpPr>
        <p:spPr>
          <a:xfrm>
            <a:off x="4297680" y="2578608"/>
            <a:ext cx="54864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FA89F"/>
              </a:buClr>
              <a:buSzPts val="1000"/>
              <a:buFont typeface="Courier New"/>
              <a:buNone/>
            </a:pPr>
            <a:r>
              <a:rPr lang="de-DE" sz="1300" b="1" i="1">
                <a:solidFill>
                  <a:srgbClr val="111111"/>
                </a:solidFill>
                <a:latin typeface="Georgia"/>
                <a:ea typeface="Georgia"/>
                <a:cs typeface="Georgia"/>
                <a:sym typeface="Georgia"/>
              </a:rPr>
              <a:t>then</a:t>
            </a:r>
            <a:endParaRPr sz="300" i="1">
              <a:solidFill>
                <a:schemeClr val="dk1"/>
              </a:solidFill>
              <a:latin typeface="Calibri"/>
              <a:ea typeface="Calibri"/>
              <a:cs typeface="Calibri"/>
              <a:sym typeface="Calibri"/>
            </a:endParaRPr>
          </a:p>
        </p:txBody>
      </p:sp>
      <p:sp>
        <p:nvSpPr>
          <p:cNvPr id="332" name="Google Shape;332;p20"/>
          <p:cNvSpPr/>
          <p:nvPr/>
        </p:nvSpPr>
        <p:spPr>
          <a:xfrm>
            <a:off x="5129852" y="1394972"/>
            <a:ext cx="3566160" cy="45720"/>
          </a:xfrm>
          <a:prstGeom prst="rect">
            <a:avLst/>
          </a:prstGeom>
          <a:solidFill>
            <a:srgbClr val="B87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0"/>
          <p:cNvSpPr/>
          <p:nvPr/>
        </p:nvSpPr>
        <p:spPr>
          <a:xfrm>
            <a:off x="390111" y="1456575"/>
            <a:ext cx="3566100" cy="2859300"/>
          </a:xfrm>
          <a:prstGeom prst="rect">
            <a:avLst/>
          </a:prstGeom>
          <a:noFill/>
          <a:ln w="9525" cap="flat" cmpd="sng">
            <a:solidFill>
              <a:srgbClr val="02707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0"/>
          <p:cNvSpPr/>
          <p:nvPr/>
        </p:nvSpPr>
        <p:spPr>
          <a:xfrm>
            <a:off x="5132764" y="1440975"/>
            <a:ext cx="3566100" cy="2859300"/>
          </a:xfrm>
          <a:prstGeom prst="rect">
            <a:avLst/>
          </a:prstGeom>
          <a:noFill/>
          <a:ln w="9525" cap="flat" cmpd="sng">
            <a:solidFill>
              <a:srgbClr val="B87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a:off x="4119900" y="2812875"/>
            <a:ext cx="904200" cy="146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340"/>
        <p:cNvGrpSpPr/>
        <p:nvPr/>
      </p:nvGrpSpPr>
      <p:grpSpPr>
        <a:xfrm>
          <a:off x="0" y="0"/>
          <a:ext cx="0" cy="0"/>
          <a:chOff x="0" y="0"/>
          <a:chExt cx="0" cy="0"/>
        </a:xfrm>
      </p:grpSpPr>
      <p:sp>
        <p:nvSpPr>
          <p:cNvPr id="341" name="Google Shape;341;p21"/>
          <p:cNvSpPr/>
          <p:nvPr/>
        </p:nvSpPr>
        <p:spPr>
          <a:xfrm>
            <a:off x="457200" y="256032"/>
            <a:ext cx="8229600"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Font typeface="Arial"/>
              <a:buNone/>
            </a:pPr>
            <a:r>
              <a:rPr lang="de-DE" sz="1100" b="1">
                <a:solidFill>
                  <a:srgbClr val="0A7C6E"/>
                </a:solidFill>
                <a:latin typeface="Courier New"/>
                <a:ea typeface="Courier New"/>
                <a:cs typeface="Courier New"/>
                <a:sym typeface="Courier New"/>
              </a:rPr>
              <a:t>CORPUS</a:t>
            </a:r>
            <a:r>
              <a:rPr lang="de-DE" sz="1100" b="1">
                <a:solidFill>
                  <a:srgbClr val="8FA89F"/>
                </a:solidFill>
                <a:latin typeface="Courier New"/>
                <a:ea typeface="Courier New"/>
                <a:cs typeface="Courier New"/>
                <a:sym typeface="Courier New"/>
              </a:rPr>
              <a:t> </a:t>
            </a:r>
            <a:r>
              <a:rPr lang="de-DE" sz="1100" b="1">
                <a:solidFill>
                  <a:srgbClr val="0A7C6E"/>
                </a:solidFill>
                <a:latin typeface="Courier New"/>
                <a:ea typeface="Courier New"/>
                <a:cs typeface="Courier New"/>
                <a:sym typeface="Courier New"/>
              </a:rPr>
              <a:t>COVERAGE</a:t>
            </a:r>
            <a:endParaRPr sz="1100">
              <a:solidFill>
                <a:schemeClr val="dk1"/>
              </a:solidFill>
              <a:latin typeface="Calibri"/>
              <a:ea typeface="Calibri"/>
              <a:cs typeface="Calibri"/>
              <a:sym typeface="Calibri"/>
            </a:endParaRPr>
          </a:p>
        </p:txBody>
      </p:sp>
      <p:sp>
        <p:nvSpPr>
          <p:cNvPr id="342" name="Google Shape;342;p21"/>
          <p:cNvSpPr/>
          <p:nvPr/>
        </p:nvSpPr>
        <p:spPr>
          <a:xfrm>
            <a:off x="457200" y="548640"/>
            <a:ext cx="822960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2000"/>
              <a:buFont typeface="Georgia"/>
              <a:buNone/>
            </a:pPr>
            <a:r>
              <a:rPr lang="de-DE" sz="2000" b="1">
                <a:solidFill>
                  <a:srgbClr val="111111"/>
                </a:solidFill>
                <a:latin typeface="Georgia"/>
                <a:ea typeface="Georgia"/>
                <a:cs typeface="Georgia"/>
                <a:sym typeface="Georgia"/>
              </a:rPr>
              <a:t>Not every question is equal</a:t>
            </a:r>
            <a:endParaRPr sz="2000">
              <a:solidFill>
                <a:schemeClr val="dk1"/>
              </a:solidFill>
              <a:latin typeface="Calibri"/>
              <a:ea typeface="Calibri"/>
              <a:cs typeface="Calibri"/>
              <a:sym typeface="Calibri"/>
            </a:endParaRPr>
          </a:p>
        </p:txBody>
      </p:sp>
      <p:sp>
        <p:nvSpPr>
          <p:cNvPr id="343" name="Google Shape;343;p21"/>
          <p:cNvSpPr/>
          <p:nvPr/>
        </p:nvSpPr>
        <p:spPr>
          <a:xfrm>
            <a:off x="2560320" y="1792224"/>
            <a:ext cx="1664208" cy="1591056"/>
          </a:xfrm>
          <a:prstGeom prst="ellipse">
            <a:avLst/>
          </a:prstGeom>
          <a:solidFill>
            <a:srgbClr val="5B7FA8">
              <a:alpha val="12156"/>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1"/>
          <p:cNvSpPr/>
          <p:nvPr/>
        </p:nvSpPr>
        <p:spPr>
          <a:xfrm>
            <a:off x="1737360" y="1444752"/>
            <a:ext cx="1591056" cy="1517904"/>
          </a:xfrm>
          <a:prstGeom prst="ellipse">
            <a:avLst/>
          </a:prstGeom>
          <a:solidFill>
            <a:srgbClr val="5B7FA8">
              <a:alpha val="12156"/>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1"/>
          <p:cNvSpPr/>
          <p:nvPr/>
        </p:nvSpPr>
        <p:spPr>
          <a:xfrm>
            <a:off x="2286000" y="2615184"/>
            <a:ext cx="1554480" cy="1481328"/>
          </a:xfrm>
          <a:prstGeom prst="ellipse">
            <a:avLst/>
          </a:prstGeom>
          <a:solidFill>
            <a:srgbClr val="5B7FA8">
              <a:alpha val="12156"/>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1"/>
          <p:cNvSpPr/>
          <p:nvPr/>
        </p:nvSpPr>
        <p:spPr>
          <a:xfrm>
            <a:off x="1188720" y="2066544"/>
            <a:ext cx="1115568" cy="1060704"/>
          </a:xfrm>
          <a:prstGeom prst="ellipse">
            <a:avLst/>
          </a:prstGeom>
          <a:solidFill>
            <a:srgbClr val="5B7FA8">
              <a:alpha val="16862"/>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1"/>
          <p:cNvSpPr/>
          <p:nvPr/>
        </p:nvSpPr>
        <p:spPr>
          <a:xfrm>
            <a:off x="3813048" y="1755648"/>
            <a:ext cx="768096" cy="731520"/>
          </a:xfrm>
          <a:prstGeom prst="ellipse">
            <a:avLst/>
          </a:prstGeom>
          <a:solidFill>
            <a:srgbClr val="5B7FA8">
              <a:alpha val="21960"/>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1"/>
          <p:cNvSpPr/>
          <p:nvPr/>
        </p:nvSpPr>
        <p:spPr>
          <a:xfrm>
            <a:off x="3557016" y="2953512"/>
            <a:ext cx="585216" cy="548640"/>
          </a:xfrm>
          <a:prstGeom prst="ellipse">
            <a:avLst/>
          </a:prstGeom>
          <a:solidFill>
            <a:srgbClr val="5B7FA8">
              <a:alpha val="21960"/>
            </a:srgbClr>
          </a:solidFill>
          <a:ln w="9525" cap="flat" cmpd="sng">
            <a:solidFill>
              <a:srgbClr val="9ABD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1"/>
          <p:cNvSpPr/>
          <p:nvPr/>
        </p:nvSpPr>
        <p:spPr>
          <a:xfrm>
            <a:off x="2587752" y="2011680"/>
            <a:ext cx="402336" cy="402336"/>
          </a:xfrm>
          <a:prstGeom prst="ellipse">
            <a:avLst/>
          </a:prstGeom>
          <a:solidFill>
            <a:srgbClr val="163F38"/>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1"/>
          <p:cNvSpPr/>
          <p:nvPr/>
        </p:nvSpPr>
        <p:spPr>
          <a:xfrm>
            <a:off x="2953512" y="2267712"/>
            <a:ext cx="402336" cy="402336"/>
          </a:xfrm>
          <a:prstGeom prst="ellipse">
            <a:avLst/>
          </a:prstGeom>
          <a:solidFill>
            <a:srgbClr val="163F38"/>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1"/>
          <p:cNvSpPr/>
          <p:nvPr/>
        </p:nvSpPr>
        <p:spPr>
          <a:xfrm>
            <a:off x="1399032" y="2249424"/>
            <a:ext cx="402336" cy="402336"/>
          </a:xfrm>
          <a:prstGeom prst="ellipse">
            <a:avLst/>
          </a:prstGeom>
          <a:solidFill>
            <a:srgbClr val="163F38"/>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1"/>
          <p:cNvSpPr/>
          <p:nvPr/>
        </p:nvSpPr>
        <p:spPr>
          <a:xfrm>
            <a:off x="1965960" y="2212848"/>
            <a:ext cx="402336" cy="402336"/>
          </a:xfrm>
          <a:prstGeom prst="ellipse">
            <a:avLst/>
          </a:prstGeom>
          <a:solidFill>
            <a:srgbClr val="365B53"/>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1"/>
          <p:cNvSpPr/>
          <p:nvPr/>
        </p:nvSpPr>
        <p:spPr>
          <a:xfrm>
            <a:off x="3575304" y="1956816"/>
            <a:ext cx="402336" cy="402336"/>
          </a:xfrm>
          <a:prstGeom prst="ellipse">
            <a:avLst/>
          </a:prstGeom>
          <a:solidFill>
            <a:srgbClr val="5F756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1"/>
          <p:cNvSpPr/>
          <p:nvPr/>
        </p:nvSpPr>
        <p:spPr>
          <a:xfrm>
            <a:off x="3410712" y="2871216"/>
            <a:ext cx="402336" cy="402336"/>
          </a:xfrm>
          <a:prstGeom prst="ellipse">
            <a:avLst/>
          </a:prstGeom>
          <a:solidFill>
            <a:srgbClr val="5F756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1"/>
          <p:cNvSpPr/>
          <p:nvPr/>
        </p:nvSpPr>
        <p:spPr>
          <a:xfrm>
            <a:off x="393192" y="3547872"/>
            <a:ext cx="402336" cy="402336"/>
          </a:xfrm>
          <a:prstGeom prst="ellipse">
            <a:avLst/>
          </a:prstGeom>
          <a:solidFill>
            <a:srgbClr val="7F8F89"/>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1"/>
          <p:cNvSpPr/>
          <p:nvPr/>
        </p:nvSpPr>
        <p:spPr>
          <a:xfrm>
            <a:off x="265176" y="2798064"/>
            <a:ext cx="402336" cy="402336"/>
          </a:xfrm>
          <a:prstGeom prst="ellipse">
            <a:avLst/>
          </a:prstGeom>
          <a:solidFill>
            <a:srgbClr val="7F8F89"/>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1"/>
          <p:cNvSpPr/>
          <p:nvPr/>
        </p:nvSpPr>
        <p:spPr>
          <a:xfrm>
            <a:off x="2944420" y="2377434"/>
            <a:ext cx="16641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Oncology</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21%</a:t>
            </a:r>
            <a:endParaRPr sz="1100">
              <a:solidFill>
                <a:schemeClr val="dk1"/>
              </a:solidFill>
              <a:latin typeface="Calibri"/>
              <a:ea typeface="Calibri"/>
              <a:cs typeface="Calibri"/>
              <a:sym typeface="Calibri"/>
            </a:endParaRPr>
          </a:p>
        </p:txBody>
      </p:sp>
      <p:sp>
        <p:nvSpPr>
          <p:cNvPr id="358" name="Google Shape;358;p21"/>
          <p:cNvSpPr/>
          <p:nvPr/>
        </p:nvSpPr>
        <p:spPr>
          <a:xfrm>
            <a:off x="1659410" y="1700787"/>
            <a:ext cx="15912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COVID-19</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20%</a:t>
            </a:r>
            <a:endParaRPr sz="1100">
              <a:solidFill>
                <a:schemeClr val="dk1"/>
              </a:solidFill>
              <a:latin typeface="Calibri"/>
              <a:ea typeface="Calibri"/>
              <a:cs typeface="Calibri"/>
              <a:sym typeface="Calibri"/>
            </a:endParaRPr>
          </a:p>
        </p:txBody>
      </p:sp>
      <p:sp>
        <p:nvSpPr>
          <p:cNvPr id="359" name="Google Shape;359;p21"/>
          <p:cNvSpPr/>
          <p:nvPr/>
        </p:nvSpPr>
        <p:spPr>
          <a:xfrm>
            <a:off x="2286000" y="3283006"/>
            <a:ext cx="15546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Epidemiology</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2A4A6A"/>
              </a:buClr>
              <a:buSzPts val="900"/>
              <a:buFont typeface="Courier New"/>
              <a:buNone/>
            </a:pPr>
            <a:r>
              <a:rPr lang="de-DE" sz="1100" b="1">
                <a:solidFill>
                  <a:srgbClr val="2A4A6A"/>
                </a:solidFill>
                <a:latin typeface="Courier New"/>
                <a:ea typeface="Courier New"/>
                <a:cs typeface="Courier New"/>
                <a:sym typeface="Courier New"/>
              </a:rPr>
              <a:t>20%</a:t>
            </a:r>
            <a:endParaRPr sz="1100">
              <a:solidFill>
                <a:schemeClr val="dk1"/>
              </a:solidFill>
              <a:latin typeface="Calibri"/>
              <a:ea typeface="Calibri"/>
              <a:cs typeface="Calibri"/>
              <a:sym typeface="Calibri"/>
            </a:endParaRPr>
          </a:p>
        </p:txBody>
      </p:sp>
      <p:sp>
        <p:nvSpPr>
          <p:cNvPr id="360" name="Google Shape;360;p21"/>
          <p:cNvSpPr/>
          <p:nvPr/>
        </p:nvSpPr>
        <p:spPr>
          <a:xfrm>
            <a:off x="1110795" y="2557826"/>
            <a:ext cx="11157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A6A8A"/>
              </a:buClr>
              <a:buSzPts val="900"/>
              <a:buFont typeface="Courier New"/>
              <a:buNone/>
            </a:pPr>
            <a:r>
              <a:rPr lang="de-DE" sz="1100" b="1">
                <a:solidFill>
                  <a:srgbClr val="4A6A8A"/>
                </a:solidFill>
                <a:latin typeface="Courier New"/>
                <a:ea typeface="Courier New"/>
                <a:cs typeface="Courier New"/>
                <a:sym typeface="Courier New"/>
              </a:rPr>
              <a:t>Dementia</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4A6A8A"/>
              </a:buClr>
              <a:buSzPts val="900"/>
              <a:buFont typeface="Courier New"/>
              <a:buNone/>
            </a:pPr>
            <a:r>
              <a:rPr lang="de-DE" sz="1100" b="1">
                <a:solidFill>
                  <a:srgbClr val="4A6A8A"/>
                </a:solidFill>
                <a:latin typeface="Courier New"/>
                <a:ea typeface="Courier New"/>
                <a:cs typeface="Courier New"/>
                <a:sym typeface="Courier New"/>
              </a:rPr>
              <a:t>10%</a:t>
            </a:r>
            <a:endParaRPr sz="1100">
              <a:solidFill>
                <a:schemeClr val="dk1"/>
              </a:solidFill>
              <a:latin typeface="Calibri"/>
              <a:ea typeface="Calibri"/>
              <a:cs typeface="Calibri"/>
              <a:sym typeface="Calibri"/>
            </a:endParaRPr>
          </a:p>
        </p:txBody>
      </p:sp>
      <p:sp>
        <p:nvSpPr>
          <p:cNvPr id="361" name="Google Shape;361;p21"/>
          <p:cNvSpPr/>
          <p:nvPr/>
        </p:nvSpPr>
        <p:spPr>
          <a:xfrm>
            <a:off x="3909547" y="1810518"/>
            <a:ext cx="8412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9AB8"/>
              </a:buClr>
              <a:buSzPts val="800"/>
              <a:buFont typeface="Courier New"/>
              <a:buNone/>
            </a:pPr>
            <a:r>
              <a:rPr lang="de-DE" sz="1100" b="1">
                <a:solidFill>
                  <a:srgbClr val="7A9AB8"/>
                </a:solidFill>
                <a:latin typeface="Courier New"/>
                <a:ea typeface="Courier New"/>
                <a:cs typeface="Courier New"/>
                <a:sym typeface="Courier New"/>
              </a:rPr>
              <a:t>ICU 5%</a:t>
            </a:r>
            <a:endParaRPr sz="1100" b="1">
              <a:solidFill>
                <a:schemeClr val="dk1"/>
              </a:solidFill>
              <a:latin typeface="Calibri"/>
              <a:ea typeface="Calibri"/>
              <a:cs typeface="Calibri"/>
              <a:sym typeface="Calibri"/>
            </a:endParaRPr>
          </a:p>
        </p:txBody>
      </p:sp>
      <p:sp>
        <p:nvSpPr>
          <p:cNvPr id="362" name="Google Shape;362;p21"/>
          <p:cNvSpPr/>
          <p:nvPr/>
        </p:nvSpPr>
        <p:spPr>
          <a:xfrm>
            <a:off x="3759352" y="3163922"/>
            <a:ext cx="6948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9AB8"/>
              </a:buClr>
              <a:buSzPts val="800"/>
              <a:buFont typeface="Courier New"/>
              <a:buNone/>
            </a:pPr>
            <a:r>
              <a:rPr lang="de-DE" sz="1000" b="1">
                <a:solidFill>
                  <a:srgbClr val="7A9AB8"/>
                </a:solidFill>
                <a:latin typeface="Courier New"/>
                <a:ea typeface="Courier New"/>
                <a:cs typeface="Courier New"/>
                <a:sym typeface="Courier New"/>
              </a:rPr>
              <a:t>Surgery 3%</a:t>
            </a:r>
            <a:endParaRPr sz="1000" b="1">
              <a:solidFill>
                <a:schemeClr val="dk1"/>
              </a:solidFill>
              <a:latin typeface="Calibri"/>
              <a:ea typeface="Calibri"/>
              <a:cs typeface="Calibri"/>
              <a:sym typeface="Calibri"/>
            </a:endParaRPr>
          </a:p>
        </p:txBody>
      </p:sp>
      <p:sp>
        <p:nvSpPr>
          <p:cNvPr id="363" name="Google Shape;363;p21"/>
          <p:cNvSpPr/>
          <p:nvPr/>
        </p:nvSpPr>
        <p:spPr>
          <a:xfrm>
            <a:off x="265175" y="4297648"/>
            <a:ext cx="51207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A89F"/>
              </a:buClr>
              <a:buSzPts val="900"/>
              <a:buFont typeface="Courier New"/>
              <a:buNone/>
            </a:pPr>
            <a:r>
              <a:rPr lang="de-DE" sz="1100" b="1">
                <a:solidFill>
                  <a:srgbClr val="5B7FA8"/>
                </a:solidFill>
                <a:latin typeface="Courier New"/>
                <a:ea typeface="Courier New"/>
                <a:cs typeface="Courier New"/>
                <a:sym typeface="Courier New"/>
              </a:rPr>
              <a:t>blue-grey bubble = research topic cluster</a:t>
            </a:r>
            <a:r>
              <a:rPr lang="de-DE" sz="1100" b="1">
                <a:solidFill>
                  <a:srgbClr val="AEC7DA"/>
                </a:solidFill>
                <a:latin typeface="Courier New"/>
                <a:ea typeface="Courier New"/>
                <a:cs typeface="Courier New"/>
                <a:sym typeface="Courier New"/>
              </a:rPr>
              <a:t> </a:t>
            </a:r>
            <a:r>
              <a:rPr lang="de-DE" sz="1100" b="1">
                <a:solidFill>
                  <a:srgbClr val="8FA89F"/>
                </a:solidFill>
                <a:latin typeface="Courier New"/>
                <a:ea typeface="Courier New"/>
                <a:cs typeface="Courier New"/>
                <a:sym typeface="Courier New"/>
              </a:rPr>
              <a:t> </a:t>
            </a:r>
            <a:endParaRPr sz="1100" b="1">
              <a:solidFill>
                <a:srgbClr val="8FA89F"/>
              </a:solidFill>
              <a:latin typeface="Courier New"/>
              <a:ea typeface="Courier New"/>
              <a:cs typeface="Courier New"/>
              <a:sym typeface="Courier New"/>
            </a:endParaRPr>
          </a:p>
          <a:p>
            <a:pPr marL="0" marR="0" lvl="0" indent="0" algn="l" rtl="0">
              <a:spcBef>
                <a:spcPts val="0"/>
              </a:spcBef>
              <a:spcAft>
                <a:spcPts val="0"/>
              </a:spcAft>
              <a:buClr>
                <a:srgbClr val="8FA89F"/>
              </a:buClr>
              <a:buSzPts val="900"/>
              <a:buFont typeface="Courier New"/>
              <a:buNone/>
            </a:pPr>
            <a:r>
              <a:rPr lang="de-DE" sz="1100" b="1">
                <a:solidFill>
                  <a:srgbClr val="8FA89F"/>
                </a:solidFill>
                <a:latin typeface="Courier New"/>
                <a:ea typeface="Courier New"/>
                <a:cs typeface="Courier New"/>
                <a:sym typeface="Courier New"/>
              </a:rPr>
              <a:t>green dot = coverage zone of each question</a:t>
            </a:r>
            <a:endParaRPr sz="1100" b="1">
              <a:solidFill>
                <a:schemeClr val="dk1"/>
              </a:solidFill>
              <a:latin typeface="Calibri"/>
              <a:ea typeface="Calibri"/>
              <a:cs typeface="Calibri"/>
              <a:sym typeface="Calibri"/>
            </a:endParaRPr>
          </a:p>
        </p:txBody>
      </p:sp>
      <p:sp>
        <p:nvSpPr>
          <p:cNvPr id="364" name="Google Shape;364;p21"/>
          <p:cNvSpPr/>
          <p:nvPr/>
        </p:nvSpPr>
        <p:spPr>
          <a:xfrm>
            <a:off x="5670242" y="1167944"/>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100"/>
              <a:buFont typeface="Courier New"/>
              <a:buNone/>
            </a:pPr>
            <a:r>
              <a:rPr lang="de-DE" sz="1100" b="1">
                <a:solidFill>
                  <a:srgbClr val="1F5B4F"/>
                </a:solidFill>
                <a:latin typeface="Georgia"/>
                <a:ea typeface="Georgia"/>
                <a:cs typeface="Georgia"/>
                <a:sym typeface="Georgia"/>
              </a:rPr>
              <a:t>Coverage Zones</a:t>
            </a:r>
            <a:endParaRPr sz="1100" b="1">
              <a:solidFill>
                <a:srgbClr val="1F5B4F"/>
              </a:solidFill>
              <a:latin typeface="Georgia"/>
              <a:ea typeface="Georgia"/>
              <a:cs typeface="Georgia"/>
              <a:sym typeface="Georgia"/>
            </a:endParaRPr>
          </a:p>
        </p:txBody>
      </p:sp>
      <p:sp>
        <p:nvSpPr>
          <p:cNvPr id="365" name="Google Shape;365;p21"/>
          <p:cNvSpPr/>
          <p:nvPr/>
        </p:nvSpPr>
        <p:spPr>
          <a:xfrm>
            <a:off x="5670242" y="1588568"/>
            <a:ext cx="256032" cy="256032"/>
          </a:xfrm>
          <a:prstGeom prst="ellipse">
            <a:avLst/>
          </a:prstGeom>
          <a:solidFill>
            <a:srgbClr val="163F38"/>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1"/>
          <p:cNvSpPr/>
          <p:nvPr/>
        </p:nvSpPr>
        <p:spPr>
          <a:xfrm>
            <a:off x="6017714" y="1533704"/>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WELL COVERED</a:t>
            </a:r>
            <a:endParaRPr sz="1000">
              <a:solidFill>
                <a:schemeClr val="dk1"/>
              </a:solidFill>
              <a:latin typeface="Calibri"/>
              <a:ea typeface="Calibri"/>
              <a:cs typeface="Calibri"/>
              <a:sym typeface="Calibri"/>
            </a:endParaRPr>
          </a:p>
        </p:txBody>
      </p:sp>
      <p:sp>
        <p:nvSpPr>
          <p:cNvPr id="367" name="Google Shape;367;p21"/>
          <p:cNvSpPr/>
          <p:nvPr/>
        </p:nvSpPr>
        <p:spPr>
          <a:xfrm>
            <a:off x="6017714" y="1771448"/>
            <a:ext cx="2743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3 questions — inside</a:t>
            </a:r>
            <a:endParaRPr sz="1100">
              <a:solidFill>
                <a:schemeClr val="dk1"/>
              </a:solidFill>
              <a:latin typeface="Calibri"/>
              <a:ea typeface="Calibri"/>
              <a:cs typeface="Calibri"/>
              <a:sym typeface="Calibri"/>
            </a:endParaRPr>
          </a:p>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major topic clusters</a:t>
            </a:r>
            <a:endParaRPr sz="1100">
              <a:solidFill>
                <a:schemeClr val="dk1"/>
              </a:solidFill>
              <a:latin typeface="Calibri"/>
              <a:ea typeface="Calibri"/>
              <a:cs typeface="Calibri"/>
              <a:sym typeface="Calibri"/>
            </a:endParaRPr>
          </a:p>
        </p:txBody>
      </p:sp>
      <p:sp>
        <p:nvSpPr>
          <p:cNvPr id="368" name="Google Shape;368;p21"/>
          <p:cNvSpPr/>
          <p:nvPr/>
        </p:nvSpPr>
        <p:spPr>
          <a:xfrm>
            <a:off x="5670242" y="2301800"/>
            <a:ext cx="256032" cy="256032"/>
          </a:xfrm>
          <a:prstGeom prst="ellipse">
            <a:avLst/>
          </a:prstGeom>
          <a:solidFill>
            <a:srgbClr val="365B53"/>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1"/>
          <p:cNvSpPr/>
          <p:nvPr/>
        </p:nvSpPr>
        <p:spPr>
          <a:xfrm>
            <a:off x="6017714" y="2246936"/>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PARTIAL MATCH</a:t>
            </a:r>
            <a:endParaRPr sz="1000">
              <a:solidFill>
                <a:schemeClr val="dk1"/>
              </a:solidFill>
              <a:latin typeface="Calibri"/>
              <a:ea typeface="Calibri"/>
              <a:cs typeface="Calibri"/>
              <a:sym typeface="Calibri"/>
            </a:endParaRPr>
          </a:p>
        </p:txBody>
      </p:sp>
      <p:sp>
        <p:nvSpPr>
          <p:cNvPr id="370" name="Google Shape;370;p21"/>
          <p:cNvSpPr/>
          <p:nvPr/>
        </p:nvSpPr>
        <p:spPr>
          <a:xfrm>
            <a:off x="6017714" y="2484680"/>
            <a:ext cx="2743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1 question — between</a:t>
            </a:r>
            <a:endParaRPr sz="1100">
              <a:solidFill>
                <a:schemeClr val="dk1"/>
              </a:solidFill>
              <a:latin typeface="Calibri"/>
              <a:ea typeface="Calibri"/>
              <a:cs typeface="Calibri"/>
              <a:sym typeface="Calibri"/>
            </a:endParaRPr>
          </a:p>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two clusters</a:t>
            </a:r>
            <a:endParaRPr sz="1100">
              <a:solidFill>
                <a:schemeClr val="dk1"/>
              </a:solidFill>
              <a:latin typeface="Calibri"/>
              <a:ea typeface="Calibri"/>
              <a:cs typeface="Calibri"/>
              <a:sym typeface="Calibri"/>
            </a:endParaRPr>
          </a:p>
        </p:txBody>
      </p:sp>
      <p:sp>
        <p:nvSpPr>
          <p:cNvPr id="371" name="Google Shape;371;p21"/>
          <p:cNvSpPr/>
          <p:nvPr/>
        </p:nvSpPr>
        <p:spPr>
          <a:xfrm>
            <a:off x="5670242" y="3015032"/>
            <a:ext cx="256032" cy="256032"/>
          </a:xfrm>
          <a:prstGeom prst="ellipse">
            <a:avLst/>
          </a:prstGeom>
          <a:solidFill>
            <a:srgbClr val="5F756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1"/>
          <p:cNvSpPr/>
          <p:nvPr/>
        </p:nvSpPr>
        <p:spPr>
          <a:xfrm>
            <a:off x="6017714" y="296016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SPARSE MATCH</a:t>
            </a:r>
            <a:endParaRPr sz="1000">
              <a:solidFill>
                <a:schemeClr val="dk1"/>
              </a:solidFill>
              <a:latin typeface="Calibri"/>
              <a:ea typeface="Calibri"/>
              <a:cs typeface="Calibri"/>
              <a:sym typeface="Calibri"/>
            </a:endParaRPr>
          </a:p>
        </p:txBody>
      </p:sp>
      <p:sp>
        <p:nvSpPr>
          <p:cNvPr id="373" name="Google Shape;373;p21"/>
          <p:cNvSpPr/>
          <p:nvPr/>
        </p:nvSpPr>
        <p:spPr>
          <a:xfrm>
            <a:off x="6017714" y="3197912"/>
            <a:ext cx="2743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2 questions — near</a:t>
            </a:r>
            <a:endParaRPr sz="1100">
              <a:solidFill>
                <a:schemeClr val="dk1"/>
              </a:solidFill>
              <a:latin typeface="Calibri"/>
              <a:ea typeface="Calibri"/>
              <a:cs typeface="Calibri"/>
              <a:sym typeface="Calibri"/>
            </a:endParaRPr>
          </a:p>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small clusters only</a:t>
            </a:r>
            <a:endParaRPr sz="1100">
              <a:solidFill>
                <a:schemeClr val="dk1"/>
              </a:solidFill>
              <a:latin typeface="Calibri"/>
              <a:ea typeface="Calibri"/>
              <a:cs typeface="Calibri"/>
              <a:sym typeface="Calibri"/>
            </a:endParaRPr>
          </a:p>
        </p:txBody>
      </p:sp>
      <p:sp>
        <p:nvSpPr>
          <p:cNvPr id="374" name="Google Shape;374;p21"/>
          <p:cNvSpPr/>
          <p:nvPr/>
        </p:nvSpPr>
        <p:spPr>
          <a:xfrm>
            <a:off x="5670242" y="3728264"/>
            <a:ext cx="256032" cy="256032"/>
          </a:xfrm>
          <a:prstGeom prst="ellipse">
            <a:avLst/>
          </a:prstGeom>
          <a:solidFill>
            <a:srgbClr val="7F8F89"/>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1"/>
          <p:cNvSpPr/>
          <p:nvPr/>
        </p:nvSpPr>
        <p:spPr>
          <a:xfrm>
            <a:off x="6017714" y="3673400"/>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OUTSIDE CORPUS</a:t>
            </a:r>
            <a:endParaRPr sz="1000">
              <a:solidFill>
                <a:schemeClr val="dk1"/>
              </a:solidFill>
              <a:latin typeface="Calibri"/>
              <a:ea typeface="Calibri"/>
              <a:cs typeface="Calibri"/>
              <a:sym typeface="Calibri"/>
            </a:endParaRPr>
          </a:p>
        </p:txBody>
      </p:sp>
      <p:sp>
        <p:nvSpPr>
          <p:cNvPr id="376" name="Google Shape;376;p21"/>
          <p:cNvSpPr/>
          <p:nvPr/>
        </p:nvSpPr>
        <p:spPr>
          <a:xfrm>
            <a:off x="6017714" y="3911144"/>
            <a:ext cx="274320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2 questions — no</a:t>
            </a:r>
            <a:endParaRPr sz="1100">
              <a:solidFill>
                <a:schemeClr val="dk1"/>
              </a:solidFill>
              <a:latin typeface="Calibri"/>
              <a:ea typeface="Calibri"/>
              <a:cs typeface="Calibri"/>
              <a:sym typeface="Calibri"/>
            </a:endParaRPr>
          </a:p>
          <a:p>
            <a:pPr marL="0" marR="0" lvl="0" indent="0" algn="l" rtl="0">
              <a:spcBef>
                <a:spcPts val="0"/>
              </a:spcBef>
              <a:spcAft>
                <a:spcPts val="0"/>
              </a:spcAft>
              <a:buClr>
                <a:srgbClr val="555555"/>
              </a:buClr>
              <a:buSzPts val="1100"/>
              <a:buFont typeface="Georgia"/>
              <a:buNone/>
            </a:pPr>
            <a:r>
              <a:rPr lang="de-DE" sz="1100">
                <a:solidFill>
                  <a:srgbClr val="555555"/>
                </a:solidFill>
                <a:latin typeface="Georgia"/>
                <a:ea typeface="Georgia"/>
                <a:cs typeface="Georgia"/>
                <a:sym typeface="Georgia"/>
              </a:rPr>
              <a:t>matching cluster at all</a:t>
            </a:r>
            <a:endParaRPr sz="1100">
              <a:solidFill>
                <a:schemeClr val="dk1"/>
              </a:solidFill>
              <a:latin typeface="Calibri"/>
              <a:ea typeface="Calibri"/>
              <a:cs typeface="Calibri"/>
              <a:sym typeface="Calibri"/>
            </a:endParaRPr>
          </a:p>
        </p:txBody>
      </p:sp>
      <p:sp>
        <p:nvSpPr>
          <p:cNvPr id="377" name="Google Shape;377;p21"/>
          <p:cNvSpPr/>
          <p:nvPr/>
        </p:nvSpPr>
        <p:spPr>
          <a:xfrm>
            <a:off x="0" y="4732020"/>
            <a:ext cx="9144000" cy="411480"/>
          </a:xfrm>
          <a:prstGeom prst="rect">
            <a:avLst/>
          </a:prstGeom>
          <a:solidFill>
            <a:srgbClr val="1F5B4F"/>
          </a:solidFill>
          <a:ln w="12700" cap="flat" cmpd="sng">
            <a:solidFill>
              <a:srgbClr val="1F5B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1"/>
          <p:cNvSpPr/>
          <p:nvPr/>
        </p:nvSpPr>
        <p:spPr>
          <a:xfrm>
            <a:off x="457200" y="4736592"/>
            <a:ext cx="82296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ourier New"/>
              <a:buNone/>
            </a:pPr>
            <a:r>
              <a:rPr lang="de-DE" sz="1100">
                <a:solidFill>
                  <a:srgbClr val="FFFFFF"/>
                </a:solidFill>
                <a:latin typeface="Courier New"/>
                <a:ea typeface="Courier New"/>
                <a:cs typeface="Courier New"/>
                <a:sym typeface="Courier New"/>
              </a:rPr>
              <a:t>Questions outside the corpus are harder to answer well — for every model, every time.</a:t>
            </a:r>
            <a:endParaRPr sz="11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383"/>
        <p:cNvGrpSpPr/>
        <p:nvPr/>
      </p:nvGrpSpPr>
      <p:grpSpPr>
        <a:xfrm>
          <a:off x="0" y="0"/>
          <a:ext cx="0" cy="0"/>
          <a:chOff x="0" y="0"/>
          <a:chExt cx="0" cy="0"/>
        </a:xfrm>
      </p:grpSpPr>
      <p:sp>
        <p:nvSpPr>
          <p:cNvPr id="384" name="Google Shape;384;p22"/>
          <p:cNvSpPr/>
          <p:nvPr/>
        </p:nvSpPr>
        <p:spPr>
          <a:xfrm>
            <a:off x="457200" y="256032"/>
            <a:ext cx="8229600"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Font typeface="Arial"/>
              <a:buNone/>
            </a:pPr>
            <a:r>
              <a:rPr lang="de-DE" sz="1100" b="1">
                <a:solidFill>
                  <a:srgbClr val="0A7C6E"/>
                </a:solidFill>
                <a:latin typeface="Courier New"/>
                <a:ea typeface="Courier New"/>
                <a:cs typeface="Courier New"/>
                <a:sym typeface="Courier New"/>
              </a:rPr>
              <a:t>RESULTS</a:t>
            </a:r>
            <a:endParaRPr sz="1100">
              <a:solidFill>
                <a:schemeClr val="dk1"/>
              </a:solidFill>
              <a:latin typeface="Calibri"/>
              <a:ea typeface="Calibri"/>
              <a:cs typeface="Calibri"/>
              <a:sym typeface="Calibri"/>
            </a:endParaRPr>
          </a:p>
        </p:txBody>
      </p:sp>
      <p:sp>
        <p:nvSpPr>
          <p:cNvPr id="385" name="Google Shape;385;p22"/>
          <p:cNvSpPr/>
          <p:nvPr/>
        </p:nvSpPr>
        <p:spPr>
          <a:xfrm>
            <a:off x="457200" y="548640"/>
            <a:ext cx="822960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11111"/>
              </a:buClr>
              <a:buSzPts val="2000"/>
              <a:buFont typeface="Georgia"/>
              <a:buNone/>
            </a:pPr>
            <a:r>
              <a:rPr lang="de-DE" sz="2000" b="1">
                <a:solidFill>
                  <a:srgbClr val="111111"/>
                </a:solidFill>
                <a:latin typeface="Georgia"/>
                <a:ea typeface="Georgia"/>
                <a:cs typeface="Georgia"/>
                <a:sym typeface="Georgia"/>
              </a:rPr>
              <a:t>Better retrieval beats a bigger model</a:t>
            </a:r>
            <a:endParaRPr sz="2000">
              <a:solidFill>
                <a:schemeClr val="dk1"/>
              </a:solidFill>
              <a:latin typeface="Calibri"/>
              <a:ea typeface="Calibri"/>
              <a:cs typeface="Calibri"/>
              <a:sym typeface="Calibri"/>
            </a:endParaRPr>
          </a:p>
        </p:txBody>
      </p:sp>
      <p:sp>
        <p:nvSpPr>
          <p:cNvPr id="386" name="Google Shape;386;p22"/>
          <p:cNvSpPr/>
          <p:nvPr/>
        </p:nvSpPr>
        <p:spPr>
          <a:xfrm>
            <a:off x="441614" y="1419251"/>
            <a:ext cx="2560200" cy="749700"/>
          </a:xfrm>
          <a:prstGeom prst="rect">
            <a:avLst/>
          </a:prstGeom>
          <a:solidFill>
            <a:srgbClr val="FFFFFF"/>
          </a:solidFill>
          <a:ln w="19050" cap="flat" cmpd="sng">
            <a:solidFill>
              <a:srgbClr val="D7D1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2"/>
          <p:cNvSpPr/>
          <p:nvPr/>
        </p:nvSpPr>
        <p:spPr>
          <a:xfrm>
            <a:off x="578774" y="1656995"/>
            <a:ext cx="14172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I1 — BASELINE</a:t>
            </a:r>
            <a:endParaRPr sz="1000">
              <a:solidFill>
                <a:schemeClr val="dk1"/>
              </a:solidFill>
              <a:latin typeface="Calibri"/>
              <a:ea typeface="Calibri"/>
              <a:cs typeface="Calibri"/>
              <a:sym typeface="Calibri"/>
            </a:endParaRPr>
          </a:p>
        </p:txBody>
      </p:sp>
      <p:sp>
        <p:nvSpPr>
          <p:cNvPr id="388" name="Google Shape;388;p22"/>
          <p:cNvSpPr/>
          <p:nvPr/>
        </p:nvSpPr>
        <p:spPr>
          <a:xfrm>
            <a:off x="2032670" y="1638707"/>
            <a:ext cx="841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5B4F"/>
              </a:buClr>
              <a:buSzPts val="1600"/>
              <a:buFont typeface="Courier New"/>
              <a:buNone/>
            </a:pPr>
            <a:r>
              <a:rPr lang="de-DE" sz="1600" b="1">
                <a:solidFill>
                  <a:srgbClr val="1F5B4F"/>
                </a:solidFill>
                <a:latin typeface="Courier New"/>
                <a:ea typeface="Courier New"/>
                <a:cs typeface="Courier New"/>
                <a:sym typeface="Courier New"/>
              </a:rPr>
              <a:t>3.1 /5</a:t>
            </a:r>
            <a:endParaRPr sz="1600">
              <a:solidFill>
                <a:schemeClr val="dk1"/>
              </a:solidFill>
              <a:latin typeface="Calibri"/>
              <a:ea typeface="Calibri"/>
              <a:cs typeface="Calibri"/>
              <a:sym typeface="Calibri"/>
            </a:endParaRPr>
          </a:p>
        </p:txBody>
      </p:sp>
      <p:sp>
        <p:nvSpPr>
          <p:cNvPr id="389" name="Google Shape;389;p22"/>
          <p:cNvSpPr/>
          <p:nvPr/>
        </p:nvSpPr>
        <p:spPr>
          <a:xfrm>
            <a:off x="441614" y="2297075"/>
            <a:ext cx="2560200" cy="749700"/>
          </a:xfrm>
          <a:prstGeom prst="rect">
            <a:avLst/>
          </a:prstGeom>
          <a:solidFill>
            <a:srgbClr val="F0F5F3"/>
          </a:solidFill>
          <a:ln w="25400" cap="flat" cmpd="sng">
            <a:solidFill>
              <a:srgbClr val="1F5B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2"/>
          <p:cNvSpPr/>
          <p:nvPr/>
        </p:nvSpPr>
        <p:spPr>
          <a:xfrm>
            <a:off x="1401734" y="2141627"/>
            <a:ext cx="1024200" cy="255900"/>
          </a:xfrm>
          <a:prstGeom prst="rect">
            <a:avLst/>
          </a:prstGeom>
          <a:solidFill>
            <a:srgbClr val="1F5B4F"/>
          </a:solidFill>
          <a:ln w="12700" cap="flat" cmpd="sng">
            <a:solidFill>
              <a:srgbClr val="1F5B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2"/>
          <p:cNvSpPr/>
          <p:nvPr/>
        </p:nvSpPr>
        <p:spPr>
          <a:xfrm>
            <a:off x="1401734" y="2141627"/>
            <a:ext cx="10242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ourier New"/>
              <a:buNone/>
            </a:pPr>
            <a:r>
              <a:rPr lang="de-DE" sz="900" b="1">
                <a:solidFill>
                  <a:srgbClr val="FFFFFF"/>
                </a:solidFill>
                <a:latin typeface="Courier New"/>
                <a:ea typeface="Courier New"/>
                <a:cs typeface="Courier New"/>
                <a:sym typeface="Courier New"/>
              </a:rPr>
              <a:t>★  WINNER</a:t>
            </a:r>
            <a:endParaRPr sz="900">
              <a:solidFill>
                <a:schemeClr val="dk1"/>
              </a:solidFill>
              <a:latin typeface="Calibri"/>
              <a:ea typeface="Calibri"/>
              <a:cs typeface="Calibri"/>
              <a:sym typeface="Calibri"/>
            </a:endParaRPr>
          </a:p>
        </p:txBody>
      </p:sp>
      <p:sp>
        <p:nvSpPr>
          <p:cNvPr id="392" name="Google Shape;392;p22"/>
          <p:cNvSpPr/>
          <p:nvPr/>
        </p:nvSpPr>
        <p:spPr>
          <a:xfrm>
            <a:off x="578774" y="2534819"/>
            <a:ext cx="14172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I2 — HYBRID</a:t>
            </a:r>
            <a:endParaRPr sz="1000">
              <a:solidFill>
                <a:schemeClr val="dk1"/>
              </a:solidFill>
              <a:latin typeface="Calibri"/>
              <a:ea typeface="Calibri"/>
              <a:cs typeface="Calibri"/>
              <a:sym typeface="Calibri"/>
            </a:endParaRPr>
          </a:p>
        </p:txBody>
      </p:sp>
      <p:sp>
        <p:nvSpPr>
          <p:cNvPr id="393" name="Google Shape;393;p22"/>
          <p:cNvSpPr/>
          <p:nvPr/>
        </p:nvSpPr>
        <p:spPr>
          <a:xfrm>
            <a:off x="2032670" y="2516531"/>
            <a:ext cx="841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5B4F"/>
              </a:buClr>
              <a:buSzPts val="1600"/>
              <a:buFont typeface="Courier New"/>
              <a:buNone/>
            </a:pPr>
            <a:r>
              <a:rPr lang="de-DE" sz="1600" b="1">
                <a:solidFill>
                  <a:srgbClr val="1F5B4F"/>
                </a:solidFill>
                <a:latin typeface="Courier New"/>
                <a:ea typeface="Courier New"/>
                <a:cs typeface="Courier New"/>
                <a:sym typeface="Courier New"/>
              </a:rPr>
              <a:t>3.6 /5</a:t>
            </a:r>
            <a:endParaRPr sz="1600">
              <a:solidFill>
                <a:schemeClr val="dk1"/>
              </a:solidFill>
              <a:latin typeface="Calibri"/>
              <a:ea typeface="Calibri"/>
              <a:cs typeface="Calibri"/>
              <a:sym typeface="Calibri"/>
            </a:endParaRPr>
          </a:p>
        </p:txBody>
      </p:sp>
      <p:sp>
        <p:nvSpPr>
          <p:cNvPr id="394" name="Google Shape;394;p22"/>
          <p:cNvSpPr/>
          <p:nvPr/>
        </p:nvSpPr>
        <p:spPr>
          <a:xfrm>
            <a:off x="441614" y="3174899"/>
            <a:ext cx="2560200" cy="749700"/>
          </a:xfrm>
          <a:prstGeom prst="rect">
            <a:avLst/>
          </a:prstGeom>
          <a:solidFill>
            <a:srgbClr val="FFFFFF"/>
          </a:solidFill>
          <a:ln w="19050" cap="flat" cmpd="sng">
            <a:solidFill>
              <a:srgbClr val="D7D1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2"/>
          <p:cNvSpPr/>
          <p:nvPr/>
        </p:nvSpPr>
        <p:spPr>
          <a:xfrm>
            <a:off x="578774" y="3412643"/>
            <a:ext cx="14172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I3 — BIG MODEL</a:t>
            </a:r>
            <a:endParaRPr sz="1000">
              <a:solidFill>
                <a:schemeClr val="dk1"/>
              </a:solidFill>
              <a:latin typeface="Calibri"/>
              <a:ea typeface="Calibri"/>
              <a:cs typeface="Calibri"/>
              <a:sym typeface="Calibri"/>
            </a:endParaRPr>
          </a:p>
        </p:txBody>
      </p:sp>
      <p:sp>
        <p:nvSpPr>
          <p:cNvPr id="396" name="Google Shape;396;p22"/>
          <p:cNvSpPr/>
          <p:nvPr/>
        </p:nvSpPr>
        <p:spPr>
          <a:xfrm>
            <a:off x="2032670" y="3394355"/>
            <a:ext cx="841200" cy="2742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F5B4F"/>
              </a:buClr>
              <a:buSzPts val="1600"/>
              <a:buFont typeface="Courier New"/>
              <a:buNone/>
            </a:pPr>
            <a:r>
              <a:rPr lang="de-DE" sz="1600" b="1">
                <a:solidFill>
                  <a:srgbClr val="1F5B4F"/>
                </a:solidFill>
                <a:latin typeface="Courier New"/>
                <a:ea typeface="Courier New"/>
                <a:cs typeface="Courier New"/>
                <a:sym typeface="Courier New"/>
              </a:rPr>
              <a:t>3.2 /5</a:t>
            </a:r>
            <a:endParaRPr sz="1600">
              <a:solidFill>
                <a:schemeClr val="dk1"/>
              </a:solidFill>
              <a:latin typeface="Calibri"/>
              <a:ea typeface="Calibri"/>
              <a:cs typeface="Calibri"/>
              <a:sym typeface="Calibri"/>
            </a:endParaRPr>
          </a:p>
        </p:txBody>
      </p:sp>
      <p:sp>
        <p:nvSpPr>
          <p:cNvPr id="397" name="Google Shape;397;p22"/>
          <p:cNvSpPr/>
          <p:nvPr/>
        </p:nvSpPr>
        <p:spPr>
          <a:xfrm>
            <a:off x="3337560" y="1353312"/>
            <a:ext cx="55778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100"/>
              <a:buFont typeface="Calibri"/>
              <a:buNone/>
            </a:pPr>
            <a:r>
              <a:rPr lang="de-DE" sz="1100" b="1">
                <a:solidFill>
                  <a:srgbClr val="1F5B4F"/>
                </a:solidFill>
                <a:latin typeface="Georgia"/>
                <a:ea typeface="Georgia"/>
                <a:cs typeface="Georgia"/>
                <a:sym typeface="Georgia"/>
              </a:rPr>
              <a:t>Answer Quality versus Corpus Coverage </a:t>
            </a:r>
            <a:r>
              <a:rPr lang="de-DE" sz="1100">
                <a:solidFill>
                  <a:srgbClr val="1F5B4F"/>
                </a:solidFill>
                <a:latin typeface="Georgia"/>
                <a:ea typeface="Georgia"/>
                <a:cs typeface="Georgia"/>
                <a:sym typeface="Georgia"/>
              </a:rPr>
              <a:t>(combined score from 2 LLMs)</a:t>
            </a:r>
            <a:r>
              <a:rPr lang="de-DE" sz="1100" b="1">
                <a:solidFill>
                  <a:srgbClr val="1F5B4F"/>
                </a:solidFill>
                <a:latin typeface="Georgia"/>
                <a:ea typeface="Georgia"/>
                <a:cs typeface="Georgia"/>
                <a:sym typeface="Georgia"/>
              </a:rPr>
              <a:t> </a:t>
            </a:r>
            <a:endParaRPr sz="1100">
              <a:solidFill>
                <a:schemeClr val="dk1"/>
              </a:solidFill>
              <a:latin typeface="Georgia"/>
              <a:ea typeface="Georgia"/>
              <a:cs typeface="Georgia"/>
              <a:sym typeface="Georgia"/>
            </a:endParaRPr>
          </a:p>
        </p:txBody>
      </p:sp>
      <p:sp>
        <p:nvSpPr>
          <p:cNvPr id="398" name="Google Shape;398;p22"/>
          <p:cNvSpPr/>
          <p:nvPr/>
        </p:nvSpPr>
        <p:spPr>
          <a:xfrm>
            <a:off x="4868452" y="1654534"/>
            <a:ext cx="10425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5B4F"/>
              </a:buClr>
              <a:buSzPts val="1100"/>
              <a:buFont typeface="Courier New"/>
              <a:buNone/>
            </a:pPr>
            <a:r>
              <a:rPr lang="de-DE" sz="1100" b="1">
                <a:solidFill>
                  <a:srgbClr val="1F5B4F"/>
                </a:solidFill>
                <a:latin typeface="Courier New"/>
                <a:ea typeface="Courier New"/>
                <a:cs typeface="Courier New"/>
                <a:sym typeface="Courier New"/>
              </a:rPr>
              <a:t>I1</a:t>
            </a:r>
            <a:endParaRPr sz="1100" b="1">
              <a:solidFill>
                <a:schemeClr val="dk1"/>
              </a:solidFill>
              <a:latin typeface="Calibri"/>
              <a:ea typeface="Calibri"/>
              <a:cs typeface="Calibri"/>
              <a:sym typeface="Calibri"/>
            </a:endParaRPr>
          </a:p>
        </p:txBody>
      </p:sp>
      <p:sp>
        <p:nvSpPr>
          <p:cNvPr id="399" name="Google Shape;399;p22"/>
          <p:cNvSpPr/>
          <p:nvPr/>
        </p:nvSpPr>
        <p:spPr>
          <a:xfrm>
            <a:off x="6038884" y="1654534"/>
            <a:ext cx="10425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5B4F"/>
              </a:buClr>
              <a:buSzPts val="1100"/>
              <a:buFont typeface="Courier New"/>
              <a:buNone/>
            </a:pPr>
            <a:r>
              <a:rPr lang="de-DE" sz="1100" b="1">
                <a:solidFill>
                  <a:srgbClr val="1F5B4F"/>
                </a:solidFill>
                <a:latin typeface="Courier New"/>
                <a:ea typeface="Courier New"/>
                <a:cs typeface="Courier New"/>
                <a:sym typeface="Courier New"/>
              </a:rPr>
              <a:t>I2</a:t>
            </a:r>
            <a:endParaRPr sz="1100" b="1">
              <a:solidFill>
                <a:schemeClr val="dk1"/>
              </a:solidFill>
              <a:latin typeface="Calibri"/>
              <a:ea typeface="Calibri"/>
              <a:cs typeface="Calibri"/>
              <a:sym typeface="Calibri"/>
            </a:endParaRPr>
          </a:p>
        </p:txBody>
      </p:sp>
      <p:sp>
        <p:nvSpPr>
          <p:cNvPr id="400" name="Google Shape;400;p22"/>
          <p:cNvSpPr/>
          <p:nvPr/>
        </p:nvSpPr>
        <p:spPr>
          <a:xfrm>
            <a:off x="7209316" y="1654534"/>
            <a:ext cx="10425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5B4F"/>
              </a:buClr>
              <a:buSzPts val="1100"/>
              <a:buFont typeface="Courier New"/>
              <a:buNone/>
            </a:pPr>
            <a:r>
              <a:rPr lang="de-DE" sz="1100" b="1">
                <a:solidFill>
                  <a:srgbClr val="1F5B4F"/>
                </a:solidFill>
                <a:latin typeface="Courier New"/>
                <a:ea typeface="Courier New"/>
                <a:cs typeface="Courier New"/>
                <a:sym typeface="Courier New"/>
              </a:rPr>
              <a:t>I3</a:t>
            </a:r>
            <a:endParaRPr sz="1100" b="1">
              <a:solidFill>
                <a:schemeClr val="dk1"/>
              </a:solidFill>
              <a:latin typeface="Calibri"/>
              <a:ea typeface="Calibri"/>
              <a:cs typeface="Calibri"/>
              <a:sym typeface="Calibri"/>
            </a:endParaRPr>
          </a:p>
        </p:txBody>
      </p:sp>
      <p:sp>
        <p:nvSpPr>
          <p:cNvPr id="401" name="Google Shape;401;p22"/>
          <p:cNvSpPr/>
          <p:nvPr/>
        </p:nvSpPr>
        <p:spPr>
          <a:xfrm>
            <a:off x="3340262" y="1993704"/>
            <a:ext cx="237600" cy="237600"/>
          </a:xfrm>
          <a:prstGeom prst="ellipse">
            <a:avLst/>
          </a:prstGeom>
          <a:solidFill>
            <a:srgbClr val="163F38"/>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2"/>
          <p:cNvSpPr/>
          <p:nvPr/>
        </p:nvSpPr>
        <p:spPr>
          <a:xfrm>
            <a:off x="3651158" y="1920552"/>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WELL COVERED</a:t>
            </a:r>
            <a:endParaRPr sz="1000">
              <a:solidFill>
                <a:schemeClr val="dk1"/>
              </a:solidFill>
              <a:latin typeface="Calibri"/>
              <a:ea typeface="Calibri"/>
              <a:cs typeface="Calibri"/>
              <a:sym typeface="Calibri"/>
            </a:endParaRPr>
          </a:p>
        </p:txBody>
      </p:sp>
      <p:sp>
        <p:nvSpPr>
          <p:cNvPr id="403" name="Google Shape;403;p22"/>
          <p:cNvSpPr/>
          <p:nvPr/>
        </p:nvSpPr>
        <p:spPr>
          <a:xfrm>
            <a:off x="3651158" y="2158296"/>
            <a:ext cx="15087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A89F"/>
              </a:buClr>
              <a:buSzPts val="900"/>
              <a:buFont typeface="Courier New"/>
              <a:buNone/>
            </a:pPr>
            <a:r>
              <a:rPr lang="de-DE" sz="900">
                <a:solidFill>
                  <a:srgbClr val="8FA89F"/>
                </a:solidFill>
                <a:latin typeface="Courier New"/>
                <a:ea typeface="Courier New"/>
                <a:cs typeface="Courier New"/>
                <a:sym typeface="Courier New"/>
              </a:rPr>
              <a:t>3 questions</a:t>
            </a:r>
            <a:endParaRPr sz="900">
              <a:solidFill>
                <a:schemeClr val="dk1"/>
              </a:solidFill>
              <a:latin typeface="Calibri"/>
              <a:ea typeface="Calibri"/>
              <a:cs typeface="Calibri"/>
              <a:sym typeface="Calibri"/>
            </a:endParaRPr>
          </a:p>
        </p:txBody>
      </p:sp>
      <p:sp>
        <p:nvSpPr>
          <p:cNvPr id="404" name="Google Shape;404;p22"/>
          <p:cNvSpPr/>
          <p:nvPr/>
        </p:nvSpPr>
        <p:spPr>
          <a:xfrm>
            <a:off x="4885000" y="1920552"/>
            <a:ext cx="1024200" cy="420600"/>
          </a:xfrm>
          <a:prstGeom prst="rect">
            <a:avLst/>
          </a:prstGeom>
          <a:solidFill>
            <a:srgbClr val="8FA89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2"/>
          <p:cNvSpPr/>
          <p:nvPr/>
        </p:nvSpPr>
        <p:spPr>
          <a:xfrm>
            <a:off x="6055432" y="1920552"/>
            <a:ext cx="1024200" cy="420600"/>
          </a:xfrm>
          <a:prstGeom prst="rect">
            <a:avLst/>
          </a:prstGeom>
          <a:solidFill>
            <a:srgbClr val="1F5B4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2"/>
          <p:cNvSpPr/>
          <p:nvPr/>
        </p:nvSpPr>
        <p:spPr>
          <a:xfrm>
            <a:off x="7225864" y="1920552"/>
            <a:ext cx="1024200" cy="420600"/>
          </a:xfrm>
          <a:prstGeom prst="rect">
            <a:avLst/>
          </a:prstGeom>
          <a:solidFill>
            <a:srgbClr val="1F5B4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2"/>
          <p:cNvSpPr/>
          <p:nvPr/>
        </p:nvSpPr>
        <p:spPr>
          <a:xfrm>
            <a:off x="3340262" y="2524056"/>
            <a:ext cx="237600" cy="237600"/>
          </a:xfrm>
          <a:prstGeom prst="ellipse">
            <a:avLst/>
          </a:prstGeom>
          <a:solidFill>
            <a:srgbClr val="365B53"/>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2"/>
          <p:cNvSpPr/>
          <p:nvPr/>
        </p:nvSpPr>
        <p:spPr>
          <a:xfrm>
            <a:off x="3651158" y="2450904"/>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PARTIAL MATCH</a:t>
            </a:r>
            <a:endParaRPr sz="1000">
              <a:solidFill>
                <a:schemeClr val="dk1"/>
              </a:solidFill>
              <a:latin typeface="Calibri"/>
              <a:ea typeface="Calibri"/>
              <a:cs typeface="Calibri"/>
              <a:sym typeface="Calibri"/>
            </a:endParaRPr>
          </a:p>
        </p:txBody>
      </p:sp>
      <p:sp>
        <p:nvSpPr>
          <p:cNvPr id="409" name="Google Shape;409;p22"/>
          <p:cNvSpPr/>
          <p:nvPr/>
        </p:nvSpPr>
        <p:spPr>
          <a:xfrm>
            <a:off x="3651158" y="2688648"/>
            <a:ext cx="15087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A89F"/>
              </a:buClr>
              <a:buSzPts val="900"/>
              <a:buFont typeface="Courier New"/>
              <a:buNone/>
            </a:pPr>
            <a:r>
              <a:rPr lang="de-DE" sz="900">
                <a:solidFill>
                  <a:srgbClr val="8FA89F"/>
                </a:solidFill>
                <a:latin typeface="Courier New"/>
                <a:ea typeface="Courier New"/>
                <a:cs typeface="Courier New"/>
                <a:sym typeface="Courier New"/>
              </a:rPr>
              <a:t>1 question</a:t>
            </a:r>
            <a:endParaRPr sz="900">
              <a:solidFill>
                <a:schemeClr val="dk1"/>
              </a:solidFill>
              <a:latin typeface="Calibri"/>
              <a:ea typeface="Calibri"/>
              <a:cs typeface="Calibri"/>
              <a:sym typeface="Calibri"/>
            </a:endParaRPr>
          </a:p>
        </p:txBody>
      </p:sp>
      <p:sp>
        <p:nvSpPr>
          <p:cNvPr id="410" name="Google Shape;410;p22"/>
          <p:cNvSpPr/>
          <p:nvPr/>
        </p:nvSpPr>
        <p:spPr>
          <a:xfrm>
            <a:off x="4885000" y="2450904"/>
            <a:ext cx="1024200" cy="420600"/>
          </a:xfrm>
          <a:prstGeom prst="rect">
            <a:avLst/>
          </a:prstGeom>
          <a:solidFill>
            <a:srgbClr val="D9DFDC"/>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2"/>
          <p:cNvSpPr/>
          <p:nvPr/>
        </p:nvSpPr>
        <p:spPr>
          <a:xfrm>
            <a:off x="6055432" y="2450904"/>
            <a:ext cx="1024200" cy="420600"/>
          </a:xfrm>
          <a:prstGeom prst="rect">
            <a:avLst/>
          </a:prstGeom>
          <a:solidFill>
            <a:srgbClr val="D9DFDC"/>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2"/>
          <p:cNvSpPr/>
          <p:nvPr/>
        </p:nvSpPr>
        <p:spPr>
          <a:xfrm>
            <a:off x="7225864" y="2450904"/>
            <a:ext cx="1024200" cy="420600"/>
          </a:xfrm>
          <a:prstGeom prst="rect">
            <a:avLst/>
          </a:prstGeom>
          <a:solidFill>
            <a:srgbClr val="8FA89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a:off x="3340262" y="3054408"/>
            <a:ext cx="237600" cy="237600"/>
          </a:xfrm>
          <a:prstGeom prst="ellipse">
            <a:avLst/>
          </a:prstGeom>
          <a:solidFill>
            <a:srgbClr val="5F756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2"/>
          <p:cNvSpPr/>
          <p:nvPr/>
        </p:nvSpPr>
        <p:spPr>
          <a:xfrm>
            <a:off x="3651158" y="2981256"/>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SPARSE</a:t>
            </a:r>
            <a:endParaRPr sz="1000">
              <a:solidFill>
                <a:schemeClr val="dk1"/>
              </a:solidFill>
              <a:latin typeface="Calibri"/>
              <a:ea typeface="Calibri"/>
              <a:cs typeface="Calibri"/>
              <a:sym typeface="Calibri"/>
            </a:endParaRPr>
          </a:p>
        </p:txBody>
      </p:sp>
      <p:sp>
        <p:nvSpPr>
          <p:cNvPr id="415" name="Google Shape;415;p22"/>
          <p:cNvSpPr/>
          <p:nvPr/>
        </p:nvSpPr>
        <p:spPr>
          <a:xfrm>
            <a:off x="3651158" y="3219000"/>
            <a:ext cx="15087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A89F"/>
              </a:buClr>
              <a:buSzPts val="900"/>
              <a:buFont typeface="Courier New"/>
              <a:buNone/>
            </a:pPr>
            <a:r>
              <a:rPr lang="de-DE" sz="900">
                <a:solidFill>
                  <a:srgbClr val="8FA89F"/>
                </a:solidFill>
                <a:latin typeface="Courier New"/>
                <a:ea typeface="Courier New"/>
                <a:cs typeface="Courier New"/>
                <a:sym typeface="Courier New"/>
              </a:rPr>
              <a:t>2 questions</a:t>
            </a:r>
            <a:endParaRPr sz="900">
              <a:solidFill>
                <a:schemeClr val="dk1"/>
              </a:solidFill>
              <a:latin typeface="Calibri"/>
              <a:ea typeface="Calibri"/>
              <a:cs typeface="Calibri"/>
              <a:sym typeface="Calibri"/>
            </a:endParaRPr>
          </a:p>
        </p:txBody>
      </p:sp>
      <p:sp>
        <p:nvSpPr>
          <p:cNvPr id="416" name="Google Shape;416;p22"/>
          <p:cNvSpPr/>
          <p:nvPr/>
        </p:nvSpPr>
        <p:spPr>
          <a:xfrm>
            <a:off x="4885000" y="2981256"/>
            <a:ext cx="1024200" cy="420600"/>
          </a:xfrm>
          <a:prstGeom prst="rect">
            <a:avLst/>
          </a:prstGeom>
          <a:solidFill>
            <a:srgbClr val="8FA89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2"/>
          <p:cNvSpPr/>
          <p:nvPr/>
        </p:nvSpPr>
        <p:spPr>
          <a:xfrm>
            <a:off x="6055432" y="2981256"/>
            <a:ext cx="1024200" cy="420600"/>
          </a:xfrm>
          <a:prstGeom prst="rect">
            <a:avLst/>
          </a:prstGeom>
          <a:solidFill>
            <a:srgbClr val="8FA89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2"/>
          <p:cNvSpPr/>
          <p:nvPr/>
        </p:nvSpPr>
        <p:spPr>
          <a:xfrm>
            <a:off x="7225864" y="2981256"/>
            <a:ext cx="1024200" cy="420600"/>
          </a:xfrm>
          <a:prstGeom prst="rect">
            <a:avLst/>
          </a:prstGeom>
          <a:solidFill>
            <a:srgbClr val="D9DFDC"/>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2"/>
          <p:cNvSpPr/>
          <p:nvPr/>
        </p:nvSpPr>
        <p:spPr>
          <a:xfrm>
            <a:off x="3340262" y="3584760"/>
            <a:ext cx="237600" cy="237600"/>
          </a:xfrm>
          <a:prstGeom prst="ellipse">
            <a:avLst/>
          </a:prstGeom>
          <a:solidFill>
            <a:srgbClr val="7F8F89"/>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2"/>
          <p:cNvSpPr/>
          <p:nvPr/>
        </p:nvSpPr>
        <p:spPr>
          <a:xfrm>
            <a:off x="3651158" y="3511608"/>
            <a:ext cx="1508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00"/>
              <a:buFont typeface="Courier New"/>
              <a:buNone/>
            </a:pPr>
            <a:r>
              <a:rPr lang="de-DE" sz="1000" b="1">
                <a:solidFill>
                  <a:srgbClr val="1F5B4F"/>
                </a:solidFill>
                <a:latin typeface="Courier New"/>
                <a:ea typeface="Courier New"/>
                <a:cs typeface="Courier New"/>
                <a:sym typeface="Courier New"/>
              </a:rPr>
              <a:t>OUTSIDE CORPUS</a:t>
            </a:r>
            <a:endParaRPr sz="1000">
              <a:solidFill>
                <a:schemeClr val="dk1"/>
              </a:solidFill>
              <a:latin typeface="Calibri"/>
              <a:ea typeface="Calibri"/>
              <a:cs typeface="Calibri"/>
              <a:sym typeface="Calibri"/>
            </a:endParaRPr>
          </a:p>
        </p:txBody>
      </p:sp>
      <p:sp>
        <p:nvSpPr>
          <p:cNvPr id="421" name="Google Shape;421;p22"/>
          <p:cNvSpPr/>
          <p:nvPr/>
        </p:nvSpPr>
        <p:spPr>
          <a:xfrm>
            <a:off x="3651158" y="3749352"/>
            <a:ext cx="15087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FA89F"/>
              </a:buClr>
              <a:buSzPts val="900"/>
              <a:buFont typeface="Courier New"/>
              <a:buNone/>
            </a:pPr>
            <a:r>
              <a:rPr lang="de-DE" sz="900">
                <a:solidFill>
                  <a:srgbClr val="8FA89F"/>
                </a:solidFill>
                <a:latin typeface="Courier New"/>
                <a:ea typeface="Courier New"/>
                <a:cs typeface="Courier New"/>
                <a:sym typeface="Courier New"/>
              </a:rPr>
              <a:t>2 questions</a:t>
            </a:r>
            <a:endParaRPr sz="900">
              <a:solidFill>
                <a:schemeClr val="dk1"/>
              </a:solidFill>
              <a:latin typeface="Calibri"/>
              <a:ea typeface="Calibri"/>
              <a:cs typeface="Calibri"/>
              <a:sym typeface="Calibri"/>
            </a:endParaRPr>
          </a:p>
        </p:txBody>
      </p:sp>
      <p:sp>
        <p:nvSpPr>
          <p:cNvPr id="422" name="Google Shape;422;p22"/>
          <p:cNvSpPr/>
          <p:nvPr/>
        </p:nvSpPr>
        <p:spPr>
          <a:xfrm>
            <a:off x="4885000" y="3511608"/>
            <a:ext cx="1024200" cy="420600"/>
          </a:xfrm>
          <a:prstGeom prst="rect">
            <a:avLst/>
          </a:prstGeom>
          <a:solidFill>
            <a:srgbClr val="D9DFDC"/>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2"/>
          <p:cNvSpPr/>
          <p:nvPr/>
        </p:nvSpPr>
        <p:spPr>
          <a:xfrm>
            <a:off x="6055432" y="3511608"/>
            <a:ext cx="1024200" cy="420600"/>
          </a:xfrm>
          <a:prstGeom prst="rect">
            <a:avLst/>
          </a:prstGeom>
          <a:solidFill>
            <a:srgbClr val="8FA89F"/>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2"/>
          <p:cNvSpPr/>
          <p:nvPr/>
        </p:nvSpPr>
        <p:spPr>
          <a:xfrm>
            <a:off x="7225864" y="3511608"/>
            <a:ext cx="1024200" cy="420600"/>
          </a:xfrm>
          <a:prstGeom prst="rect">
            <a:avLst/>
          </a:prstGeom>
          <a:solidFill>
            <a:srgbClr val="D9DFDC"/>
          </a:soli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2"/>
          <p:cNvSpPr/>
          <p:nvPr/>
        </p:nvSpPr>
        <p:spPr>
          <a:xfrm>
            <a:off x="2372018" y="4114800"/>
            <a:ext cx="4152000" cy="585300"/>
          </a:xfrm>
          <a:prstGeom prst="rect">
            <a:avLst/>
          </a:prstGeom>
          <a:solidFill>
            <a:srgbClr val="1F5B4F">
              <a:alpha val="9019"/>
            </a:srgbClr>
          </a:solidFill>
          <a:ln w="19050" cap="flat" cmpd="sng">
            <a:solidFill>
              <a:srgbClr val="1F5B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2"/>
          <p:cNvSpPr/>
          <p:nvPr/>
        </p:nvSpPr>
        <p:spPr>
          <a:xfrm>
            <a:off x="2509189" y="4114800"/>
            <a:ext cx="3960900" cy="585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5B4F"/>
              </a:buClr>
              <a:buSzPts val="1050"/>
              <a:buFont typeface="Courier New"/>
              <a:buNone/>
            </a:pPr>
            <a:r>
              <a:rPr lang="de-DE" sz="1050">
                <a:solidFill>
                  <a:srgbClr val="1F5B4F"/>
                </a:solidFill>
                <a:latin typeface="Georgia"/>
                <a:ea typeface="Georgia"/>
                <a:cs typeface="Georgia"/>
                <a:sym typeface="Georgia"/>
              </a:rPr>
              <a:t>I3 is superior </a:t>
            </a:r>
            <a:r>
              <a:rPr lang="de-DE" sz="1050" b="1" i="1">
                <a:solidFill>
                  <a:srgbClr val="1F5B4F"/>
                </a:solidFill>
                <a:latin typeface="Georgia"/>
                <a:ea typeface="Georgia"/>
                <a:cs typeface="Georgia"/>
                <a:sym typeface="Georgia"/>
              </a:rPr>
              <a:t>only in WELL COVERED </a:t>
            </a:r>
            <a:r>
              <a:rPr lang="de-DE" sz="1050">
                <a:solidFill>
                  <a:srgbClr val="1F5B4F"/>
                </a:solidFill>
                <a:latin typeface="Georgia"/>
                <a:ea typeface="Georgia"/>
                <a:cs typeface="Georgia"/>
                <a:sym typeface="Georgia"/>
              </a:rPr>
              <a:t>zones.  </a:t>
            </a:r>
            <a:br>
              <a:rPr lang="de-DE" sz="1050">
                <a:solidFill>
                  <a:srgbClr val="1F5B4F"/>
                </a:solidFill>
                <a:latin typeface="Georgia"/>
                <a:ea typeface="Georgia"/>
                <a:cs typeface="Georgia"/>
                <a:sym typeface="Georgia"/>
              </a:rPr>
            </a:br>
            <a:r>
              <a:rPr lang="de-DE" sz="1050">
                <a:solidFill>
                  <a:srgbClr val="1F5B4F"/>
                </a:solidFill>
                <a:latin typeface="Georgia"/>
                <a:ea typeface="Georgia"/>
                <a:cs typeface="Georgia"/>
                <a:sym typeface="Georgia"/>
              </a:rPr>
              <a:t>In SPARSE or OUTSIDE CORPUS, </a:t>
            </a:r>
            <a:r>
              <a:rPr lang="de-DE" sz="1050" b="1" i="1">
                <a:solidFill>
                  <a:srgbClr val="1F5B4F"/>
                </a:solidFill>
                <a:latin typeface="Georgia"/>
                <a:ea typeface="Georgia"/>
                <a:cs typeface="Georgia"/>
                <a:sym typeface="Georgia"/>
              </a:rPr>
              <a:t>I3 drops below I1 </a:t>
            </a:r>
            <a:r>
              <a:rPr lang="de-DE" sz="1050">
                <a:solidFill>
                  <a:srgbClr val="1F5B4F"/>
                </a:solidFill>
                <a:latin typeface="Georgia"/>
                <a:ea typeface="Georgia"/>
                <a:cs typeface="Georgia"/>
                <a:sym typeface="Georgia"/>
              </a:rPr>
              <a:t>baseline.</a:t>
            </a:r>
            <a:endParaRPr sz="1050">
              <a:solidFill>
                <a:schemeClr val="dk1"/>
              </a:solidFill>
              <a:latin typeface="Georgia"/>
              <a:ea typeface="Georgia"/>
              <a:cs typeface="Georgia"/>
              <a:sym typeface="Georgia"/>
            </a:endParaRPr>
          </a:p>
        </p:txBody>
      </p:sp>
      <p:sp>
        <p:nvSpPr>
          <p:cNvPr id="427" name="Google Shape;427;p22"/>
          <p:cNvSpPr/>
          <p:nvPr/>
        </p:nvSpPr>
        <p:spPr>
          <a:xfrm>
            <a:off x="0" y="4732020"/>
            <a:ext cx="9144000" cy="411480"/>
          </a:xfrm>
          <a:prstGeom prst="rect">
            <a:avLst/>
          </a:prstGeom>
          <a:solidFill>
            <a:srgbClr val="1F5B4F"/>
          </a:solidFill>
          <a:ln w="12700" cap="flat" cmpd="sng">
            <a:solidFill>
              <a:srgbClr val="1F5B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2"/>
          <p:cNvSpPr/>
          <p:nvPr/>
        </p:nvSpPr>
        <p:spPr>
          <a:xfrm>
            <a:off x="457200" y="4736592"/>
            <a:ext cx="82296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ourier New"/>
              <a:buNone/>
            </a:pPr>
            <a:r>
              <a:rPr lang="de-DE" sz="1100">
                <a:solidFill>
                  <a:srgbClr val="FFFFFF"/>
                </a:solidFill>
                <a:latin typeface="Courier New"/>
                <a:ea typeface="Courier New"/>
                <a:cs typeface="Courier New"/>
                <a:sym typeface="Courier New"/>
              </a:rPr>
              <a:t>What matters most: whether your corpus contains the answer — not which model you use.</a:t>
            </a:r>
            <a:endParaRPr sz="1100">
              <a:solidFill>
                <a:schemeClr val="dk1"/>
              </a:solidFill>
              <a:latin typeface="Calibri"/>
              <a:ea typeface="Calibri"/>
              <a:cs typeface="Calibri"/>
              <a:sym typeface="Calibri"/>
            </a:endParaRPr>
          </a:p>
        </p:txBody>
      </p:sp>
      <p:sp>
        <p:nvSpPr>
          <p:cNvPr id="429" name="Google Shape;429;p22"/>
          <p:cNvSpPr/>
          <p:nvPr/>
        </p:nvSpPr>
        <p:spPr>
          <a:xfrm>
            <a:off x="8305454" y="1931365"/>
            <a:ext cx="162300" cy="1984200"/>
          </a:xfrm>
          <a:prstGeom prst="rect">
            <a:avLst/>
          </a:prstGeom>
          <a:gradFill>
            <a:gsLst>
              <a:gs pos="0">
                <a:srgbClr val="1F5B4F"/>
              </a:gs>
              <a:gs pos="100000">
                <a:srgbClr val="FAFAF7"/>
              </a:gs>
            </a:gsLst>
            <a:lin ang="3000000" scaled="0"/>
          </a:gradFill>
          <a:ln w="19050" cap="flat" cmpd="sng">
            <a:solidFill>
              <a:srgbClr val="F7F4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2"/>
          <p:cNvSpPr txBox="1"/>
          <p:nvPr/>
        </p:nvSpPr>
        <p:spPr>
          <a:xfrm>
            <a:off x="8407471" y="1887542"/>
            <a:ext cx="609600" cy="23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950">
                <a:solidFill>
                  <a:schemeClr val="dk1"/>
                </a:solidFill>
                <a:latin typeface="Georgia"/>
                <a:ea typeface="Georgia"/>
                <a:cs typeface="Georgia"/>
                <a:sym typeface="Georgia"/>
              </a:rPr>
              <a:t>5 - best</a:t>
            </a:r>
            <a:endParaRPr sz="950">
              <a:solidFill>
                <a:schemeClr val="dk1"/>
              </a:solidFill>
              <a:latin typeface="Georgia"/>
              <a:ea typeface="Georgia"/>
              <a:cs typeface="Georgia"/>
              <a:sym typeface="Georgia"/>
            </a:endParaRPr>
          </a:p>
        </p:txBody>
      </p:sp>
      <p:sp>
        <p:nvSpPr>
          <p:cNvPr id="431" name="Google Shape;431;p22"/>
          <p:cNvSpPr txBox="1"/>
          <p:nvPr/>
        </p:nvSpPr>
        <p:spPr>
          <a:xfrm>
            <a:off x="8407471" y="3696330"/>
            <a:ext cx="667200" cy="238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950">
                <a:solidFill>
                  <a:schemeClr val="dk1"/>
                </a:solidFill>
                <a:latin typeface="Georgia"/>
                <a:ea typeface="Georgia"/>
                <a:cs typeface="Georgia"/>
                <a:sym typeface="Georgia"/>
              </a:rPr>
              <a:t>1 - worst</a:t>
            </a:r>
            <a:endParaRPr sz="950">
              <a:solidFill>
                <a:schemeClr val="dk1"/>
              </a:solidFill>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436"/>
        <p:cNvGrpSpPr/>
        <p:nvPr/>
      </p:nvGrpSpPr>
      <p:grpSpPr>
        <a:xfrm>
          <a:off x="0" y="0"/>
          <a:ext cx="0" cy="0"/>
          <a:chOff x="0" y="0"/>
          <a:chExt cx="0" cy="0"/>
        </a:xfrm>
      </p:grpSpPr>
      <p:sp>
        <p:nvSpPr>
          <p:cNvPr id="437" name="Google Shape;437;p25"/>
          <p:cNvSpPr/>
          <p:nvPr/>
        </p:nvSpPr>
        <p:spPr>
          <a:xfrm>
            <a:off x="7315200" y="228600"/>
            <a:ext cx="1325880" cy="274320"/>
          </a:xfrm>
          <a:prstGeom prst="roundRect">
            <a:avLst>
              <a:gd name="adj" fmla="val 26667"/>
            </a:avLst>
          </a:prstGeom>
          <a:solidFill>
            <a:srgbClr val="E05A2B"/>
          </a:solidFill>
          <a:ln w="12700" cap="flat" cmpd="sng">
            <a:solidFill>
              <a:srgbClr val="E05A2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25"/>
          <p:cNvSpPr/>
          <p:nvPr/>
        </p:nvSpPr>
        <p:spPr>
          <a:xfrm>
            <a:off x="7315200" y="228600"/>
            <a:ext cx="132588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00"/>
              <a:buFont typeface="Courier New"/>
              <a:buNone/>
            </a:pPr>
            <a:r>
              <a:rPr lang="de-DE" sz="900" b="0" i="0" u="none" strike="noStrike" cap="none">
                <a:solidFill>
                  <a:srgbClr val="FFFFFF"/>
                </a:solidFill>
                <a:latin typeface="Courier New"/>
                <a:ea typeface="Courier New"/>
                <a:cs typeface="Courier New"/>
                <a:sym typeface="Courier New"/>
              </a:rPr>
              <a:t>● DEMO</a:t>
            </a:r>
            <a:endParaRPr sz="900" b="0" i="0" u="none" strike="noStrike" cap="none">
              <a:solidFill>
                <a:srgbClr val="000000"/>
              </a:solidFill>
              <a:latin typeface="Calibri"/>
              <a:ea typeface="Calibri"/>
              <a:cs typeface="Calibri"/>
              <a:sym typeface="Calibri"/>
            </a:endParaRPr>
          </a:p>
        </p:txBody>
      </p:sp>
      <p:sp>
        <p:nvSpPr>
          <p:cNvPr id="439" name="Google Shape;439;p25"/>
          <p:cNvSpPr/>
          <p:nvPr/>
        </p:nvSpPr>
        <p:spPr>
          <a:xfrm>
            <a:off x="411480" y="1468118"/>
            <a:ext cx="7132320" cy="347472"/>
          </a:xfrm>
          <a:prstGeom prst="rect">
            <a:avLst/>
          </a:prstGeom>
          <a:solidFill>
            <a:srgbClr val="FFFFFF">
              <a:alpha val="3921"/>
            </a:srgbClr>
          </a:solidFill>
          <a:ln w="9525" cap="flat" cmpd="sng">
            <a:solidFill>
              <a:srgbClr val="FFFFFF">
                <a:alpha val="2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25"/>
          <p:cNvSpPr/>
          <p:nvPr/>
        </p:nvSpPr>
        <p:spPr>
          <a:xfrm>
            <a:off x="457190" y="1513767"/>
            <a:ext cx="6858000" cy="34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Arial"/>
              <a:buNone/>
            </a:pPr>
            <a:r>
              <a:rPr lang="de-DE" sz="1100" i="1">
                <a:solidFill>
                  <a:srgbClr val="BBBBBB"/>
                </a:solidFill>
                <a:latin typeface="Calibri"/>
                <a:ea typeface="Calibri"/>
                <a:cs typeface="Calibri"/>
                <a:sym typeface="Calibri"/>
              </a:rPr>
              <a:t>Your query …</a:t>
            </a:r>
            <a:endParaRPr sz="1100" i="1">
              <a:solidFill>
                <a:srgbClr val="BBBBBB"/>
              </a:solidFill>
              <a:latin typeface="Calibri"/>
              <a:ea typeface="Calibri"/>
              <a:cs typeface="Calibri"/>
              <a:sym typeface="Calibri"/>
            </a:endParaRPr>
          </a:p>
        </p:txBody>
      </p:sp>
      <p:sp>
        <p:nvSpPr>
          <p:cNvPr id="441" name="Google Shape;441;p25"/>
          <p:cNvSpPr/>
          <p:nvPr/>
        </p:nvSpPr>
        <p:spPr>
          <a:xfrm>
            <a:off x="411480" y="1961894"/>
            <a:ext cx="8275320" cy="2536954"/>
          </a:xfrm>
          <a:prstGeom prst="rect">
            <a:avLst/>
          </a:prstGeom>
          <a:solidFill>
            <a:srgbClr val="FFFFFF">
              <a:alpha val="1960"/>
            </a:srgbClr>
          </a:solidFill>
          <a:ln w="9525" cap="flat" cmpd="sng">
            <a:solidFill>
              <a:srgbClr val="FFFFFF">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5"/>
          <p:cNvSpPr/>
          <p:nvPr/>
        </p:nvSpPr>
        <p:spPr>
          <a:xfrm>
            <a:off x="411480" y="2058659"/>
            <a:ext cx="8275200" cy="210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sz="1100">
                <a:solidFill>
                  <a:srgbClr val="BBBBBB"/>
                </a:solidFill>
                <a:latin typeface="Calibri"/>
                <a:ea typeface="Calibri"/>
                <a:cs typeface="Calibri"/>
                <a:sym typeface="Calibri"/>
              </a:rPr>
              <a:t>Assistant’s answer …</a:t>
            </a:r>
            <a:endParaRPr sz="1100">
              <a:solidFill>
                <a:srgbClr val="BBBBBB"/>
              </a:solidFill>
              <a:latin typeface="Calibri"/>
              <a:ea typeface="Calibri"/>
              <a:cs typeface="Calibri"/>
              <a:sym typeface="Calibri"/>
            </a:endParaRPr>
          </a:p>
        </p:txBody>
      </p:sp>
      <p:sp>
        <p:nvSpPr>
          <p:cNvPr id="443" name="Google Shape;443;p25"/>
          <p:cNvSpPr/>
          <p:nvPr/>
        </p:nvSpPr>
        <p:spPr>
          <a:xfrm>
            <a:off x="7315200" y="523375"/>
            <a:ext cx="14829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BBBBB"/>
              </a:buClr>
              <a:buSzPts val="1000"/>
              <a:buFont typeface="Georgia"/>
              <a:buNone/>
            </a:pPr>
            <a:r>
              <a:rPr lang="de-DE" sz="900" b="0" i="1" u="none" strike="noStrike" cap="none">
                <a:solidFill>
                  <a:srgbClr val="BBBBBB"/>
                </a:solidFill>
                <a:latin typeface="Georgia"/>
                <a:ea typeface="Georgia"/>
                <a:cs typeface="Georgia"/>
                <a:sym typeface="Georgia"/>
              </a:rPr>
              <a:t>Demo mimics a live run.</a:t>
            </a:r>
            <a:endParaRPr sz="900" b="0" i="0" u="none" strike="noStrike" cap="none">
              <a:solidFill>
                <a:srgbClr val="000000"/>
              </a:solidFill>
              <a:latin typeface="Calibri"/>
              <a:ea typeface="Calibri"/>
              <a:cs typeface="Calibri"/>
              <a:sym typeface="Calibri"/>
            </a:endParaRPr>
          </a:p>
        </p:txBody>
      </p:sp>
      <p:sp>
        <p:nvSpPr>
          <p:cNvPr id="444" name="Google Shape;444;p25"/>
          <p:cNvSpPr/>
          <p:nvPr/>
        </p:nvSpPr>
        <p:spPr>
          <a:xfrm>
            <a:off x="7662672" y="1474792"/>
            <a:ext cx="1024200" cy="347400"/>
          </a:xfrm>
          <a:prstGeom prst="rect">
            <a:avLst/>
          </a:prstGeom>
          <a:solidFill>
            <a:srgbClr val="0A7C6E"/>
          </a:solidFill>
          <a:ln w="12700" cap="flat" cmpd="sng">
            <a:solidFill>
              <a:srgbClr val="0A7C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5"/>
          <p:cNvSpPr/>
          <p:nvPr/>
        </p:nvSpPr>
        <p:spPr>
          <a:xfrm>
            <a:off x="7662672" y="1468118"/>
            <a:ext cx="1024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ourier New"/>
              <a:buNone/>
            </a:pPr>
            <a:r>
              <a:rPr lang="de-DE" sz="1150" i="0" u="none" strike="noStrike" cap="none">
                <a:solidFill>
                  <a:srgbClr val="FFFFFF"/>
                </a:solidFill>
                <a:latin typeface="Roboto"/>
                <a:ea typeface="Roboto"/>
                <a:cs typeface="Roboto"/>
                <a:sym typeface="Roboto"/>
              </a:rPr>
              <a:t>→ Ask</a:t>
            </a:r>
            <a:endParaRPr sz="1150" i="0" u="none" strike="noStrike" cap="none">
              <a:solidFill>
                <a:srgbClr val="000000"/>
              </a:solidFill>
              <a:latin typeface="Roboto"/>
              <a:ea typeface="Roboto"/>
              <a:cs typeface="Roboto"/>
              <a:sym typeface="Roboto"/>
            </a:endParaRPr>
          </a:p>
        </p:txBody>
      </p:sp>
      <p:sp>
        <p:nvSpPr>
          <p:cNvPr id="446" name="Google Shape;446;p25"/>
          <p:cNvSpPr/>
          <p:nvPr/>
        </p:nvSpPr>
        <p:spPr>
          <a:xfrm>
            <a:off x="367565" y="256032"/>
            <a:ext cx="64008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Font typeface="Arial"/>
              <a:buNone/>
            </a:pPr>
            <a:r>
              <a:rPr lang="de-DE" sz="1600" b="1">
                <a:solidFill>
                  <a:srgbClr val="0A7C6E"/>
                </a:solidFill>
                <a:latin typeface="Courier New"/>
                <a:ea typeface="Courier New"/>
                <a:cs typeface="Courier New"/>
                <a:sym typeface="Courier New"/>
              </a:rPr>
              <a:t>PMC RESEARCH ASSISTANT</a:t>
            </a:r>
            <a:endParaRPr sz="1600" b="1">
              <a:solidFill>
                <a:srgbClr val="0A7C6E"/>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451"/>
        <p:cNvGrpSpPr/>
        <p:nvPr/>
      </p:nvGrpSpPr>
      <p:grpSpPr>
        <a:xfrm>
          <a:off x="0" y="0"/>
          <a:ext cx="0" cy="0"/>
          <a:chOff x="0" y="0"/>
          <a:chExt cx="0" cy="0"/>
        </a:xfrm>
      </p:grpSpPr>
      <p:sp>
        <p:nvSpPr>
          <p:cNvPr id="452" name="Google Shape;452;g3d27537c611_0_103"/>
          <p:cNvSpPr/>
          <p:nvPr/>
        </p:nvSpPr>
        <p:spPr>
          <a:xfrm>
            <a:off x="7315200" y="228600"/>
            <a:ext cx="1326000" cy="274200"/>
          </a:xfrm>
          <a:prstGeom prst="roundRect">
            <a:avLst>
              <a:gd name="adj" fmla="val 26667"/>
            </a:avLst>
          </a:prstGeom>
          <a:solidFill>
            <a:srgbClr val="E05A2B"/>
          </a:solidFill>
          <a:ln w="12700" cap="flat" cmpd="sng">
            <a:solidFill>
              <a:srgbClr val="E05A2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3" name="Google Shape;453;g3d27537c611_0_103"/>
          <p:cNvSpPr/>
          <p:nvPr/>
        </p:nvSpPr>
        <p:spPr>
          <a:xfrm>
            <a:off x="7315200" y="228600"/>
            <a:ext cx="1326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00"/>
              <a:buFont typeface="Courier New"/>
              <a:buNone/>
            </a:pPr>
            <a:r>
              <a:rPr lang="de-DE" sz="900" b="0" i="0" u="none" strike="noStrike" cap="none">
                <a:solidFill>
                  <a:srgbClr val="FFFFFF"/>
                </a:solidFill>
                <a:latin typeface="Courier New"/>
                <a:ea typeface="Courier New"/>
                <a:cs typeface="Courier New"/>
                <a:sym typeface="Courier New"/>
              </a:rPr>
              <a:t>● DEMO</a:t>
            </a:r>
            <a:endParaRPr sz="900" b="0" i="0" u="none" strike="noStrike" cap="none">
              <a:solidFill>
                <a:srgbClr val="000000"/>
              </a:solidFill>
              <a:latin typeface="Calibri"/>
              <a:ea typeface="Calibri"/>
              <a:cs typeface="Calibri"/>
              <a:sym typeface="Calibri"/>
            </a:endParaRPr>
          </a:p>
        </p:txBody>
      </p:sp>
      <p:sp>
        <p:nvSpPr>
          <p:cNvPr id="454" name="Google Shape;454;g3d27537c611_0_103"/>
          <p:cNvSpPr/>
          <p:nvPr/>
        </p:nvSpPr>
        <p:spPr>
          <a:xfrm>
            <a:off x="411480" y="1468118"/>
            <a:ext cx="7132200" cy="347400"/>
          </a:xfrm>
          <a:prstGeom prst="rect">
            <a:avLst/>
          </a:prstGeom>
          <a:solidFill>
            <a:srgbClr val="FFFFFF">
              <a:alpha val="3920"/>
            </a:srgbClr>
          </a:solidFill>
          <a:ln w="9525" cap="flat" cmpd="sng">
            <a:solidFill>
              <a:srgbClr val="FFFFFF">
                <a:alpha val="2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g3d27537c611_0_103"/>
          <p:cNvSpPr/>
          <p:nvPr/>
        </p:nvSpPr>
        <p:spPr>
          <a:xfrm>
            <a:off x="457190" y="1513767"/>
            <a:ext cx="6858000" cy="347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1000"/>
              <a:buFont typeface="Calibri"/>
              <a:buNone/>
            </a:pPr>
            <a:r>
              <a:rPr lang="de-DE" sz="1100" i="1">
                <a:solidFill>
                  <a:schemeClr val="lt1"/>
                </a:solidFill>
                <a:latin typeface="Calibri"/>
                <a:ea typeface="Calibri"/>
                <a:cs typeface="Calibri"/>
                <a:sym typeface="Calibri"/>
              </a:rPr>
              <a:t>Why do some patients with non-small cell lung cancer stop responding to checkpoint inhibitors?</a:t>
            </a:r>
            <a:endParaRPr sz="1100" i="1">
              <a:solidFill>
                <a:srgbClr val="BBBBBB"/>
              </a:solidFill>
              <a:latin typeface="Calibri"/>
              <a:ea typeface="Calibri"/>
              <a:cs typeface="Calibri"/>
              <a:sym typeface="Calibri"/>
            </a:endParaRPr>
          </a:p>
        </p:txBody>
      </p:sp>
      <p:sp>
        <p:nvSpPr>
          <p:cNvPr id="456" name="Google Shape;456;g3d27537c611_0_103"/>
          <p:cNvSpPr/>
          <p:nvPr/>
        </p:nvSpPr>
        <p:spPr>
          <a:xfrm>
            <a:off x="411480" y="1961894"/>
            <a:ext cx="8275200" cy="2537100"/>
          </a:xfrm>
          <a:prstGeom prst="rect">
            <a:avLst/>
          </a:prstGeom>
          <a:solidFill>
            <a:srgbClr val="FFFFFF">
              <a:alpha val="1960"/>
            </a:srgbClr>
          </a:solidFill>
          <a:ln w="9525" cap="flat" cmpd="sng">
            <a:solidFill>
              <a:srgbClr val="FFFFFF">
                <a:alpha val="1216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g3d27537c611_0_103"/>
          <p:cNvSpPr/>
          <p:nvPr/>
        </p:nvSpPr>
        <p:spPr>
          <a:xfrm>
            <a:off x="411480" y="2058659"/>
            <a:ext cx="8275200" cy="210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sz="1100">
                <a:solidFill>
                  <a:srgbClr val="BBBBBB"/>
                </a:solidFill>
                <a:latin typeface="Calibri"/>
                <a:ea typeface="Calibri"/>
                <a:cs typeface="Calibri"/>
                <a:sym typeface="Calibri"/>
              </a:rPr>
              <a:t>Your answer …</a:t>
            </a:r>
            <a:endParaRPr sz="1100">
              <a:solidFill>
                <a:srgbClr val="BBBBBB"/>
              </a:solidFill>
              <a:latin typeface="Calibri"/>
              <a:ea typeface="Calibri"/>
              <a:cs typeface="Calibri"/>
              <a:sym typeface="Calibri"/>
            </a:endParaRPr>
          </a:p>
        </p:txBody>
      </p:sp>
      <p:sp>
        <p:nvSpPr>
          <p:cNvPr id="458" name="Google Shape;458;g3d27537c611_0_103"/>
          <p:cNvSpPr/>
          <p:nvPr/>
        </p:nvSpPr>
        <p:spPr>
          <a:xfrm>
            <a:off x="7315200" y="523375"/>
            <a:ext cx="14829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BBBBB"/>
              </a:buClr>
              <a:buSzPts val="1000"/>
              <a:buFont typeface="Georgia"/>
              <a:buNone/>
            </a:pPr>
            <a:r>
              <a:rPr lang="de-DE" sz="900" b="0" i="1" u="none" strike="noStrike" cap="none">
                <a:solidFill>
                  <a:srgbClr val="BBBBBB"/>
                </a:solidFill>
                <a:latin typeface="Georgia"/>
                <a:ea typeface="Georgia"/>
                <a:cs typeface="Georgia"/>
                <a:sym typeface="Georgia"/>
              </a:rPr>
              <a:t>Demo mimics a live run.</a:t>
            </a:r>
            <a:endParaRPr sz="900" b="0" i="0" u="none" strike="noStrike" cap="none">
              <a:solidFill>
                <a:srgbClr val="000000"/>
              </a:solidFill>
              <a:latin typeface="Calibri"/>
              <a:ea typeface="Calibri"/>
              <a:cs typeface="Calibri"/>
              <a:sym typeface="Calibri"/>
            </a:endParaRPr>
          </a:p>
        </p:txBody>
      </p:sp>
      <p:sp>
        <p:nvSpPr>
          <p:cNvPr id="459" name="Google Shape;459;g3d27537c611_0_103"/>
          <p:cNvSpPr/>
          <p:nvPr/>
        </p:nvSpPr>
        <p:spPr>
          <a:xfrm>
            <a:off x="7662672" y="1474792"/>
            <a:ext cx="1024200" cy="347400"/>
          </a:xfrm>
          <a:prstGeom prst="rect">
            <a:avLst/>
          </a:prstGeom>
          <a:solidFill>
            <a:srgbClr val="0A7C6E"/>
          </a:solidFill>
          <a:ln w="12700" cap="flat" cmpd="sng">
            <a:solidFill>
              <a:srgbClr val="0A7C6E"/>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g3d27537c611_0_103"/>
          <p:cNvSpPr/>
          <p:nvPr/>
        </p:nvSpPr>
        <p:spPr>
          <a:xfrm>
            <a:off x="7662672" y="1468118"/>
            <a:ext cx="1024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ourier New"/>
              <a:buNone/>
            </a:pPr>
            <a:r>
              <a:rPr lang="de-DE" sz="1150" i="0" u="none" strike="noStrike" cap="none">
                <a:solidFill>
                  <a:srgbClr val="FFFFFF"/>
                </a:solidFill>
                <a:latin typeface="Roboto"/>
                <a:ea typeface="Roboto"/>
                <a:cs typeface="Roboto"/>
                <a:sym typeface="Roboto"/>
              </a:rPr>
              <a:t>→ Ask</a:t>
            </a:r>
            <a:endParaRPr sz="1150" i="0" u="none" strike="noStrike" cap="none">
              <a:solidFill>
                <a:srgbClr val="000000"/>
              </a:solidFill>
              <a:latin typeface="Roboto"/>
              <a:ea typeface="Roboto"/>
              <a:cs typeface="Roboto"/>
              <a:sym typeface="Roboto"/>
            </a:endParaRPr>
          </a:p>
        </p:txBody>
      </p:sp>
      <p:sp>
        <p:nvSpPr>
          <p:cNvPr id="461" name="Google Shape;461;g3d27537c611_0_103"/>
          <p:cNvSpPr/>
          <p:nvPr/>
        </p:nvSpPr>
        <p:spPr>
          <a:xfrm>
            <a:off x="367565" y="256032"/>
            <a:ext cx="64008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Font typeface="Arial"/>
              <a:buNone/>
            </a:pPr>
            <a:r>
              <a:rPr lang="de-DE" sz="1600" b="1">
                <a:solidFill>
                  <a:srgbClr val="0A7C6E"/>
                </a:solidFill>
                <a:latin typeface="Courier New"/>
                <a:ea typeface="Courier New"/>
                <a:cs typeface="Courier New"/>
                <a:sym typeface="Courier New"/>
              </a:rPr>
              <a:t>PMC RESEARCH ASSISTANT</a:t>
            </a:r>
            <a:endParaRPr sz="1600" b="1">
              <a:solidFill>
                <a:srgbClr val="0A7C6E"/>
              </a:solidFill>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466"/>
        <p:cNvGrpSpPr/>
        <p:nvPr/>
      </p:nvGrpSpPr>
      <p:grpSpPr>
        <a:xfrm>
          <a:off x="0" y="0"/>
          <a:ext cx="0" cy="0"/>
          <a:chOff x="0" y="0"/>
          <a:chExt cx="0" cy="0"/>
        </a:xfrm>
      </p:grpSpPr>
      <p:sp>
        <p:nvSpPr>
          <p:cNvPr id="467" name="Google Shape;467;g3d27537c611_0_119"/>
          <p:cNvSpPr/>
          <p:nvPr/>
        </p:nvSpPr>
        <p:spPr>
          <a:xfrm>
            <a:off x="367565" y="256032"/>
            <a:ext cx="64008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Font typeface="Arial"/>
              <a:buNone/>
            </a:pPr>
            <a:r>
              <a:rPr lang="de-DE" sz="1600" b="1">
                <a:solidFill>
                  <a:srgbClr val="0A7C6E"/>
                </a:solidFill>
                <a:latin typeface="Courier New"/>
                <a:ea typeface="Courier New"/>
                <a:cs typeface="Courier New"/>
                <a:sym typeface="Courier New"/>
              </a:rPr>
              <a:t>PMC RESEARCH ASSISTANT</a:t>
            </a:r>
            <a:endParaRPr sz="1600" b="1">
              <a:solidFill>
                <a:srgbClr val="0A7C6E"/>
              </a:solidFill>
              <a:latin typeface="Courier New"/>
              <a:ea typeface="Courier New"/>
              <a:cs typeface="Courier New"/>
              <a:sym typeface="Courier New"/>
            </a:endParaRPr>
          </a:p>
        </p:txBody>
      </p:sp>
      <p:sp>
        <p:nvSpPr>
          <p:cNvPr id="468" name="Google Shape;468;g3d27537c611_0_119"/>
          <p:cNvSpPr/>
          <p:nvPr/>
        </p:nvSpPr>
        <p:spPr>
          <a:xfrm>
            <a:off x="7315200" y="228600"/>
            <a:ext cx="1326000" cy="274200"/>
          </a:xfrm>
          <a:prstGeom prst="roundRect">
            <a:avLst>
              <a:gd name="adj" fmla="val 26667"/>
            </a:avLst>
          </a:prstGeom>
          <a:solidFill>
            <a:srgbClr val="E05A2B"/>
          </a:solidFill>
          <a:ln w="12700" cap="flat" cmpd="sng">
            <a:solidFill>
              <a:srgbClr val="E05A2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9" name="Google Shape;469;g3d27537c611_0_119"/>
          <p:cNvSpPr/>
          <p:nvPr/>
        </p:nvSpPr>
        <p:spPr>
          <a:xfrm>
            <a:off x="7315200" y="228600"/>
            <a:ext cx="1326000" cy="274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00"/>
              <a:buFont typeface="Courier New"/>
              <a:buNone/>
            </a:pPr>
            <a:r>
              <a:rPr lang="de-DE" sz="900" b="0" i="0" u="none" strike="noStrike" cap="none">
                <a:solidFill>
                  <a:srgbClr val="FFFFFF"/>
                </a:solidFill>
                <a:latin typeface="Courier New"/>
                <a:ea typeface="Courier New"/>
                <a:cs typeface="Courier New"/>
                <a:sym typeface="Courier New"/>
              </a:rPr>
              <a:t>● </a:t>
            </a:r>
            <a:r>
              <a:rPr lang="de-DE" sz="1000" i="0" u="none" strike="noStrike" cap="none">
                <a:solidFill>
                  <a:srgbClr val="FFFFFF"/>
                </a:solidFill>
                <a:latin typeface="Courier New"/>
                <a:ea typeface="Courier New"/>
                <a:cs typeface="Courier New"/>
                <a:sym typeface="Courier New"/>
              </a:rPr>
              <a:t>DEMO</a:t>
            </a:r>
            <a:endParaRPr sz="1000" i="0" u="none" strike="noStrike" cap="none">
              <a:solidFill>
                <a:srgbClr val="000000"/>
              </a:solidFill>
              <a:latin typeface="Calibri"/>
              <a:ea typeface="Calibri"/>
              <a:cs typeface="Calibri"/>
              <a:sym typeface="Calibri"/>
            </a:endParaRPr>
          </a:p>
        </p:txBody>
      </p:sp>
      <p:sp>
        <p:nvSpPr>
          <p:cNvPr id="470" name="Google Shape;470;g3d27537c611_0_119"/>
          <p:cNvSpPr/>
          <p:nvPr/>
        </p:nvSpPr>
        <p:spPr>
          <a:xfrm>
            <a:off x="411480" y="1468118"/>
            <a:ext cx="7132200" cy="347400"/>
          </a:xfrm>
          <a:prstGeom prst="rect">
            <a:avLst/>
          </a:prstGeom>
          <a:solidFill>
            <a:srgbClr val="FFFFFF">
              <a:alpha val="3920"/>
            </a:srgbClr>
          </a:solidFill>
          <a:ln w="9525" cap="flat" cmpd="sng">
            <a:solidFill>
              <a:srgbClr val="FFFFFF">
                <a:alpha val="20000"/>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g3d27537c611_0_119"/>
          <p:cNvSpPr/>
          <p:nvPr/>
        </p:nvSpPr>
        <p:spPr>
          <a:xfrm>
            <a:off x="457190" y="1513767"/>
            <a:ext cx="6858000" cy="347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1000"/>
              <a:buFont typeface="Calibri"/>
              <a:buNone/>
            </a:pPr>
            <a:r>
              <a:rPr lang="de-DE" sz="1100" i="1">
                <a:solidFill>
                  <a:schemeClr val="lt1"/>
                </a:solidFill>
                <a:latin typeface="Calibri"/>
                <a:ea typeface="Calibri"/>
                <a:cs typeface="Calibri"/>
                <a:sym typeface="Calibri"/>
              </a:rPr>
              <a:t>Why do some patients with non-small cell lung cancer stop responding to checkpoint inhibitors?</a:t>
            </a:r>
            <a:endParaRPr sz="1100" i="1">
              <a:solidFill>
                <a:srgbClr val="BBBBBB"/>
              </a:solidFill>
              <a:latin typeface="Calibri"/>
              <a:ea typeface="Calibri"/>
              <a:cs typeface="Calibri"/>
              <a:sym typeface="Calibri"/>
            </a:endParaRPr>
          </a:p>
        </p:txBody>
      </p:sp>
      <p:sp>
        <p:nvSpPr>
          <p:cNvPr id="472" name="Google Shape;472;g3d27537c611_0_119"/>
          <p:cNvSpPr/>
          <p:nvPr/>
        </p:nvSpPr>
        <p:spPr>
          <a:xfrm>
            <a:off x="7662672" y="1474792"/>
            <a:ext cx="1024200" cy="347400"/>
          </a:xfrm>
          <a:prstGeom prst="rect">
            <a:avLst/>
          </a:prstGeom>
          <a:solidFill>
            <a:srgbClr val="0A7C6E"/>
          </a:solidFill>
          <a:ln w="12700" cap="flat" cmpd="sng">
            <a:solidFill>
              <a:srgbClr val="0A7C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g3d27537c611_0_119"/>
          <p:cNvSpPr/>
          <p:nvPr/>
        </p:nvSpPr>
        <p:spPr>
          <a:xfrm>
            <a:off x="7662672" y="1468118"/>
            <a:ext cx="1024200" cy="347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850"/>
              <a:buFont typeface="Courier New"/>
              <a:buNone/>
            </a:pPr>
            <a:r>
              <a:rPr lang="de-DE" sz="1150" i="0" u="none" strike="noStrike" cap="none">
                <a:solidFill>
                  <a:srgbClr val="FFFFFF"/>
                </a:solidFill>
                <a:latin typeface="Roboto"/>
                <a:ea typeface="Roboto"/>
                <a:cs typeface="Roboto"/>
                <a:sym typeface="Roboto"/>
              </a:rPr>
              <a:t>→ Ask</a:t>
            </a:r>
            <a:endParaRPr sz="1150" i="0" u="none" strike="noStrike" cap="none">
              <a:solidFill>
                <a:srgbClr val="000000"/>
              </a:solidFill>
              <a:latin typeface="Roboto"/>
              <a:ea typeface="Roboto"/>
              <a:cs typeface="Roboto"/>
              <a:sym typeface="Roboto"/>
            </a:endParaRPr>
          </a:p>
        </p:txBody>
      </p:sp>
      <p:sp>
        <p:nvSpPr>
          <p:cNvPr id="474" name="Google Shape;474;g3d27537c611_0_119"/>
          <p:cNvSpPr/>
          <p:nvPr/>
        </p:nvSpPr>
        <p:spPr>
          <a:xfrm>
            <a:off x="411480" y="1961894"/>
            <a:ext cx="8275200" cy="2537100"/>
          </a:xfrm>
          <a:prstGeom prst="rect">
            <a:avLst/>
          </a:prstGeom>
          <a:solidFill>
            <a:srgbClr val="FFFFFF">
              <a:alpha val="1960"/>
            </a:srgbClr>
          </a:solidFill>
          <a:ln w="9525" cap="flat" cmpd="sng">
            <a:solidFill>
              <a:srgbClr val="FFFFFF">
                <a:alpha val="1216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g3d27537c611_0_119"/>
          <p:cNvSpPr/>
          <p:nvPr/>
        </p:nvSpPr>
        <p:spPr>
          <a:xfrm>
            <a:off x="411480" y="2058659"/>
            <a:ext cx="8275200" cy="210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de-DE" sz="1100">
                <a:solidFill>
                  <a:schemeClr val="lt1"/>
                </a:solidFill>
                <a:latin typeface="Calibri"/>
                <a:ea typeface="Calibri"/>
                <a:cs typeface="Calibri"/>
                <a:sym typeface="Calibri"/>
              </a:rPr>
              <a:t>Some patients with non-small cell lung cancer stop responding to checkpoint inhibitors due to the heterogeneity of tumor biology. Tumors with high PD-L1 expression are more likely to respond, but the presence of other mutations — such as EGFR, ALK, or ROS1 — can affect treatment efficacy. A second factor is the development of immune-related adverse events: a PD-L1 tumor proportion score of 1% or higher is associated with a higher risk of side effects, which can force treatment discontinuation. The exact mechanisms behind resistance are not yet fully understood, and further research into the tumor microenvironment is ongoing.</a:t>
            </a:r>
            <a:endParaRPr sz="1100">
              <a:solidFill>
                <a:schemeClr val="lt1"/>
              </a:solidFill>
              <a:latin typeface="Calibri"/>
              <a:ea typeface="Calibri"/>
              <a:cs typeface="Calibri"/>
              <a:sym typeface="Calibri"/>
            </a:endParaRPr>
          </a:p>
          <a:p>
            <a:pPr marL="0" marR="0" lvl="0" indent="0" algn="l" rtl="0">
              <a:spcBef>
                <a:spcPts val="0"/>
              </a:spcBef>
              <a:spcAft>
                <a:spcPts val="0"/>
              </a:spcAft>
              <a:buNone/>
            </a:pPr>
            <a:endParaRPr sz="1100">
              <a:solidFill>
                <a:schemeClr val="lt1"/>
              </a:solidFill>
              <a:latin typeface="Calibri"/>
              <a:ea typeface="Calibri"/>
              <a:cs typeface="Calibri"/>
              <a:sym typeface="Calibri"/>
            </a:endParaRPr>
          </a:p>
          <a:p>
            <a:pPr marL="0" marR="0" lvl="0" indent="0" algn="l" rtl="0">
              <a:spcBef>
                <a:spcPts val="0"/>
              </a:spcBef>
              <a:spcAft>
                <a:spcPts val="0"/>
              </a:spcAft>
              <a:buNone/>
            </a:pPr>
            <a:endParaRPr sz="1100">
              <a:solidFill>
                <a:schemeClr val="lt1"/>
              </a:solidFill>
              <a:latin typeface="Calibri"/>
              <a:ea typeface="Calibri"/>
              <a:cs typeface="Calibri"/>
              <a:sym typeface="Calibri"/>
            </a:endParaRPr>
          </a:p>
          <a:p>
            <a:pPr marL="0" marR="0" lvl="0" indent="0" algn="l" rtl="0">
              <a:spcBef>
                <a:spcPts val="0"/>
              </a:spcBef>
              <a:spcAft>
                <a:spcPts val="0"/>
              </a:spcAft>
              <a:buNone/>
            </a:pPr>
            <a:r>
              <a:rPr lang="de-DE" sz="1100">
                <a:solidFill>
                  <a:schemeClr val="lt1"/>
                </a:solidFill>
                <a:latin typeface="Calibri"/>
                <a:ea typeface="Calibri"/>
                <a:cs typeface="Calibri"/>
                <a:sym typeface="Calibri"/>
              </a:rPr>
              <a:t>Sources: </a:t>
            </a:r>
            <a:r>
              <a:rPr lang="de-DE" sz="1100" u="sng">
                <a:solidFill>
                  <a:srgbClr val="4A86E8"/>
                </a:solidFill>
                <a:latin typeface="Calibri"/>
                <a:ea typeface="Calibri"/>
                <a:cs typeface="Calibri"/>
                <a:sym typeface="Calibri"/>
              </a:rPr>
              <a:t>PMC9641362</a:t>
            </a:r>
            <a:r>
              <a:rPr lang="de-DE" sz="1100">
                <a:solidFill>
                  <a:schemeClr val="lt1"/>
                </a:solidFill>
                <a:latin typeface="Calibri"/>
                <a:ea typeface="Calibri"/>
                <a:cs typeface="Calibri"/>
                <a:sym typeface="Calibri"/>
              </a:rPr>
              <a:t> ·</a:t>
            </a:r>
            <a:r>
              <a:rPr lang="de-DE" sz="1100" u="sng">
                <a:solidFill>
                  <a:srgbClr val="4A86E8"/>
                </a:solidFill>
                <a:latin typeface="Calibri"/>
                <a:ea typeface="Calibri"/>
                <a:cs typeface="Calibri"/>
                <a:sym typeface="Calibri"/>
              </a:rPr>
              <a:t> PMC12273668</a:t>
            </a:r>
            <a:r>
              <a:rPr lang="de-DE" sz="1100">
                <a:solidFill>
                  <a:schemeClr val="lt1"/>
                </a:solidFill>
                <a:latin typeface="Calibri"/>
                <a:ea typeface="Calibri"/>
                <a:cs typeface="Calibri"/>
                <a:sym typeface="Calibri"/>
              </a:rPr>
              <a:t> · </a:t>
            </a:r>
            <a:r>
              <a:rPr lang="de-DE" sz="1100" u="sng">
                <a:solidFill>
                  <a:srgbClr val="4A86E8"/>
                </a:solidFill>
                <a:latin typeface="Calibri"/>
                <a:ea typeface="Calibri"/>
                <a:cs typeface="Calibri"/>
                <a:sym typeface="Calibri"/>
              </a:rPr>
              <a:t>PMC12170212</a:t>
            </a:r>
            <a:r>
              <a:rPr lang="de-DE" sz="1100">
                <a:solidFill>
                  <a:schemeClr val="lt1"/>
                </a:solidFill>
                <a:latin typeface="Calibri"/>
                <a:ea typeface="Calibri"/>
                <a:cs typeface="Calibri"/>
                <a:sym typeface="Calibri"/>
              </a:rPr>
              <a:t> ·</a:t>
            </a:r>
            <a:r>
              <a:rPr lang="de-DE" sz="1100" u="sng">
                <a:solidFill>
                  <a:srgbClr val="4A86E8"/>
                </a:solidFill>
                <a:latin typeface="Calibri"/>
                <a:ea typeface="Calibri"/>
                <a:cs typeface="Calibri"/>
                <a:sym typeface="Calibri"/>
              </a:rPr>
              <a:t> PMC8880835</a:t>
            </a:r>
            <a:endParaRPr sz="1100">
              <a:solidFill>
                <a:schemeClr val="lt1"/>
              </a:solidFill>
              <a:latin typeface="Calibri"/>
              <a:ea typeface="Calibri"/>
              <a:cs typeface="Calibri"/>
              <a:sym typeface="Calibri"/>
            </a:endParaRPr>
          </a:p>
          <a:p>
            <a:pPr marL="0" marR="0" lvl="0" indent="0" algn="l" rtl="0">
              <a:spcBef>
                <a:spcPts val="0"/>
              </a:spcBef>
              <a:spcAft>
                <a:spcPts val="0"/>
              </a:spcAft>
              <a:buClr>
                <a:srgbClr val="000000"/>
              </a:buClr>
              <a:buFont typeface="Arial"/>
              <a:buNone/>
            </a:pPr>
            <a:endParaRPr sz="1100">
              <a:solidFill>
                <a:srgbClr val="BBBBBB"/>
              </a:solidFill>
              <a:latin typeface="Calibri"/>
              <a:ea typeface="Calibri"/>
              <a:cs typeface="Calibri"/>
              <a:sym typeface="Calibri"/>
            </a:endParaRPr>
          </a:p>
        </p:txBody>
      </p:sp>
      <p:sp>
        <p:nvSpPr>
          <p:cNvPr id="476" name="Google Shape;476;g3d27537c611_0_119"/>
          <p:cNvSpPr/>
          <p:nvPr/>
        </p:nvSpPr>
        <p:spPr>
          <a:xfrm>
            <a:off x="7315200" y="523375"/>
            <a:ext cx="1482900" cy="32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BBBBBB"/>
              </a:buClr>
              <a:buSzPts val="1000"/>
              <a:buFont typeface="Georgia"/>
              <a:buNone/>
            </a:pPr>
            <a:r>
              <a:rPr lang="de-DE" sz="900" b="0" i="1" u="none" strike="noStrike" cap="none">
                <a:solidFill>
                  <a:srgbClr val="BBBBBB"/>
                </a:solidFill>
                <a:latin typeface="Georgia"/>
                <a:ea typeface="Georgia"/>
                <a:cs typeface="Georgia"/>
                <a:sym typeface="Georgia"/>
              </a:rPr>
              <a:t>Demo mimics a live run.</a:t>
            </a:r>
            <a:endParaRPr sz="900" b="0" i="0" u="none" strike="noStrike" cap="non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Shape 481"/>
        <p:cNvGrpSpPr/>
        <p:nvPr/>
      </p:nvGrpSpPr>
      <p:grpSpPr>
        <a:xfrm>
          <a:off x="0" y="0"/>
          <a:ext cx="0" cy="0"/>
          <a:chOff x="0" y="0"/>
          <a:chExt cx="0" cy="0"/>
        </a:xfrm>
      </p:grpSpPr>
      <p:sp>
        <p:nvSpPr>
          <p:cNvPr id="482" name="Google Shape;482;p26"/>
          <p:cNvSpPr/>
          <p:nvPr/>
        </p:nvSpPr>
        <p:spPr>
          <a:xfrm>
            <a:off x="457200" y="256032"/>
            <a:ext cx="8229600"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Font typeface="Arial"/>
              <a:buNone/>
            </a:pPr>
            <a:r>
              <a:rPr lang="de-DE" sz="1100" b="1">
                <a:solidFill>
                  <a:srgbClr val="0A7C6E"/>
                </a:solidFill>
                <a:latin typeface="Courier New"/>
                <a:ea typeface="Courier New"/>
                <a:cs typeface="Courier New"/>
                <a:sym typeface="Courier New"/>
              </a:rPr>
              <a:t>WHAT'S</a:t>
            </a:r>
            <a:r>
              <a:rPr lang="de-DE" sz="1100" b="1" i="0" u="none" strike="noStrike" cap="none">
                <a:solidFill>
                  <a:srgbClr val="8FA89F"/>
                </a:solidFill>
                <a:latin typeface="Courier New"/>
                <a:ea typeface="Courier New"/>
                <a:cs typeface="Courier New"/>
                <a:sym typeface="Courier New"/>
              </a:rPr>
              <a:t> </a:t>
            </a:r>
            <a:r>
              <a:rPr lang="de-DE" sz="1100" b="1">
                <a:solidFill>
                  <a:srgbClr val="0A7C6E"/>
                </a:solidFill>
                <a:latin typeface="Courier New"/>
                <a:ea typeface="Courier New"/>
                <a:cs typeface="Courier New"/>
                <a:sym typeface="Courier New"/>
              </a:rPr>
              <a:t>NEXT</a:t>
            </a:r>
            <a:endParaRPr sz="1100" b="0" i="0" u="none" strike="noStrike" cap="none">
              <a:solidFill>
                <a:srgbClr val="000000"/>
              </a:solidFill>
              <a:latin typeface="Calibri"/>
              <a:ea typeface="Calibri"/>
              <a:cs typeface="Calibri"/>
              <a:sym typeface="Calibri"/>
            </a:endParaRPr>
          </a:p>
        </p:txBody>
      </p:sp>
      <p:sp>
        <p:nvSpPr>
          <p:cNvPr id="483" name="Google Shape;483;p26"/>
          <p:cNvSpPr/>
          <p:nvPr/>
        </p:nvSpPr>
        <p:spPr>
          <a:xfrm>
            <a:off x="457200" y="548640"/>
            <a:ext cx="8229600" cy="7132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2700"/>
              <a:buFont typeface="Georgia"/>
              <a:buNone/>
            </a:pPr>
            <a:r>
              <a:rPr lang="de-DE" sz="2700" b="1" i="0" u="none" strike="noStrike" cap="none">
                <a:solidFill>
                  <a:srgbClr val="111111"/>
                </a:solidFill>
                <a:latin typeface="Georgia"/>
                <a:ea typeface="Georgia"/>
                <a:cs typeface="Georgia"/>
                <a:sym typeface="Georgia"/>
              </a:rPr>
              <a:t>Outlook</a:t>
            </a:r>
            <a:endParaRPr sz="2700" b="0" i="0" u="none" strike="noStrike" cap="none">
              <a:solidFill>
                <a:srgbClr val="000000"/>
              </a:solidFill>
              <a:latin typeface="Calibri"/>
              <a:ea typeface="Calibri"/>
              <a:cs typeface="Calibri"/>
              <a:sym typeface="Calibri"/>
            </a:endParaRPr>
          </a:p>
        </p:txBody>
      </p:sp>
      <p:grpSp>
        <p:nvGrpSpPr>
          <p:cNvPr id="484" name="Google Shape;484;p26"/>
          <p:cNvGrpSpPr/>
          <p:nvPr/>
        </p:nvGrpSpPr>
        <p:grpSpPr>
          <a:xfrm>
            <a:off x="457200" y="1700156"/>
            <a:ext cx="8412480" cy="2560320"/>
            <a:chOff x="457200" y="1353312"/>
            <a:chExt cx="8412480" cy="2560320"/>
          </a:xfrm>
        </p:grpSpPr>
        <p:sp>
          <p:nvSpPr>
            <p:cNvPr id="485" name="Google Shape;485;p26"/>
            <p:cNvSpPr/>
            <p:nvPr/>
          </p:nvSpPr>
          <p:spPr>
            <a:xfrm>
              <a:off x="457200" y="1353312"/>
              <a:ext cx="2633472" cy="2560320"/>
            </a:xfrm>
            <a:prstGeom prst="rect">
              <a:avLst/>
            </a:prstGeom>
            <a:solidFill>
              <a:srgbClr val="FFFFFF"/>
            </a:solidFill>
            <a:ln w="19050" cap="flat" cmpd="sng">
              <a:solidFill>
                <a:srgbClr val="D7D1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6"/>
            <p:cNvSpPr/>
            <p:nvPr/>
          </p:nvSpPr>
          <p:spPr>
            <a:xfrm>
              <a:off x="621792" y="1463040"/>
              <a:ext cx="658368"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7D1C7"/>
                </a:buClr>
                <a:buSzPts val="2800"/>
                <a:buFont typeface="Courier New"/>
                <a:buNone/>
              </a:pPr>
              <a:r>
                <a:rPr lang="de-DE" sz="2800" b="1" i="0" u="none" strike="noStrike" cap="none">
                  <a:solidFill>
                    <a:srgbClr val="D7D1C7"/>
                  </a:solidFill>
                  <a:latin typeface="Courier New"/>
                  <a:ea typeface="Courier New"/>
                  <a:cs typeface="Courier New"/>
                  <a:sym typeface="Courier New"/>
                </a:rPr>
                <a:t>01</a:t>
              </a:r>
              <a:endParaRPr sz="2800" b="0" i="0" u="none" strike="noStrike" cap="none">
                <a:solidFill>
                  <a:srgbClr val="000000"/>
                </a:solidFill>
                <a:latin typeface="Calibri"/>
                <a:ea typeface="Calibri"/>
                <a:cs typeface="Calibri"/>
                <a:sym typeface="Calibri"/>
              </a:endParaRPr>
            </a:p>
          </p:txBody>
        </p:sp>
        <p:sp>
          <p:nvSpPr>
            <p:cNvPr id="487" name="Google Shape;487;p26"/>
            <p:cNvSpPr/>
            <p:nvPr/>
          </p:nvSpPr>
          <p:spPr>
            <a:xfrm>
              <a:off x="621792" y="1975104"/>
              <a:ext cx="2304288" cy="4023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400"/>
                <a:buFont typeface="Georgia"/>
                <a:buNone/>
              </a:pPr>
              <a:r>
                <a:rPr lang="de-DE" sz="1400" b="1" i="0" u="none" strike="noStrike" cap="none">
                  <a:solidFill>
                    <a:srgbClr val="111111"/>
                  </a:solidFill>
                  <a:latin typeface="Georgia"/>
                  <a:ea typeface="Georgia"/>
                  <a:cs typeface="Georgia"/>
                  <a:sym typeface="Georgia"/>
                </a:rPr>
                <a:t>Expand corpus coverage</a:t>
              </a:r>
              <a:endParaRPr sz="1400" b="0" i="0" u="none" strike="noStrike" cap="none">
                <a:solidFill>
                  <a:srgbClr val="000000"/>
                </a:solidFill>
                <a:latin typeface="Calibri"/>
                <a:ea typeface="Calibri"/>
                <a:cs typeface="Calibri"/>
                <a:sym typeface="Calibri"/>
              </a:endParaRPr>
            </a:p>
          </p:txBody>
        </p:sp>
        <p:cxnSp>
          <p:nvCxnSpPr>
            <p:cNvPr id="488" name="Google Shape;488;p26"/>
            <p:cNvCxnSpPr/>
            <p:nvPr/>
          </p:nvCxnSpPr>
          <p:spPr>
            <a:xfrm>
              <a:off x="621792" y="2414016"/>
              <a:ext cx="2304288" cy="0"/>
            </a:xfrm>
            <a:prstGeom prst="straightConnector1">
              <a:avLst/>
            </a:prstGeom>
            <a:noFill/>
            <a:ln w="10150" cap="flat" cmpd="sng">
              <a:solidFill>
                <a:srgbClr val="D9DFDC"/>
              </a:solidFill>
              <a:prstDash val="solid"/>
              <a:round/>
              <a:headEnd type="none" w="sm" len="sm"/>
              <a:tailEnd type="none" w="sm" len="sm"/>
            </a:ln>
          </p:spPr>
        </p:cxnSp>
        <p:sp>
          <p:nvSpPr>
            <p:cNvPr id="489" name="Google Shape;489;p26"/>
            <p:cNvSpPr/>
            <p:nvPr/>
          </p:nvSpPr>
          <p:spPr>
            <a:xfrm>
              <a:off x="621792" y="2505456"/>
              <a:ext cx="2304288" cy="12984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150"/>
                <a:buFont typeface="Georgia"/>
                <a:buNone/>
              </a:pPr>
              <a:r>
                <a:rPr lang="de-DE" sz="1150" b="0" i="0" u="none" strike="noStrike" cap="none">
                  <a:solidFill>
                    <a:srgbClr val="555555"/>
                  </a:solidFill>
                  <a:latin typeface="Georgia"/>
                  <a:ea typeface="Georgia"/>
                  <a:cs typeface="Georgia"/>
                  <a:sym typeface="Georgia"/>
                </a:rPr>
                <a:t>Adding articles might directly improve answer quality</a:t>
              </a:r>
              <a:endParaRPr sz="1150" b="0" i="0" u="none" strike="noStrike" cap="none">
                <a:solidFill>
                  <a:srgbClr val="000000"/>
                </a:solidFill>
                <a:latin typeface="Calibri"/>
                <a:ea typeface="Calibri"/>
                <a:cs typeface="Calibri"/>
                <a:sym typeface="Calibri"/>
              </a:endParaRPr>
            </a:p>
          </p:txBody>
        </p:sp>
        <p:sp>
          <p:nvSpPr>
            <p:cNvPr id="490" name="Google Shape;490;p26"/>
            <p:cNvSpPr/>
            <p:nvPr/>
          </p:nvSpPr>
          <p:spPr>
            <a:xfrm>
              <a:off x="3346704" y="1353312"/>
              <a:ext cx="2633472" cy="2560320"/>
            </a:xfrm>
            <a:prstGeom prst="rect">
              <a:avLst/>
            </a:prstGeom>
            <a:solidFill>
              <a:srgbClr val="FFFFFF"/>
            </a:solidFill>
            <a:ln w="19050" cap="flat" cmpd="sng">
              <a:solidFill>
                <a:srgbClr val="D7D1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6"/>
            <p:cNvSpPr/>
            <p:nvPr/>
          </p:nvSpPr>
          <p:spPr>
            <a:xfrm>
              <a:off x="3511296" y="1463040"/>
              <a:ext cx="658368"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7D1C7"/>
                </a:buClr>
                <a:buSzPts val="2800"/>
                <a:buFont typeface="Courier New"/>
                <a:buNone/>
              </a:pPr>
              <a:r>
                <a:rPr lang="de-DE" sz="2800" b="1" i="0" u="none" strike="noStrike" cap="none">
                  <a:solidFill>
                    <a:srgbClr val="D7D1C7"/>
                  </a:solidFill>
                  <a:latin typeface="Courier New"/>
                  <a:ea typeface="Courier New"/>
                  <a:cs typeface="Courier New"/>
                  <a:sym typeface="Courier New"/>
                </a:rPr>
                <a:t>02</a:t>
              </a:r>
              <a:endParaRPr sz="2800" b="0" i="0" u="none" strike="noStrike" cap="none">
                <a:solidFill>
                  <a:srgbClr val="000000"/>
                </a:solidFill>
                <a:latin typeface="Calibri"/>
                <a:ea typeface="Calibri"/>
                <a:cs typeface="Calibri"/>
                <a:sym typeface="Calibri"/>
              </a:endParaRPr>
            </a:p>
          </p:txBody>
        </p:sp>
        <p:sp>
          <p:nvSpPr>
            <p:cNvPr id="492" name="Google Shape;492;p26"/>
            <p:cNvSpPr/>
            <p:nvPr/>
          </p:nvSpPr>
          <p:spPr>
            <a:xfrm>
              <a:off x="3511296" y="1975104"/>
              <a:ext cx="2304288" cy="4023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400"/>
                <a:buFont typeface="Georgia"/>
                <a:buNone/>
              </a:pPr>
              <a:r>
                <a:rPr lang="de-DE" sz="1400" b="1" i="0" u="none" strike="noStrike" cap="none">
                  <a:solidFill>
                    <a:srgbClr val="111111"/>
                  </a:solidFill>
                  <a:latin typeface="Georgia"/>
                  <a:ea typeface="Georgia"/>
                  <a:cs typeface="Georgia"/>
                  <a:sym typeface="Georgia"/>
                </a:rPr>
                <a:t>Human expert evaluation</a:t>
              </a:r>
              <a:endParaRPr sz="1400" b="0" i="0" u="none" strike="noStrike" cap="none">
                <a:solidFill>
                  <a:srgbClr val="000000"/>
                </a:solidFill>
                <a:latin typeface="Calibri"/>
                <a:ea typeface="Calibri"/>
                <a:cs typeface="Calibri"/>
                <a:sym typeface="Calibri"/>
              </a:endParaRPr>
            </a:p>
          </p:txBody>
        </p:sp>
        <p:cxnSp>
          <p:nvCxnSpPr>
            <p:cNvPr id="493" name="Google Shape;493;p26"/>
            <p:cNvCxnSpPr/>
            <p:nvPr/>
          </p:nvCxnSpPr>
          <p:spPr>
            <a:xfrm>
              <a:off x="3511296" y="2414016"/>
              <a:ext cx="2304288" cy="0"/>
            </a:xfrm>
            <a:prstGeom prst="straightConnector1">
              <a:avLst/>
            </a:prstGeom>
            <a:noFill/>
            <a:ln w="10150" cap="flat" cmpd="sng">
              <a:solidFill>
                <a:srgbClr val="D9DFDC"/>
              </a:solidFill>
              <a:prstDash val="solid"/>
              <a:round/>
              <a:headEnd type="none" w="sm" len="sm"/>
              <a:tailEnd type="none" w="sm" len="sm"/>
            </a:ln>
          </p:spPr>
        </p:cxnSp>
        <p:sp>
          <p:nvSpPr>
            <p:cNvPr id="494" name="Google Shape;494;p26"/>
            <p:cNvSpPr/>
            <p:nvPr/>
          </p:nvSpPr>
          <p:spPr>
            <a:xfrm>
              <a:off x="3511296" y="2505456"/>
              <a:ext cx="2304288" cy="12984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150"/>
                <a:buFont typeface="Georgia"/>
                <a:buNone/>
              </a:pPr>
              <a:r>
                <a:rPr lang="de-DE" sz="1150" b="0" i="0" u="none" strike="noStrike" cap="none">
                  <a:solidFill>
                    <a:srgbClr val="555555"/>
                  </a:solidFill>
                  <a:latin typeface="Georgia"/>
                  <a:ea typeface="Georgia"/>
                  <a:cs typeface="Georgia"/>
                  <a:sym typeface="Georgia"/>
                </a:rPr>
                <a:t>The real test is whether domain experts agree — and whether the system's answers would actually influence clinical decisions.</a:t>
              </a:r>
              <a:endParaRPr sz="1150" b="0" i="0" u="none" strike="noStrike" cap="none">
                <a:solidFill>
                  <a:srgbClr val="000000"/>
                </a:solidFill>
                <a:latin typeface="Calibri"/>
                <a:ea typeface="Calibri"/>
                <a:cs typeface="Calibri"/>
                <a:sym typeface="Calibri"/>
              </a:endParaRPr>
            </a:p>
          </p:txBody>
        </p:sp>
        <p:sp>
          <p:nvSpPr>
            <p:cNvPr id="495" name="Google Shape;495;p26"/>
            <p:cNvSpPr/>
            <p:nvPr/>
          </p:nvSpPr>
          <p:spPr>
            <a:xfrm>
              <a:off x="6236208" y="1353312"/>
              <a:ext cx="2633472" cy="2560320"/>
            </a:xfrm>
            <a:prstGeom prst="rect">
              <a:avLst/>
            </a:prstGeom>
            <a:solidFill>
              <a:srgbClr val="FFFFFF"/>
            </a:solidFill>
            <a:ln w="19050" cap="flat" cmpd="sng">
              <a:solidFill>
                <a:srgbClr val="D7D1C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6"/>
            <p:cNvSpPr/>
            <p:nvPr/>
          </p:nvSpPr>
          <p:spPr>
            <a:xfrm>
              <a:off x="6400800" y="1463040"/>
              <a:ext cx="658368" cy="4754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7D1C7"/>
                </a:buClr>
                <a:buSzPts val="2800"/>
                <a:buFont typeface="Courier New"/>
                <a:buNone/>
              </a:pPr>
              <a:r>
                <a:rPr lang="de-DE" sz="2800" b="1" i="0" u="none" strike="noStrike" cap="none">
                  <a:solidFill>
                    <a:srgbClr val="D7D1C7"/>
                  </a:solidFill>
                  <a:latin typeface="Courier New"/>
                  <a:ea typeface="Courier New"/>
                  <a:cs typeface="Courier New"/>
                  <a:sym typeface="Courier New"/>
                </a:rPr>
                <a:t>03</a:t>
              </a:r>
              <a:endParaRPr sz="2800" b="0" i="0" u="none" strike="noStrike" cap="none">
                <a:solidFill>
                  <a:srgbClr val="000000"/>
                </a:solidFill>
                <a:latin typeface="Calibri"/>
                <a:ea typeface="Calibri"/>
                <a:cs typeface="Calibri"/>
                <a:sym typeface="Calibri"/>
              </a:endParaRPr>
            </a:p>
          </p:txBody>
        </p:sp>
        <p:sp>
          <p:nvSpPr>
            <p:cNvPr id="497" name="Google Shape;497;p26"/>
            <p:cNvSpPr/>
            <p:nvPr/>
          </p:nvSpPr>
          <p:spPr>
            <a:xfrm>
              <a:off x="6400800" y="1975104"/>
              <a:ext cx="2304288" cy="40233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11111"/>
                </a:buClr>
                <a:buSzPts val="1400"/>
                <a:buFont typeface="Georgia"/>
                <a:buNone/>
              </a:pPr>
              <a:r>
                <a:rPr lang="de-DE" sz="1400" b="1" i="0" u="none" strike="noStrike" cap="none">
                  <a:solidFill>
                    <a:srgbClr val="111111"/>
                  </a:solidFill>
                  <a:latin typeface="Georgia"/>
                  <a:ea typeface="Georgia"/>
                  <a:cs typeface="Georgia"/>
                  <a:sym typeface="Georgia"/>
                </a:rPr>
                <a:t>Possible services</a:t>
              </a:r>
              <a:endParaRPr sz="1400" b="0" i="0" u="none" strike="noStrike" cap="none">
                <a:solidFill>
                  <a:srgbClr val="000000"/>
                </a:solidFill>
                <a:latin typeface="Calibri"/>
                <a:ea typeface="Calibri"/>
                <a:cs typeface="Calibri"/>
                <a:sym typeface="Calibri"/>
              </a:endParaRPr>
            </a:p>
          </p:txBody>
        </p:sp>
        <p:cxnSp>
          <p:nvCxnSpPr>
            <p:cNvPr id="498" name="Google Shape;498;p26"/>
            <p:cNvCxnSpPr/>
            <p:nvPr/>
          </p:nvCxnSpPr>
          <p:spPr>
            <a:xfrm>
              <a:off x="6400800" y="2414016"/>
              <a:ext cx="2304288" cy="0"/>
            </a:xfrm>
            <a:prstGeom prst="straightConnector1">
              <a:avLst/>
            </a:prstGeom>
            <a:noFill/>
            <a:ln w="10150" cap="flat" cmpd="sng">
              <a:solidFill>
                <a:srgbClr val="D9DFDC"/>
              </a:solidFill>
              <a:prstDash val="solid"/>
              <a:round/>
              <a:headEnd type="none" w="sm" len="sm"/>
              <a:tailEnd type="none" w="sm" len="sm"/>
            </a:ln>
          </p:spPr>
        </p:cxnSp>
        <p:sp>
          <p:nvSpPr>
            <p:cNvPr id="499" name="Google Shape;499;p26"/>
            <p:cNvSpPr/>
            <p:nvPr/>
          </p:nvSpPr>
          <p:spPr>
            <a:xfrm>
              <a:off x="6400800" y="2505456"/>
              <a:ext cx="2304288" cy="12984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55555"/>
                </a:buClr>
                <a:buSzPts val="1150"/>
                <a:buFont typeface="Georgia"/>
                <a:buNone/>
              </a:pPr>
              <a:r>
                <a:rPr lang="de-DE" sz="1150" b="0" i="0" u="none" strike="noStrike" cap="none">
                  <a:solidFill>
                    <a:srgbClr val="555555"/>
                  </a:solidFill>
                  <a:latin typeface="Georgia"/>
                  <a:ea typeface="Georgia"/>
                  <a:cs typeface="Georgia"/>
                  <a:sym typeface="Georgia"/>
                </a:rPr>
                <a:t>Potential applications include clinical decision support, literature review assistance, and research Q&amp;A tooling.</a:t>
              </a:r>
              <a:endParaRPr sz="115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Shape 504"/>
        <p:cNvGrpSpPr/>
        <p:nvPr/>
      </p:nvGrpSpPr>
      <p:grpSpPr>
        <a:xfrm>
          <a:off x="0" y="0"/>
          <a:ext cx="0" cy="0"/>
          <a:chOff x="0" y="0"/>
          <a:chExt cx="0" cy="0"/>
        </a:xfrm>
      </p:grpSpPr>
      <p:sp>
        <p:nvSpPr>
          <p:cNvPr id="505" name="Google Shape;505;g3d27537c611_0_7"/>
          <p:cNvSpPr/>
          <p:nvPr/>
        </p:nvSpPr>
        <p:spPr>
          <a:xfrm>
            <a:off x="502920" y="274320"/>
            <a:ext cx="8229300" cy="201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12B39A"/>
              </a:buClr>
              <a:buSzPts val="900"/>
              <a:buFont typeface="Courier New"/>
              <a:buNone/>
            </a:pPr>
            <a:r>
              <a:rPr lang="de-DE" sz="900" b="0" i="0" u="none" strike="noStrike" cap="none">
                <a:solidFill>
                  <a:srgbClr val="12B39A"/>
                </a:solidFill>
                <a:latin typeface="Courier New"/>
                <a:ea typeface="Courier New"/>
                <a:cs typeface="Courier New"/>
                <a:sym typeface="Courier New"/>
              </a:rPr>
              <a:t>NEUE FISCHE · CAPSTONE I · 2025/26</a:t>
            </a:r>
            <a:endParaRPr sz="900" b="0" i="0" u="none" strike="noStrike" cap="none">
              <a:solidFill>
                <a:srgbClr val="FFFFFF"/>
              </a:solidFill>
              <a:latin typeface="Arial"/>
              <a:ea typeface="Arial"/>
              <a:cs typeface="Arial"/>
              <a:sym typeface="Arial"/>
            </a:endParaRPr>
          </a:p>
        </p:txBody>
      </p:sp>
      <p:sp>
        <p:nvSpPr>
          <p:cNvPr id="506" name="Google Shape;506;g3d27537c611_0_7"/>
          <p:cNvSpPr/>
          <p:nvPr/>
        </p:nvSpPr>
        <p:spPr>
          <a:xfrm>
            <a:off x="502925" y="1270796"/>
            <a:ext cx="7955400" cy="1305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rgbClr val="FFFFFF"/>
              </a:buClr>
              <a:buSzPts val="4400"/>
              <a:buFont typeface="Georgia"/>
              <a:buNone/>
            </a:pPr>
            <a:r>
              <a:rPr lang="de-DE" sz="3800" b="1">
                <a:solidFill>
                  <a:srgbClr val="FFFFFF"/>
                </a:solidFill>
                <a:latin typeface="Georgia"/>
                <a:ea typeface="Georgia"/>
                <a:cs typeface="Georgia"/>
                <a:sym typeface="Georgia"/>
              </a:rPr>
              <a:t>Thank You for Your Attention !</a:t>
            </a:r>
            <a:endParaRPr sz="2200" b="0" i="0" u="none" strike="noStrike" cap="none">
              <a:solidFill>
                <a:srgbClr val="FFFFFF"/>
              </a:solidFill>
              <a:latin typeface="Arial"/>
              <a:ea typeface="Arial"/>
              <a:cs typeface="Arial"/>
              <a:sym typeface="Arial"/>
            </a:endParaRPr>
          </a:p>
        </p:txBody>
      </p:sp>
      <p:grpSp>
        <p:nvGrpSpPr>
          <p:cNvPr id="507" name="Google Shape;507;g3d27537c611_0_7"/>
          <p:cNvGrpSpPr/>
          <p:nvPr/>
        </p:nvGrpSpPr>
        <p:grpSpPr>
          <a:xfrm>
            <a:off x="502936" y="3034140"/>
            <a:ext cx="3639610" cy="369300"/>
            <a:chOff x="502936" y="2908689"/>
            <a:chExt cx="3639610" cy="369300"/>
          </a:xfrm>
        </p:grpSpPr>
        <p:sp>
          <p:nvSpPr>
            <p:cNvPr id="508" name="Google Shape;508;g3d27537c611_0_7"/>
            <p:cNvSpPr/>
            <p:nvPr/>
          </p:nvSpPr>
          <p:spPr>
            <a:xfrm>
              <a:off x="502936" y="2965550"/>
              <a:ext cx="639600" cy="255600"/>
            </a:xfrm>
            <a:prstGeom prst="roundRect">
              <a:avLst>
                <a:gd name="adj" fmla="val 50000"/>
              </a:avLst>
            </a:prstGeom>
            <a:solidFill>
              <a:srgbClr val="0D2137">
                <a:alpha val="60000"/>
              </a:srgbClr>
            </a:solidFill>
            <a:ln w="9525" cap="flat" cmpd="sng">
              <a:solidFill>
                <a:srgbClr val="FFFFFF">
                  <a:alpha val="25099"/>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509" name="Google Shape;509;g3d27537c611_0_7"/>
            <p:cNvSpPr/>
            <p:nvPr/>
          </p:nvSpPr>
          <p:spPr>
            <a:xfrm>
              <a:off x="502949" y="2965550"/>
              <a:ext cx="639600" cy="255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DDDDD"/>
                </a:buClr>
                <a:buSzPts val="1000"/>
                <a:buFont typeface="Courier New"/>
                <a:buNone/>
              </a:pPr>
              <a:r>
                <a:rPr lang="de-DE" sz="1100" b="1" i="0" u="none" strike="noStrike" cap="none">
                  <a:solidFill>
                    <a:srgbClr val="DDDDDD"/>
                  </a:solidFill>
                  <a:latin typeface="Courier New"/>
                  <a:ea typeface="Courier New"/>
                  <a:cs typeface="Courier New"/>
                  <a:sym typeface="Courier New"/>
                </a:rPr>
                <a:t>Markus</a:t>
              </a:r>
              <a:endParaRPr sz="1100" b="1" i="0" u="none" strike="noStrike" cap="none">
                <a:solidFill>
                  <a:srgbClr val="FFFFFF"/>
                </a:solidFill>
              </a:endParaRPr>
            </a:p>
          </p:txBody>
        </p:sp>
        <p:sp>
          <p:nvSpPr>
            <p:cNvPr id="510" name="Google Shape;510;g3d27537c611_0_7"/>
            <p:cNvSpPr txBox="1"/>
            <p:nvPr/>
          </p:nvSpPr>
          <p:spPr>
            <a:xfrm>
              <a:off x="1142546" y="2908689"/>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de-DE" sz="1200">
                  <a:solidFill>
                    <a:srgbClr val="12B39A"/>
                  </a:solidFill>
                  <a:latin typeface="Courier New"/>
                  <a:ea typeface="Courier New"/>
                  <a:cs typeface="Courier New"/>
                  <a:sym typeface="Courier New"/>
                </a:rPr>
                <a:t>markus.lohmeyer@gmx.de</a:t>
              </a:r>
              <a:endParaRPr>
                <a:solidFill>
                  <a:srgbClr val="12B39A"/>
                </a:solidFill>
                <a:latin typeface="Courier New"/>
                <a:ea typeface="Courier New"/>
                <a:cs typeface="Courier New"/>
                <a:sym typeface="Courier New"/>
              </a:endParaRPr>
            </a:p>
          </p:txBody>
        </p:sp>
      </p:grpSp>
      <p:grpSp>
        <p:nvGrpSpPr>
          <p:cNvPr id="511" name="Google Shape;511;g3d27537c611_0_7"/>
          <p:cNvGrpSpPr/>
          <p:nvPr/>
        </p:nvGrpSpPr>
        <p:grpSpPr>
          <a:xfrm>
            <a:off x="502944" y="3513235"/>
            <a:ext cx="3639603" cy="369300"/>
            <a:chOff x="502944" y="3488150"/>
            <a:chExt cx="3639603" cy="369300"/>
          </a:xfrm>
        </p:grpSpPr>
        <p:sp>
          <p:nvSpPr>
            <p:cNvPr id="512" name="Google Shape;512;g3d27537c611_0_7"/>
            <p:cNvSpPr/>
            <p:nvPr/>
          </p:nvSpPr>
          <p:spPr>
            <a:xfrm>
              <a:off x="502944" y="3545000"/>
              <a:ext cx="639600" cy="255600"/>
            </a:xfrm>
            <a:prstGeom prst="roundRect">
              <a:avLst>
                <a:gd name="adj" fmla="val 50000"/>
              </a:avLst>
            </a:prstGeom>
            <a:solidFill>
              <a:srgbClr val="0D2137">
                <a:alpha val="60000"/>
              </a:srgbClr>
            </a:solidFill>
            <a:ln w="9525" cap="flat" cmpd="sng">
              <a:solidFill>
                <a:srgbClr val="FFFFFF">
                  <a:alpha val="25099"/>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100" b="1" i="0" u="none" strike="noStrike" cap="none">
                <a:solidFill>
                  <a:srgbClr val="FFFFFF"/>
                </a:solidFill>
              </a:endParaRPr>
            </a:p>
          </p:txBody>
        </p:sp>
        <p:sp>
          <p:nvSpPr>
            <p:cNvPr id="513" name="Google Shape;513;g3d27537c611_0_7"/>
            <p:cNvSpPr/>
            <p:nvPr/>
          </p:nvSpPr>
          <p:spPr>
            <a:xfrm>
              <a:off x="502944" y="3545000"/>
              <a:ext cx="639600" cy="255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DDDDD"/>
                </a:buClr>
                <a:buSzPts val="1000"/>
                <a:buFont typeface="Courier New"/>
                <a:buNone/>
              </a:pPr>
              <a:r>
                <a:rPr lang="de-DE" sz="1100" b="1" i="0" u="none" strike="noStrike" cap="none">
                  <a:solidFill>
                    <a:srgbClr val="DDDDDD"/>
                  </a:solidFill>
                  <a:latin typeface="Courier New"/>
                  <a:ea typeface="Courier New"/>
                  <a:cs typeface="Courier New"/>
                  <a:sym typeface="Courier New"/>
                </a:rPr>
                <a:t>Viktor</a:t>
              </a:r>
              <a:endParaRPr sz="1100" b="1" i="0" u="none" strike="noStrike" cap="none">
                <a:solidFill>
                  <a:srgbClr val="FFFFFF"/>
                </a:solidFill>
              </a:endParaRPr>
            </a:p>
          </p:txBody>
        </p:sp>
        <p:sp>
          <p:nvSpPr>
            <p:cNvPr id="514" name="Google Shape;514;g3d27537c611_0_7"/>
            <p:cNvSpPr txBox="1"/>
            <p:nvPr/>
          </p:nvSpPr>
          <p:spPr>
            <a:xfrm>
              <a:off x="1142546" y="3488150"/>
              <a:ext cx="30000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de-DE" sz="1200">
                  <a:solidFill>
                    <a:srgbClr val="12B39A"/>
                  </a:solidFill>
                  <a:latin typeface="Courier New"/>
                  <a:ea typeface="Courier New"/>
                  <a:cs typeface="Courier New"/>
                  <a:sym typeface="Courier New"/>
                </a:rPr>
                <a:t>victor.judin@gmx.de</a:t>
              </a:r>
              <a:endParaRPr sz="1200">
                <a:solidFill>
                  <a:srgbClr val="12B39A"/>
                </a:solidFill>
                <a:latin typeface="Courier New"/>
                <a:ea typeface="Courier New"/>
                <a:cs typeface="Courier New"/>
                <a:sym typeface="Courier New"/>
              </a:endParaRPr>
            </a:p>
          </p:txBody>
        </p:sp>
      </p:grpSp>
      <p:grpSp>
        <p:nvGrpSpPr>
          <p:cNvPr id="515" name="Google Shape;515;g3d27537c611_0_7"/>
          <p:cNvGrpSpPr/>
          <p:nvPr/>
        </p:nvGrpSpPr>
        <p:grpSpPr>
          <a:xfrm>
            <a:off x="502939" y="3992329"/>
            <a:ext cx="3639607" cy="369300"/>
            <a:chOff x="502939" y="4067600"/>
            <a:chExt cx="3639607" cy="369300"/>
          </a:xfrm>
        </p:grpSpPr>
        <p:sp>
          <p:nvSpPr>
            <p:cNvPr id="516" name="Google Shape;516;g3d27537c611_0_7"/>
            <p:cNvSpPr/>
            <p:nvPr/>
          </p:nvSpPr>
          <p:spPr>
            <a:xfrm>
              <a:off x="502939" y="4124450"/>
              <a:ext cx="639600" cy="255600"/>
            </a:xfrm>
            <a:prstGeom prst="roundRect">
              <a:avLst>
                <a:gd name="adj" fmla="val 50000"/>
              </a:avLst>
            </a:prstGeom>
            <a:solidFill>
              <a:srgbClr val="0D2137">
                <a:alpha val="60000"/>
              </a:srgbClr>
            </a:solidFill>
            <a:ln w="9525" cap="flat" cmpd="sng">
              <a:solidFill>
                <a:srgbClr val="FFFFFF">
                  <a:alpha val="25099"/>
                </a:srgbClr>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100" b="1" i="0" u="none" strike="noStrike" cap="none">
                <a:solidFill>
                  <a:srgbClr val="FFFFFF"/>
                </a:solidFill>
              </a:endParaRPr>
            </a:p>
          </p:txBody>
        </p:sp>
        <p:sp>
          <p:nvSpPr>
            <p:cNvPr id="517" name="Google Shape;517;g3d27537c611_0_7"/>
            <p:cNvSpPr/>
            <p:nvPr/>
          </p:nvSpPr>
          <p:spPr>
            <a:xfrm>
              <a:off x="502939" y="4124450"/>
              <a:ext cx="639600" cy="255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DDDDDD"/>
                </a:buClr>
                <a:buSzPts val="1000"/>
                <a:buFont typeface="Courier New"/>
                <a:buNone/>
              </a:pPr>
              <a:r>
                <a:rPr lang="de-DE" sz="1100" b="1" i="0" u="none" strike="noStrike" cap="none">
                  <a:solidFill>
                    <a:srgbClr val="DDDDDD"/>
                  </a:solidFill>
                  <a:latin typeface="Courier New"/>
                  <a:ea typeface="Courier New"/>
                  <a:cs typeface="Courier New"/>
                  <a:sym typeface="Courier New"/>
                </a:rPr>
                <a:t>Thomas</a:t>
              </a:r>
              <a:endParaRPr sz="1100" b="1" i="0" u="none" strike="noStrike" cap="none">
                <a:solidFill>
                  <a:srgbClr val="FFFFFF"/>
                </a:solidFill>
              </a:endParaRPr>
            </a:p>
          </p:txBody>
        </p:sp>
        <p:sp>
          <p:nvSpPr>
            <p:cNvPr id="518" name="Google Shape;518;g3d27537c611_0_7"/>
            <p:cNvSpPr txBox="1"/>
            <p:nvPr/>
          </p:nvSpPr>
          <p:spPr>
            <a:xfrm>
              <a:off x="1142546" y="4067600"/>
              <a:ext cx="30000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de-DE" sz="1200">
                  <a:solidFill>
                    <a:srgbClr val="12B39A"/>
                  </a:solidFill>
                  <a:latin typeface="Courier New"/>
                  <a:ea typeface="Courier New"/>
                  <a:cs typeface="Courier New"/>
                  <a:sym typeface="Courier New"/>
                </a:rPr>
                <a:t>carpetcrawler78@gmx.ch</a:t>
              </a:r>
              <a:endParaRPr sz="1200">
                <a:solidFill>
                  <a:srgbClr val="12B39A"/>
                </a:solidFill>
                <a:latin typeface="Courier New"/>
                <a:ea typeface="Courier New"/>
                <a:cs typeface="Courier New"/>
                <a:sym typeface="Courier New"/>
              </a:endParaRPr>
            </a:p>
          </p:txBody>
        </p:sp>
      </p:gr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1960</Words>
  <Application>Microsoft Office PowerPoint</Application>
  <PresentationFormat>Bildschirmpräsentation (16:9)</PresentationFormat>
  <Paragraphs>330</Paragraphs>
  <Slides>28</Slides>
  <Notes>28</Notes>
  <HiddenSlides>0</HiddenSlides>
  <MMClips>0</MMClips>
  <ScaleCrop>false</ScaleCrop>
  <HeadingPairs>
    <vt:vector size="6" baseType="variant">
      <vt:variant>
        <vt:lpstr>Verwendete Schriftarten</vt:lpstr>
      </vt:variant>
      <vt:variant>
        <vt:i4>7</vt:i4>
      </vt:variant>
      <vt:variant>
        <vt:lpstr>Design</vt:lpstr>
      </vt:variant>
      <vt:variant>
        <vt:i4>4</vt:i4>
      </vt:variant>
      <vt:variant>
        <vt:lpstr>Folientitel</vt:lpstr>
      </vt:variant>
      <vt:variant>
        <vt:i4>28</vt:i4>
      </vt:variant>
    </vt:vector>
  </HeadingPairs>
  <TitlesOfParts>
    <vt:vector size="39" baseType="lpstr">
      <vt:lpstr>Courier New</vt:lpstr>
      <vt:lpstr>Arial</vt:lpstr>
      <vt:lpstr>Georgia</vt:lpstr>
      <vt:lpstr>Calibri</vt:lpstr>
      <vt:lpstr>Noto Sans Symbols</vt:lpstr>
      <vt:lpstr>Roboto</vt:lpstr>
      <vt:lpstr>Times New Roman</vt:lpstr>
      <vt:lpstr>1_Office Theme</vt:lpstr>
      <vt:lpstr>Office Theme</vt:lpstr>
      <vt:lpstr>Office Theme</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Thomas Heger</dc:creator>
  <cp:lastModifiedBy>Th Heger</cp:lastModifiedBy>
  <cp:revision>8</cp:revision>
  <dcterms:created xsi:type="dcterms:W3CDTF">2026-03-23T17:15:12Z</dcterms:created>
  <dcterms:modified xsi:type="dcterms:W3CDTF">2026-03-27T10:39:43Z</dcterms:modified>
</cp:coreProperties>
</file>