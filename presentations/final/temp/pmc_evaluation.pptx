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65" r:id="rId3"/>
    <p:sldId id="256" r:id="rId4"/>
    <p:sldId id="257" r:id="rId5"/>
    <p:sldId id="260" r:id="rId6"/>
    <p:sldId id="263" r:id="rId7"/>
    <p:sldId id="264" r:id="rId8"/>
    <p:sldId id="258" r:id="rId9"/>
    <p:sldId id="25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7C6E"/>
    <a:srgbClr val="F7F4EF"/>
    <a:srgbClr val="8A6D20"/>
    <a:srgbClr val="D4B96A"/>
    <a:srgbClr val="155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1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68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9B352AC-CB13-4B83-9B75-4AAE1BA0B05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2869469-3372-4835-B59D-A6751ADD3D0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1: Two Phases of Evaluation
WHY THIS SLIDE:
We need to explain why we didn't just use standard benchmarks. PubMedQA is a well-known biomedical benchmark, but it only tests yes/no/maybe classification. Our system produces full free-text answers — a much harder task.
WHAT YOU SEE:
Left box: Phase I — PubMedQA benchmark. 1,000 yes/no/maybe questions, automatic scoring, easy comparison with published results.
Right box: Phase II — Our custom evaluation. 8 real clinical questions, free-text answers, scored by two independent LLM raters on a 1-5 scale.
KEY POINT:
Phase I is a sanity check (does the system work?). Phase II is the real test (are answers clinically useful?). Most published systems only do Phase I.
CONCLUSION:
Going beyond yes/no benchmarks is harder but gives a more honest picture of real-world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2: 8 Clinical Questions
WHY THIS SLIDE:
We need to show how the evaluation questions were chosen. They're not random — each one tests a different aspect of the system.
WHAT YOU SEE:
8 questions listed with color-coded dots:
- Green (Core): Q1, Q2 — Oncology topics well represented in our 10k article corpus
- Blue (Moderate): Q3, Q7 — Topics partially covered, some relevant articles exist
- Orange (Borderline): Q5, Q6, Q8 — Edge of corpus coverage, few matching articles
- Red (Out-of-distribution): Q4 — LRKK2/Parkinson, no matching cluster in training data
CRITERIA FOR SELECTION:
1. Medical domain — cover different specialties (oncology, neurology, immunology, etc.)
2. Complexity — mix of simple lookups and multi-hop reasoning
3. Corpus coverage — deliberately include topics the system hasn't seen
KEY POINT:
We intentionally included questions the system can't answer well. This tests limits honestly, not just best-case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5: Pipeline Comparison
WHY THIS SLIDE:
We tested three pipeline variants to see which combination of search method and language model works best.
WHAT YOU SEE:
Bar chart with 3 variants, each showing scores from both LLM raters:
- V1: BM25 + 8B model — keyword search only, small model → Combined 3.12
- V2: Hybrid + 8B model — keyword + semantic search, small model → Combined 3.61 (best)
- V3: Hybrid + 70B model — keyword + semantic search, large model → Combined 3.22
Orange bars = ChatGPT ratings (tends to rate lower)
Blue bars = Claude ratings (tends to rate higher)
Yellow outline = Combined average
SURPRISING FINDING:
The bigger model (70B) doesn't beat the smaller one (8B). Why? The bottleneck isn't the language model — it's the retrieved articles. If the search doesn't find the right passages, even a better model can't fix that.
KEY POINT:
Hybrid search (combining keywords and meaning) matters more than model size. The retrieval step is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9: Outlook
WHY THIS SLIDE:
End with concrete next steps, not a "done" checklist. Show you understand what's missing and what would make the system better.
WHAT YOU SEE:
Four numbered items, each with a short title and one-line explanation:
01 Better Evaluation — Replace LLM raters with a panel of medical experts. LLM raters are a pragmatic first step, but only domain experts can truly judge clinical accuracy.
02 Larger Model — Try a 70B parameter model with proper compute. Our results suggest retrieval matters more than model size, but with better retrieval a larger model might help.
03 More Services — Go beyond single-question Q&amp;A: drug interaction checks, multi-turn conversations, patient-friendly summaries. Make it a real clinical tool.
04 Bigger Corpus — The single biggest improvement: expand from 10,000 to 4+ million articles. Most failures we observed were data coverage problems, not model problems. More data = fewer blind spots.
KEY POINT:
These are ordered by impact. Better evaluation gives confidence. A bigger corpus fixes the root cause of most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3: Scoring Method
WHY THIS SLIDE:
Explain what the 1-5 scores mean and who does the rating. This is the foundation for all results that follow.
WHAT YOU SEE:
5-point scale from 1 (Wrong) to 5 (Excellent):
1 = Wrong topic or contradicts evidence
2 = Partially relevant but major gaps
3 = Acceptable — addresses question, some gaps remain
4 = Good — accurate and relevant, minor gaps only
5 = Excellent — complete, correct, clinically useful
Two raters:
- LLM Rater 1 = ChatGPT (evaluates each answer independently)
- LLM Rater 2 = Claude (evaluates each answer independently)
WHY LLM RATERS:
Using two different large language models as raters is a pragmatic approach. A medical expert panel would be ideal but wasn't feasible in this project scope. Two independent LLMs from different providers reduce single-model bias.
KEY POINT:
The combined score (average of both raters) is our primary metric. Where both raters agree, we're more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4: Cluster Coverage Map
WHY THIS SLIDE:
Before looking at scores, we need to understand what the training data covers. Not all medical topics are equally represented in our 10,000-article corpus.
WHAT YOU SEE:
A bubble map of 10 medical domain clusters found in the corpus:
- Bubble size represents the percentage of articles in that cluster
- Largest clusters: COVID-19/Public Health (21%), Oncology (20%), Epidemiology (20%)
- Smallest: Orthopedics (3%), Spinal Cord (3%)
The 8 questions are placed near their best-matching cluster:
- Q1, Q2 (green dots) sit inside the Oncology bubble — core topics
- Q3 (blue) near Epidemiology — moderate match
- Q4 (red) floats between clusters — LRKK2/Parkinson has no matching domain
- Q5-Q8 at various edges
KEY POINT:
This map predicts where the system will perform well (inside bubbles) and where it will struggle (between or outside bubbles). Q4 is the key test case — there's simply no Parkinson data in the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02920" y="201240"/>
            <a:ext cx="1869344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400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HOW IT WORKS</a:t>
            </a:r>
            <a:endParaRPr lang="de-DE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02920" y="4204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2137"/>
                </a:solidFill>
                <a:effectLst/>
                <a:uFillTx/>
                <a:latin typeface="Georgia"/>
                <a:ea typeface="Georgia"/>
              </a:rPr>
              <a:t>The Pipeline — Clinical Question to Answer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502920" y="9327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Index built once offline (10,000 articles · 46,853 chunks)</a:t>
            </a:r>
            <a:endParaRPr lang="de-DE" sz="1000" b="0" u="none" strike="noStrike" dirty="0">
              <a:solidFill>
                <a:srgbClr val="0A7C6E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73170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73170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8642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Query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2039220" y="1997175"/>
            <a:ext cx="1142640" cy="822600"/>
          </a:xfrm>
          <a:prstGeom prst="rect">
            <a:avLst/>
          </a:prstGeom>
          <a:solidFill>
            <a:schemeClr val="bg1"/>
          </a:solidFill>
          <a:ln w="6350">
            <a:solidFill>
              <a:srgbClr val="DDDDDD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203922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2a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209430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Keyword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206700" y="2166463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7C6E"/>
                </a:solidFill>
                <a:effectLst/>
                <a:uFillTx/>
                <a:latin typeface="Calibri"/>
              </a:rPr>
              <a:t>+</a:t>
            </a:r>
            <a:endParaRPr lang="de-DE" sz="2800" b="0" u="none" strike="noStrike" dirty="0">
              <a:solidFill>
                <a:srgbClr val="0A7C6E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334674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88888"/>
                </a:solidFill>
                <a:effectLst/>
                <a:uFillTx/>
                <a:latin typeface="Courier New"/>
                <a:ea typeface="Courier New"/>
              </a:rPr>
              <a:t>2b</a:t>
            </a:r>
            <a:endParaRPr lang="de-DE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473AED0-C07A-E38E-2C20-A114DFACA959}"/>
              </a:ext>
            </a:extLst>
          </p:cNvPr>
          <p:cNvGrpSpPr/>
          <p:nvPr/>
        </p:nvGrpSpPr>
        <p:grpSpPr>
          <a:xfrm>
            <a:off x="3380220" y="2434533"/>
            <a:ext cx="1142640" cy="822600"/>
            <a:chOff x="3060000" y="3242306"/>
            <a:chExt cx="1142640" cy="822600"/>
          </a:xfrm>
        </p:grpSpPr>
        <p:sp>
          <p:nvSpPr>
            <p:cNvPr id="106" name="Shape 13"/>
            <p:cNvSpPr/>
            <p:nvPr/>
          </p:nvSpPr>
          <p:spPr>
            <a:xfrm>
              <a:off x="3060000" y="3242306"/>
              <a:ext cx="1142640" cy="822600"/>
            </a:xfrm>
            <a:prstGeom prst="rect">
              <a:avLst/>
            </a:prstGeom>
            <a:solidFill>
              <a:srgbClr val="0D2137"/>
            </a:solidFill>
            <a:ln w="6350">
              <a:solidFill>
                <a:srgbClr val="0D2137"/>
              </a:solidFill>
              <a:round/>
            </a:ln>
            <a:effectLst>
              <a:outerShdw blurRad="50760" dist="12218" dir="8100000" algn="bl" rotWithShape="0">
                <a:srgbClr val="000000">
                  <a:alpha val="7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de-D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 15"/>
            <p:cNvSpPr/>
            <p:nvPr/>
          </p:nvSpPr>
          <p:spPr>
            <a:xfrm>
              <a:off x="3081600" y="3486320"/>
              <a:ext cx="103284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12B39A"/>
                  </a:solidFill>
                  <a:effectLst/>
                  <a:uFillTx/>
                  <a:latin typeface="Calibri"/>
                  <a:ea typeface="Calibri"/>
                </a:rPr>
                <a:t>Semantic</a:t>
              </a:r>
              <a:endParaRPr lang="de-DE" sz="1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12B39A"/>
                  </a:solidFill>
                  <a:effectLst/>
                  <a:uFillTx/>
                  <a:latin typeface="Calibri"/>
                  <a:ea typeface="Calibri"/>
                </a:rPr>
                <a:t>Search</a:t>
              </a:r>
              <a:endParaRPr lang="de-DE" sz="1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Shape 19"/>
          <p:cNvSpPr/>
          <p:nvPr/>
        </p:nvSpPr>
        <p:spPr>
          <a:xfrm>
            <a:off x="465462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465462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470934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Fusion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596214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6"/>
          <p:cNvSpPr/>
          <p:nvPr/>
        </p:nvSpPr>
        <p:spPr>
          <a:xfrm>
            <a:off x="596214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7"/>
          <p:cNvSpPr/>
          <p:nvPr/>
        </p:nvSpPr>
        <p:spPr>
          <a:xfrm>
            <a:off x="601686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Top-K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Articles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0"/>
          <p:cNvSpPr/>
          <p:nvPr/>
        </p:nvSpPr>
        <p:spPr>
          <a:xfrm>
            <a:off x="7269660" y="1997175"/>
            <a:ext cx="1142640" cy="82260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1"/>
          <p:cNvSpPr/>
          <p:nvPr/>
        </p:nvSpPr>
        <p:spPr>
          <a:xfrm>
            <a:off x="726966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888888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2"/>
          <p:cNvSpPr/>
          <p:nvPr/>
        </p:nvSpPr>
        <p:spPr>
          <a:xfrm>
            <a:off x="732438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B39A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B39A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4"/>
          <p:cNvSpPr/>
          <p:nvPr/>
        </p:nvSpPr>
        <p:spPr>
          <a:xfrm>
            <a:off x="73170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plain-language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clinical question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5"/>
          <p:cNvSpPr/>
          <p:nvPr/>
        </p:nvSpPr>
        <p:spPr>
          <a:xfrm>
            <a:off x="1884060" y="3003375"/>
            <a:ext cx="1480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tokenised</a:t>
            </a: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·</a:t>
            </a:r>
            <a:b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scored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against 46k chunks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6"/>
          <p:cNvSpPr/>
          <p:nvPr/>
        </p:nvSpPr>
        <p:spPr>
          <a:xfrm>
            <a:off x="3401820" y="356713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query embedded · biomedical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model · nearest-</a:t>
            </a:r>
            <a:r>
              <a:rPr lang="en-US" sz="1050" b="0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neighbour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7"/>
          <p:cNvSpPr/>
          <p:nvPr/>
        </p:nvSpPr>
        <p:spPr>
          <a:xfrm>
            <a:off x="465462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both lists merged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· remove duplicates/deduping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8"/>
          <p:cNvSpPr/>
          <p:nvPr/>
        </p:nvSpPr>
        <p:spPr>
          <a:xfrm>
            <a:off x="596214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highest-scoring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excerpts as context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9"/>
          <p:cNvSpPr/>
          <p:nvPr/>
        </p:nvSpPr>
        <p:spPr>
          <a:xfrm>
            <a:off x="726966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cited answer · context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only · no general training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feld 44"/>
          <p:cNvSpPr/>
          <p:nvPr/>
        </p:nvSpPr>
        <p:spPr>
          <a:xfrm>
            <a:off x="3127500" y="3510027"/>
            <a:ext cx="2197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hteck 45"/>
          <p:cNvSpPr/>
          <p:nvPr/>
        </p:nvSpPr>
        <p:spPr>
          <a:xfrm>
            <a:off x="3368312" y="1531669"/>
            <a:ext cx="1109160" cy="7200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Chunking</a:t>
            </a:r>
            <a:br>
              <a:rPr lang="de-DE" sz="11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</a:br>
            <a:r>
              <a:rPr lang="de-DE" sz="1100" b="0" u="none" strike="noStrike" dirty="0" err="1">
                <a:solidFill>
                  <a:schemeClr val="lt1"/>
                </a:solidFill>
                <a:effectLst/>
                <a:uFillTx/>
                <a:latin typeface="Calibri"/>
              </a:rPr>
              <a:t>emmbedding</a:t>
            </a:r>
            <a:endParaRPr lang="de-DE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erader Verbinder 131"/>
          <p:cNvSpPr/>
          <p:nvPr/>
        </p:nvSpPr>
        <p:spPr>
          <a:xfrm flipV="1">
            <a:off x="3181860" y="1813575"/>
            <a:ext cx="164880" cy="556560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erader Verbinder 132"/>
          <p:cNvSpPr/>
          <p:nvPr/>
        </p:nvSpPr>
        <p:spPr>
          <a:xfrm>
            <a:off x="3181860" y="2370135"/>
            <a:ext cx="210240" cy="571786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erader Verbinder 133"/>
          <p:cNvSpPr/>
          <p:nvPr/>
        </p:nvSpPr>
        <p:spPr>
          <a:xfrm>
            <a:off x="4486832" y="1847907"/>
            <a:ext cx="167788" cy="560388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erader Verbinder 134"/>
          <p:cNvSpPr/>
          <p:nvPr/>
        </p:nvSpPr>
        <p:spPr>
          <a:xfrm flipV="1">
            <a:off x="4540860" y="2408295"/>
            <a:ext cx="113760" cy="516372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9DA05CFD-DDA4-C1BC-87AD-728242AF3314}"/>
              </a:ext>
            </a:extLst>
          </p:cNvPr>
          <p:cNvSpPr/>
          <p:nvPr/>
        </p:nvSpPr>
        <p:spPr>
          <a:xfrm>
            <a:off x="5779400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1891772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3505309-8E2E-C5CB-834E-8674B2A2121D}"/>
              </a:ext>
            </a:extLst>
          </p:cNvPr>
          <p:cNvSpPr/>
          <p:nvPr/>
        </p:nvSpPr>
        <p:spPr>
          <a:xfrm>
            <a:off x="7104780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02920" y="18288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400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HOW THE SYSTEM IMPROVED</a:t>
            </a:r>
            <a:endParaRPr lang="de-DE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02920" y="3841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D2137"/>
                </a:solidFill>
                <a:effectLst/>
                <a:uFillTx/>
                <a:latin typeface="Georgia"/>
                <a:ea typeface="Georgia"/>
              </a:rPr>
              <a:t>Iterative Evaluation of Models: From Simple to Complex</a:t>
            </a:r>
            <a:endParaRPr lang="de-DE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362880" y="1172588"/>
            <a:ext cx="2697120" cy="35206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385602" y="1177268"/>
            <a:ext cx="2697120" cy="54360"/>
          </a:xfrm>
          <a:prstGeom prst="rect">
            <a:avLst/>
          </a:prstGeom>
          <a:solidFill>
            <a:srgbClr val="E5C9C3"/>
          </a:solidFill>
          <a:ln w="12700">
            <a:solidFill>
              <a:srgbClr val="E5C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521280" y="1268708"/>
            <a:ext cx="2505240" cy="27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50" dirty="0">
                <a:solidFill>
                  <a:srgbClr val="8B2500"/>
                </a:solidFill>
                <a:effectLst/>
                <a:uFillTx/>
                <a:latin typeface="Courier New"/>
                <a:ea typeface="Courier New"/>
              </a:rPr>
              <a:t>Iteration 1</a:t>
            </a:r>
            <a:r>
              <a:rPr lang="en-US" sz="1100" b="0" u="none" strike="noStrike" spc="150" dirty="0">
                <a:solidFill>
                  <a:srgbClr val="8B25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i="1" u="none" strike="noStrike" kern="0" dirty="0">
                <a:solidFill>
                  <a:srgbClr val="8B2500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First Prototype</a:t>
            </a:r>
            <a:endParaRPr lang="de-DE" sz="1100" b="0" i="1" u="none" strike="noStrike" kern="0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21280" y="1561388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Query </a:t>
            </a:r>
            <a:r>
              <a:rPr lang="en-US" b="1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→</a:t>
            </a:r>
            <a:r>
              <a:rPr lang="en-US" sz="900" b="1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 [BM25 only] </a:t>
            </a:r>
            <a:r>
              <a:rPr lang="en-US" b="1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→</a:t>
            </a:r>
            <a:r>
              <a:rPr lang="en-US" sz="900" b="1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 Small AI (flan-t5-s)</a:t>
            </a:r>
            <a:endParaRPr lang="de-DE" sz="9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487440" y="2118537"/>
            <a:ext cx="2514240" cy="2511406"/>
          </a:xfrm>
          <a:prstGeom prst="rect">
            <a:avLst/>
          </a:prstGeom>
          <a:solidFill>
            <a:srgbClr val="F7F4EF">
              <a:alpha val="34000"/>
            </a:srgbClr>
          </a:solidFill>
          <a:ln w="6350">
            <a:solidFill>
              <a:srgbClr val="EAED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489240" y="2196788"/>
            <a:ext cx="2697120" cy="17206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135000"/>
              </a:lnSpc>
              <a:buClr>
                <a:srgbClr val="6B728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3264480" y="1177268"/>
            <a:ext cx="2697120" cy="3515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3264480" y="1177268"/>
            <a:ext cx="2697120" cy="54360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374280" y="1268708"/>
            <a:ext cx="2587320" cy="27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50" dirty="0">
                <a:solidFill>
                  <a:srgbClr val="8A6D20"/>
                </a:solidFill>
                <a:effectLst/>
                <a:uFillTx/>
                <a:latin typeface="Courier New"/>
                <a:ea typeface="Courier New"/>
              </a:rPr>
              <a:t>Iteration 2</a:t>
            </a:r>
            <a:r>
              <a:rPr lang="en-US" sz="1100" b="0" u="none" strike="noStrike" spc="150" dirty="0">
                <a:solidFill>
                  <a:srgbClr val="8A6D2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i="1" kern="0" dirty="0">
                <a:solidFill>
                  <a:srgbClr val="8A6D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Semantic Search</a:t>
            </a:r>
            <a:endParaRPr lang="de-DE" sz="1100" i="1" kern="0" dirty="0">
              <a:solidFill>
                <a:srgbClr val="8A6D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3374280" y="1561388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900" b="1" dirty="0">
                <a:solidFill>
                  <a:srgbClr val="6B7280"/>
                </a:solidFill>
                <a:latin typeface="Courier New"/>
              </a:rPr>
              <a:t>Query </a:t>
            </a: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BM25 | FAISS (</a:t>
            </a:r>
            <a:r>
              <a:rPr lang="en-US" sz="900" b="1" dirty="0" err="1">
                <a:solidFill>
                  <a:srgbClr val="6B7280"/>
                </a:solidFill>
                <a:latin typeface="Courier New"/>
              </a:rPr>
              <a:t>MiniLM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) </a:t>
            </a:r>
            <a:br>
              <a:rPr lang="en-US" sz="900" b="1" dirty="0">
                <a:solidFill>
                  <a:srgbClr val="6B7280"/>
                </a:solidFill>
                <a:latin typeface="Courier New"/>
              </a:rPr>
            </a:b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RRF </a:t>
            </a: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Llama 8B</a:t>
            </a:r>
            <a:endParaRPr lang="de-DE" sz="900" b="1" dirty="0">
              <a:solidFill>
                <a:srgbClr val="6B7280"/>
              </a:solidFill>
              <a:latin typeface="Courier New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3374280" y="2118536"/>
            <a:ext cx="2514240" cy="2511407"/>
          </a:xfrm>
          <a:prstGeom prst="rect">
            <a:avLst/>
          </a:prstGeom>
          <a:solidFill>
            <a:srgbClr val="F7F4EF">
              <a:alpha val="34000"/>
            </a:srgbClr>
          </a:solidFill>
          <a:ln w="6350">
            <a:solidFill>
              <a:srgbClr val="EAED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3374280" y="3603397"/>
            <a:ext cx="2514240" cy="11990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A paper retrieved.</a:t>
            </a:r>
          </a:p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Not very specific. </a:t>
            </a:r>
          </a:p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Answer partially grounded. Key words missing.</a:t>
            </a:r>
            <a:endParaRPr lang="de-DE" sz="1200" b="1" i="1" dirty="0">
              <a:solidFill>
                <a:srgbClr val="0D2137"/>
              </a:solidFill>
              <a:latin typeface="Georgia"/>
            </a:endParaRPr>
          </a:p>
          <a:p>
            <a:pPr marL="216000" indent="-216000" defTabSz="914400">
              <a:lnSpc>
                <a:spcPct val="135000"/>
              </a:lnSpc>
              <a:buClr>
                <a:srgbClr val="6B728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endParaRPr lang="de-DE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6117480" y="1177268"/>
            <a:ext cx="2697120" cy="3515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6117480" y="1177268"/>
            <a:ext cx="2697120" cy="5436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6226920" y="1268708"/>
            <a:ext cx="2429640" cy="27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50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Iteration 3</a:t>
            </a:r>
            <a:r>
              <a:rPr lang="en-US" sz="1100" b="0" u="none" strike="noStrike" spc="150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 - </a:t>
            </a:r>
            <a:r>
              <a:rPr lang="en-US" sz="1100" b="0" i="1" u="none" strike="noStrike" kern="0" dirty="0">
                <a:solidFill>
                  <a:srgbClr val="0A7C6E"/>
                </a:solidFill>
                <a:effectLst/>
                <a:uFillTx/>
                <a:ea typeface="Courier New"/>
              </a:rPr>
              <a:t>Full Pipeline</a:t>
            </a:r>
            <a:endParaRPr lang="de-DE" sz="1100" b="0" i="1" u="none" strike="noStrike" kern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6226920" y="156861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900" b="1" dirty="0">
                <a:solidFill>
                  <a:srgbClr val="6B7280"/>
                </a:solidFill>
                <a:latin typeface="Courier New"/>
              </a:rPr>
              <a:t>Query </a:t>
            </a: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BM25 | </a:t>
            </a:r>
            <a:r>
              <a:rPr lang="en-US" sz="900" b="1" dirty="0" err="1">
                <a:solidFill>
                  <a:srgbClr val="6B7280"/>
                </a:solidFill>
                <a:latin typeface="Courier New"/>
              </a:rPr>
              <a:t>PubMedBERT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+ FAISS </a:t>
            </a: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RRF </a:t>
            </a:r>
            <a:r>
              <a:rPr lang="en-US" b="1" dirty="0">
                <a:solidFill>
                  <a:srgbClr val="6B7280"/>
                </a:solidFill>
                <a:latin typeface="Courier New"/>
              </a:rPr>
              <a:t>→</a:t>
            </a:r>
            <a:r>
              <a:rPr lang="en-US" sz="900" b="1" dirty="0">
                <a:solidFill>
                  <a:srgbClr val="6B7280"/>
                </a:solidFill>
                <a:latin typeface="Courier New"/>
              </a:rPr>
              <a:t> Llama 70B</a:t>
            </a:r>
            <a:endParaRPr lang="de-DE" sz="900" b="1" dirty="0">
              <a:solidFill>
                <a:srgbClr val="6B7280"/>
              </a:solidFill>
              <a:latin typeface="Courier New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6202702" y="2118537"/>
            <a:ext cx="2514240" cy="2511406"/>
          </a:xfrm>
          <a:prstGeom prst="rect">
            <a:avLst/>
          </a:prstGeom>
          <a:solidFill>
            <a:srgbClr val="F7F4EF">
              <a:alpha val="34000"/>
            </a:srgbClr>
          </a:solidFill>
          <a:ln w="6350">
            <a:solidFill>
              <a:srgbClr val="EAED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6135480" y="3603397"/>
            <a:ext cx="2697120" cy="8121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Relevant papers retrieved. Specific, grounded, citable. Covers major aspects of query.</a:t>
            </a:r>
            <a:endParaRPr lang="de-DE" sz="1200" b="1" i="1" dirty="0">
              <a:solidFill>
                <a:srgbClr val="0D2137"/>
              </a:solidFill>
              <a:latin typeface="Georgia"/>
            </a:endParaRPr>
          </a:p>
        </p:txBody>
      </p:sp>
      <p:sp>
        <p:nvSpPr>
          <p:cNvPr id="158" name="Textfeld 157"/>
          <p:cNvSpPr txBox="1"/>
          <p:nvPr/>
        </p:nvSpPr>
        <p:spPr>
          <a:xfrm>
            <a:off x="487440" y="2142199"/>
            <a:ext cx="2484720" cy="14450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  <a:t>BM25 is used for retrieval, scoring docs on term frequency; context is being built</a:t>
            </a:r>
            <a:br>
              <a:rPr lang="en-US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</a:br>
            <a:endParaRPr lang="de-DE" sz="11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  <a:t>LLM Prompt: gets context</a:t>
            </a:r>
            <a:r>
              <a:rPr lang="en-US" sz="1100" dirty="0">
                <a:solidFill>
                  <a:srgbClr val="6B7280"/>
                </a:solidFill>
                <a:ea typeface="Calibri"/>
              </a:rPr>
              <a:t> &amp;</a:t>
            </a: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  <a:t> query</a:t>
            </a:r>
            <a:br>
              <a:rPr lang="de-DE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</a:br>
            <a:endParaRPr lang="de-DE" sz="11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ea typeface="Calibri"/>
              </a:rPr>
              <a:t>Small LLM produces an answer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</a:endParaRPr>
          </a:p>
          <a:p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feld 158"/>
          <p:cNvSpPr txBox="1"/>
          <p:nvPr/>
        </p:nvSpPr>
        <p:spPr>
          <a:xfrm>
            <a:off x="3374280" y="2142199"/>
            <a:ext cx="2514240" cy="127581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BM25 and FAISS work </a:t>
            </a:r>
            <a:r>
              <a:rPr lang="en-US" sz="1100" b="1" dirty="0">
                <a:solidFill>
                  <a:srgbClr val="6B7280"/>
                </a:solidFill>
                <a:ea typeface="Calibri"/>
              </a:rPr>
              <a:t>in parallel</a:t>
            </a:r>
            <a:br>
              <a:rPr lang="en-US" sz="1100" b="1" dirty="0">
                <a:solidFill>
                  <a:srgbClr val="6B7280"/>
                </a:solidFill>
                <a:ea typeface="Calibri"/>
              </a:rPr>
            </a:br>
            <a:endParaRPr lang="de-DE" sz="1100" dirty="0">
              <a:solidFill>
                <a:srgbClr val="6B7280"/>
              </a:solidFill>
              <a:ea typeface="Calibri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FAISS used for </a:t>
            </a:r>
            <a:r>
              <a:rPr lang="en-US" sz="1100" i="1" dirty="0">
                <a:solidFill>
                  <a:srgbClr val="6B7280"/>
                </a:solidFill>
                <a:ea typeface="Calibri"/>
              </a:rPr>
              <a:t>semantical</a:t>
            </a:r>
            <a:r>
              <a:rPr lang="en-US" sz="1100" dirty="0">
                <a:solidFill>
                  <a:srgbClr val="6B7280"/>
                </a:solidFill>
                <a:ea typeface="Calibri"/>
              </a:rPr>
              <a:t> likeliness</a:t>
            </a:r>
            <a:br>
              <a:rPr lang="en-US" sz="1100" dirty="0">
                <a:solidFill>
                  <a:srgbClr val="6B7280"/>
                </a:solidFill>
                <a:ea typeface="Calibri"/>
              </a:rPr>
            </a:br>
            <a:endParaRPr lang="en-US" sz="1100" dirty="0">
              <a:solidFill>
                <a:srgbClr val="6B7280"/>
              </a:solidFill>
              <a:ea typeface="Calibri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Both outputs: merged by RRF</a:t>
            </a:r>
            <a:br>
              <a:rPr lang="en-US" sz="1100" dirty="0">
                <a:solidFill>
                  <a:srgbClr val="6B7280"/>
                </a:solidFill>
                <a:ea typeface="Calibri"/>
              </a:rPr>
            </a:br>
            <a:endParaRPr lang="en-US" sz="1100" dirty="0">
              <a:solidFill>
                <a:srgbClr val="6B7280"/>
              </a:solidFill>
              <a:ea typeface="Calibri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100" dirty="0">
                <a:solidFill>
                  <a:srgbClr val="6B7280"/>
                </a:solidFill>
                <a:ea typeface="Calibri"/>
              </a:rPr>
              <a:t>LLM: </a:t>
            </a:r>
            <a:r>
              <a:rPr lang="de-DE" sz="1100" dirty="0" err="1">
                <a:solidFill>
                  <a:srgbClr val="6B7280"/>
                </a:solidFill>
                <a:ea typeface="Calibri"/>
              </a:rPr>
              <a:t>gets</a:t>
            </a:r>
            <a:r>
              <a:rPr lang="de-DE" sz="1100" dirty="0">
                <a:solidFill>
                  <a:srgbClr val="6B7280"/>
                </a:solidFill>
                <a:ea typeface="Calibri"/>
              </a:rPr>
              <a:t> </a:t>
            </a:r>
            <a:r>
              <a:rPr lang="de-DE" sz="1100" dirty="0" err="1">
                <a:solidFill>
                  <a:srgbClr val="6B7280"/>
                </a:solidFill>
                <a:ea typeface="Calibri"/>
              </a:rPr>
              <a:t>query</a:t>
            </a:r>
            <a:r>
              <a:rPr lang="de-DE" sz="1100" dirty="0">
                <a:solidFill>
                  <a:srgbClr val="6B7280"/>
                </a:solidFill>
                <a:ea typeface="Calibri"/>
              </a:rPr>
              <a:t> &amp; </a:t>
            </a:r>
            <a:r>
              <a:rPr lang="en-US" sz="1100" dirty="0">
                <a:solidFill>
                  <a:srgbClr val="6B7280"/>
                </a:solidFill>
                <a:ea typeface="Calibri"/>
              </a:rPr>
              <a:t>RRF output</a:t>
            </a:r>
            <a:endParaRPr lang="de-DE" sz="1100" dirty="0">
              <a:solidFill>
                <a:srgbClr val="6B7280"/>
              </a:solidFill>
              <a:ea typeface="Calibri"/>
            </a:endParaRPr>
          </a:p>
        </p:txBody>
      </p:sp>
      <p:sp>
        <p:nvSpPr>
          <p:cNvPr id="160" name="Textfeld 159"/>
          <p:cNvSpPr txBox="1"/>
          <p:nvPr/>
        </p:nvSpPr>
        <p:spPr>
          <a:xfrm>
            <a:off x="6230992" y="2142199"/>
            <a:ext cx="2423160" cy="136815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 err="1">
                <a:solidFill>
                  <a:srgbClr val="6B7280"/>
                </a:solidFill>
                <a:ea typeface="Calibri"/>
              </a:rPr>
              <a:t>PubMedBERT</a:t>
            </a:r>
            <a:r>
              <a:rPr lang="en-US" sz="1100" dirty="0">
                <a:solidFill>
                  <a:srgbClr val="6B7280"/>
                </a:solidFill>
                <a:ea typeface="Calibri"/>
              </a:rPr>
              <a:t>:  specialized LLM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Used for the </a:t>
            </a:r>
            <a:r>
              <a:rPr lang="en-US" sz="1100" i="1" dirty="0">
                <a:solidFill>
                  <a:srgbClr val="6B7280"/>
                </a:solidFill>
                <a:ea typeface="Calibri"/>
              </a:rPr>
              <a:t>medical and biological fields </a:t>
            </a:r>
            <a:r>
              <a:rPr lang="en-US" sz="1100" dirty="0">
                <a:solidFill>
                  <a:srgbClr val="6B7280"/>
                </a:solidFill>
                <a:ea typeface="Calibri"/>
              </a:rPr>
              <a:t>likeliness.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converts medical and biological tokens into embeddings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Trained on PubMed documents.</a:t>
            </a:r>
            <a:endParaRPr lang="de-DE" sz="1100" dirty="0">
              <a:solidFill>
                <a:srgbClr val="6B7280"/>
              </a:solidFill>
              <a:ea typeface="Calibri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dirty="0">
                <a:solidFill>
                  <a:srgbClr val="6B7280"/>
                </a:solidFill>
                <a:ea typeface="Calibri"/>
              </a:rPr>
              <a:t>Bigger LLM (Llama 70b)</a:t>
            </a:r>
            <a:endParaRPr lang="de-DE" sz="1100" dirty="0">
              <a:solidFill>
                <a:srgbClr val="6B7280"/>
              </a:solidFill>
              <a:ea typeface="Calibri"/>
            </a:endParaRPr>
          </a:p>
          <a:p>
            <a:endParaRPr lang="de-DE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7D7715-E045-7712-551A-91550A43577D}"/>
              </a:ext>
            </a:extLst>
          </p:cNvPr>
          <p:cNvSpPr txBox="1"/>
          <p:nvPr/>
        </p:nvSpPr>
        <p:spPr>
          <a:xfrm>
            <a:off x="537072" y="3603397"/>
            <a:ext cx="2479368" cy="10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No paper retrieved. </a:t>
            </a:r>
            <a:br>
              <a:rPr lang="en-US" sz="1200" b="1" i="1" dirty="0">
                <a:solidFill>
                  <a:srgbClr val="0D2137"/>
                </a:solidFill>
                <a:latin typeface="Georgia"/>
              </a:rPr>
            </a:b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LLM answered from general </a:t>
            </a: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training only. </a:t>
            </a: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0D2137"/>
                </a:solidFill>
                <a:latin typeface="Georgia"/>
              </a:rPr>
              <a:t>no context, no citations.</a:t>
            </a:r>
            <a:endParaRPr lang="de-DE" sz="2000" b="1" i="1" dirty="0">
              <a:solidFill>
                <a:srgbClr val="0D2137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phases — benchmark to clinical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metrics don't match free-text Q&amp;A — we designed a harder test</a:t>
            </a:r>
            <a:endParaRPr lang="en-US" sz="1000" dirty="0"/>
          </a:p>
        </p:txBody>
      </p:sp>
      <p:pic>
        <p:nvPicPr>
          <p:cNvPr id="5" name="Image 0" descr="/sessions/dazzling-happy-pasteur/fig_phase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234440"/>
            <a:ext cx="6996495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8229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checks if the system works at all — Phase II checks if answers are actually useful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questions — testing different strengths</a:t>
            </a:r>
            <a:endParaRPr lang="en-US" sz="2200" dirty="0"/>
          </a:p>
        </p:txBody>
      </p:sp>
      <p:pic>
        <p:nvPicPr>
          <p:cNvPr id="4" name="Image 0" descr="/sessions/dazzling-happy-pasteur/fig_questions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051560"/>
            <a:ext cx="7772400" cy="30175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65E3DD2-AB57-41D8-71E9-1AB0AAA7B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53337"/>
            <a:ext cx="4619833" cy="32368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DA99FE0-A2A7-27B7-98FD-053F3D28D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145" y="953337"/>
            <a:ext cx="1600423" cy="466790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FC148B5-75FE-5DB7-0ED0-9067141B8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500" y="914400"/>
            <a:ext cx="2508700" cy="3618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Retrieval Beats a Bigger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pipeline variants · 8 questions · scored by 2 LLM raters</a:t>
            </a:r>
            <a:endParaRPr lang="en-US" sz="10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0D9469-0366-8F9A-3E39-FE0269B21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451" y="2015685"/>
            <a:ext cx="4259288" cy="190103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5A02424-3154-6497-2A0E-8EEFD094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5128"/>
            <a:ext cx="2762628" cy="296215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1DE7072-C534-A5B2-33BF-7DD340817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48" y="1827952"/>
            <a:ext cx="1510766" cy="53347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D7B2B2F-FD8E-F660-C95F-EC6642E96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40" y="3794760"/>
            <a:ext cx="1952392" cy="53347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35AA873-CCD2-3028-441C-3CAE055E9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48" y="2917538"/>
            <a:ext cx="1897884" cy="36200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89B4A5FC-C517-06D9-12D1-E39DBFBD54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2208" y="1704109"/>
            <a:ext cx="295316" cy="247685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8EE2DFE1-D5E4-64AE-F0B7-39FB940D7BE4}"/>
              </a:ext>
            </a:extLst>
          </p:cNvPr>
          <p:cNvSpPr txBox="1"/>
          <p:nvPr/>
        </p:nvSpPr>
        <p:spPr>
          <a:xfrm>
            <a:off x="5427713" y="1650368"/>
            <a:ext cx="399468" cy="307777"/>
          </a:xfrm>
          <a:prstGeom prst="rect">
            <a:avLst/>
          </a:prstGeom>
          <a:solidFill>
            <a:srgbClr val="F7F4EF"/>
          </a:solidFill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15534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0421BA3-46A6-9819-8B86-949CA54CC76A}"/>
              </a:ext>
            </a:extLst>
          </p:cNvPr>
          <p:cNvSpPr txBox="1"/>
          <p:nvPr/>
        </p:nvSpPr>
        <p:spPr>
          <a:xfrm>
            <a:off x="6342113" y="1665495"/>
            <a:ext cx="399468" cy="307777"/>
          </a:xfrm>
          <a:prstGeom prst="rect">
            <a:avLst/>
          </a:prstGeom>
          <a:solidFill>
            <a:srgbClr val="F7F4EF"/>
          </a:solidFill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15534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CE5FE1D-6058-9C85-8280-D8473AA04E49}"/>
              </a:ext>
            </a:extLst>
          </p:cNvPr>
          <p:cNvSpPr txBox="1"/>
          <p:nvPr/>
        </p:nvSpPr>
        <p:spPr>
          <a:xfrm>
            <a:off x="7179926" y="1665495"/>
            <a:ext cx="399468" cy="307777"/>
          </a:xfrm>
          <a:prstGeom prst="rect">
            <a:avLst/>
          </a:prstGeom>
          <a:solidFill>
            <a:srgbClr val="F7F4EF"/>
          </a:solidFill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15534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300" normalizeH="0" baseline="0" noProof="0" dirty="0">
                <a:ln>
                  <a:noFill/>
                </a:ln>
                <a:solidFill>
                  <a:srgbClr val="12B39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PMC RESEARCH ASSISTANT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0" y="22860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" name="Text 2"/>
          <p:cNvSpPr/>
          <p:nvPr/>
        </p:nvSpPr>
        <p:spPr>
          <a:xfrm>
            <a:off x="731520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DEMO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Demo runs live at presentation time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for EGFR-mutated NSCLC?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53128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Cardiotoxicity with checkpoint inhibitors?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melanoma phase II trials?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53128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and treatment response?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713232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a clinical question…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solidFill>
            <a:srgbClr val="FFFFFF">
              <a:alpha val="2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Ask a clinical question to see a live response…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— this interface calls a language model directly. It does not connect to the retrieval index at runtime. For a full demonstration including live retrieval, run the backend locally. Requires an Anthropic API key.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come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Evaluation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35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instead of LLM raters — medical professionals scoring answers gives ground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768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 model with more compute — our results show retrieval matters more, but a bigger model could still help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254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825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11810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interactions, multi-turn dialogue, patient-friendly summaries — beyond single-question Q&amp;A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7530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667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Corpus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59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10k to 4M+ articles — fill the coverage gaps that cause most failures today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7C6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rate answers — a 5-point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answer scored independently by two LLM raters</a:t>
            </a:r>
            <a:endParaRPr lang="en-US" sz="1000" dirty="0"/>
          </a:p>
        </p:txBody>
      </p:sp>
      <p:pic>
        <p:nvPicPr>
          <p:cNvPr id="5" name="Image 0" descr="/sessions/dazzling-happy-pasteur/fig_scoring_sca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234440"/>
            <a:ext cx="77724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8229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raters reduce bias — if they disagree strongly, we know the answer is ambiguous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our 8 questions land in the training data?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 size = share of articles in that medical domain</a:t>
            </a:r>
            <a:endParaRPr lang="en-US" sz="1000" dirty="0"/>
          </a:p>
        </p:txBody>
      </p:sp>
      <p:pic>
        <p:nvPicPr>
          <p:cNvPr id="5" name="Image 0" descr="/sessions/dazzling-happy-pasteur/mnt/Capstone1-text-prediction-for-scientific-papers/plots/evaluation/fig7_cluster_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234440"/>
            <a:ext cx="77724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8229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8 questions sit inside a well-covered cluster — 6 questions test the system at its limits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1884</Words>
  <Application>Microsoft Office PowerPoint</Application>
  <PresentationFormat>Bildschirmpräsentation (16:9)</PresentationFormat>
  <Paragraphs>120</Paragraphs>
  <Slides>9</Slides>
  <Notes>9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Courier New</vt:lpstr>
      <vt:lpstr>Georgia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 — Evaluation</dc:title>
  <dc:subject>PptxGenJS Presentation</dc:subject>
  <dc:creator>Thomas Heger</dc:creator>
  <cp:lastModifiedBy>Th Heger</cp:lastModifiedBy>
  <cp:revision>17</cp:revision>
  <dcterms:created xsi:type="dcterms:W3CDTF">2026-03-23T17:15:12Z</dcterms:created>
  <dcterms:modified xsi:type="dcterms:W3CDTF">2026-03-24T09:30:54Z</dcterms:modified>
</cp:coreProperties>
</file>