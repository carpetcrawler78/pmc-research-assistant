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measured what "good" means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7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36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I — AUTOMATED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470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 quality check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29992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questions had a relevant document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top-5 retrieved results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Keyword vs. hybrid retrieval compared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Recall across all 10 topic clusters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Automated — no human judgment needed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384048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7D1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36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II — QUALITY RATING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8470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quality per question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22402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× 3 = 24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029200" y="29992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answers rated 1–5 by two independent AI judges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54787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8 questions spanning all coverage zones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Rated on accuracy and citation quality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All 3 pipeline variants on every question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Zero errors across all 24 runs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1F5B4F"/>
          </a:solidFill>
          <a:ln w="12700">
            <a:solidFill>
              <a:srgbClr val="1F5B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36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questions × 3 pipeline variants = 24 answers, each rated independently by ChatGPT and Claude.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CORPUS COVERAGE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every question is equal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560320" y="1792224"/>
            <a:ext cx="1664208" cy="1591056"/>
          </a:xfrm>
          <a:prstGeom prst="ellipse">
            <a:avLst/>
          </a:prstGeom>
          <a:solidFill>
            <a:srgbClr val="1F5B4F">
              <a:alpha val="12000"/>
            </a:srgbClr>
          </a:solidFill>
          <a:ln w="6350">
            <a:solidFill>
              <a:srgbClr val="D7D1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1444752"/>
            <a:ext cx="1591056" cy="1517904"/>
          </a:xfrm>
          <a:prstGeom prst="ellipse">
            <a:avLst/>
          </a:prstGeom>
          <a:solidFill>
            <a:srgbClr val="1F5B4F">
              <a:alpha val="12000"/>
            </a:srgbClr>
          </a:solidFill>
          <a:ln w="6350">
            <a:solidFill>
              <a:srgbClr val="D7D1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2615184"/>
            <a:ext cx="1554480" cy="1481328"/>
          </a:xfrm>
          <a:prstGeom prst="ellipse">
            <a:avLst/>
          </a:prstGeom>
          <a:solidFill>
            <a:srgbClr val="1F5B4F">
              <a:alpha val="12000"/>
            </a:srgbClr>
          </a:solidFill>
          <a:ln w="6350">
            <a:solidFill>
              <a:srgbClr val="D7D1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066544"/>
            <a:ext cx="1115568" cy="1060704"/>
          </a:xfrm>
          <a:prstGeom prst="ellipse">
            <a:avLst/>
          </a:prstGeom>
          <a:solidFill>
            <a:srgbClr val="547D73">
              <a:alpha val="14000"/>
            </a:srgbClr>
          </a:solidFill>
          <a:ln w="6350">
            <a:solidFill>
              <a:srgbClr val="D7D1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13048" y="1755648"/>
            <a:ext cx="768096" cy="731520"/>
          </a:xfrm>
          <a:prstGeom prst="ellipse">
            <a:avLst/>
          </a:prstGeom>
          <a:solidFill>
            <a:srgbClr val="93A79F">
              <a:alpha val="16000"/>
            </a:srgbClr>
          </a:solidFill>
          <a:ln w="6350">
            <a:solidFill>
              <a:srgbClr val="D7D1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57016" y="2953512"/>
            <a:ext cx="585216" cy="548640"/>
          </a:xfrm>
          <a:prstGeom prst="ellipse">
            <a:avLst/>
          </a:prstGeom>
          <a:solidFill>
            <a:srgbClr val="93A79F">
              <a:alpha val="16000"/>
            </a:srgbClr>
          </a:solidFill>
          <a:ln w="6350">
            <a:solidFill>
              <a:srgbClr val="D7D1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2980944"/>
            <a:ext cx="749808" cy="0"/>
          </a:xfrm>
          <a:prstGeom prst="line">
            <a:avLst/>
          </a:prstGeom>
          <a:noFill/>
          <a:ln w="15240">
            <a:solidFill>
              <a:srgbClr val="C2BDB4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12648" y="3657600"/>
            <a:ext cx="603504" cy="-548640"/>
          </a:xfrm>
          <a:prstGeom prst="line">
            <a:avLst/>
          </a:prstGeom>
          <a:noFill/>
          <a:ln w="15240">
            <a:solidFill>
              <a:srgbClr val="C2BDB4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587752" y="2011680"/>
            <a:ext cx="402336" cy="402336"/>
          </a:xfrm>
          <a:prstGeom prst="ellipse">
            <a:avLst/>
          </a:prstGeom>
          <a:solidFill>
            <a:srgbClr val="163F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53512" y="2267712"/>
            <a:ext cx="402336" cy="402336"/>
          </a:xfrm>
          <a:prstGeom prst="ellipse">
            <a:avLst/>
          </a:prstGeom>
          <a:solidFill>
            <a:srgbClr val="163F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99032" y="2249424"/>
            <a:ext cx="402336" cy="402336"/>
          </a:xfrm>
          <a:prstGeom prst="ellipse">
            <a:avLst/>
          </a:prstGeom>
          <a:solidFill>
            <a:srgbClr val="163F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5960" y="2212848"/>
            <a:ext cx="402336" cy="402336"/>
          </a:xfrm>
          <a:prstGeom prst="ellipse">
            <a:avLst/>
          </a:prstGeom>
          <a:solidFill>
            <a:srgbClr val="365B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75304" y="1956816"/>
            <a:ext cx="402336" cy="402336"/>
          </a:xfrm>
          <a:prstGeom prst="ellipse">
            <a:avLst/>
          </a:prstGeom>
          <a:solidFill>
            <a:srgbClr val="5F75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10712" y="2871216"/>
            <a:ext cx="402336" cy="402336"/>
          </a:xfrm>
          <a:prstGeom prst="ellipse">
            <a:avLst/>
          </a:prstGeom>
          <a:solidFill>
            <a:srgbClr val="5F75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" y="3547872"/>
            <a:ext cx="402336" cy="402336"/>
          </a:xfrm>
          <a:prstGeom prst="ellipse">
            <a:avLst/>
          </a:prstGeom>
          <a:solidFill>
            <a:srgbClr val="7F8F8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" y="2798064"/>
            <a:ext cx="402336" cy="402336"/>
          </a:xfrm>
          <a:prstGeom prst="ellipse">
            <a:avLst/>
          </a:prstGeom>
          <a:solidFill>
            <a:srgbClr val="7F8F8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2157984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Oncology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37360" y="1792224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COVID-19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0" y="296265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Epidemiology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88720" y="2322576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65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Dementia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65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76472" y="201168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ICU 5%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02152" y="309067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Surgery 3%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1480" y="448056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bubble = research topic  ·  size = share of corpus  ·  dot colour = coverage match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15000" y="1417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 ZONES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15000" y="1837944"/>
            <a:ext cx="256032" cy="256032"/>
          </a:xfrm>
          <a:prstGeom prst="ellipse">
            <a:avLst/>
          </a:prstGeom>
          <a:solidFill>
            <a:srgbClr val="163F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62472" y="1783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WELL COVERED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62472" y="202082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questions — inside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major topic clusters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15000" y="2551176"/>
            <a:ext cx="256032" cy="256032"/>
          </a:xfrm>
          <a:prstGeom prst="ellipse">
            <a:avLst/>
          </a:prstGeom>
          <a:solidFill>
            <a:srgbClr val="365B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62472" y="2496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 MATCH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62472" y="273405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question — between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clusters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15000" y="3264408"/>
            <a:ext cx="256032" cy="256032"/>
          </a:xfrm>
          <a:prstGeom prst="ellipse">
            <a:avLst/>
          </a:prstGeom>
          <a:solidFill>
            <a:srgbClr val="5F75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62472" y="32095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SPARSE MATCH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62472" y="344728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questions — near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clusters only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15000" y="3977640"/>
            <a:ext cx="256032" cy="256032"/>
          </a:xfrm>
          <a:prstGeom prst="ellipse">
            <a:avLst/>
          </a:prstGeom>
          <a:solidFill>
            <a:srgbClr val="7F8F8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62472" y="39227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OUTSIDE CORPUS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62472" y="41605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questions — 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matching cluster at all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23560" y="4727448"/>
            <a:ext cx="3337560" cy="566928"/>
          </a:xfrm>
          <a:prstGeom prst="rect">
            <a:avLst/>
          </a:prstGeom>
          <a:solidFill>
            <a:srgbClr val="1F5B4F">
              <a:alpha val="9000"/>
            </a:srgbClr>
          </a:solidFill>
          <a:ln w="19050">
            <a:solidFill>
              <a:srgbClr val="1F5B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472744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question + poorly matched corpus → weaker answer, regardless of model size.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1F5B4F"/>
          </a:solidFill>
          <a:ln w="12700">
            <a:solidFill>
              <a:srgbClr val="1F5B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736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 outside the corpus are harder to answer well — for every model, every time.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retrieval beats a bigger model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25603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7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447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— BASELINE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48256" y="142646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 /5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7007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Keywords only (BM25)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 3.1 · 8B model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40864"/>
            <a:ext cx="2560320" cy="914400"/>
          </a:xfrm>
          <a:prstGeom prst="rect">
            <a:avLst/>
          </a:prstGeom>
          <a:solidFill>
            <a:srgbClr val="F0F5F3"/>
          </a:solidFill>
          <a:ln w="25400">
            <a:solidFill>
              <a:srgbClr val="1F5B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2185416"/>
            <a:ext cx="1024128" cy="256032"/>
          </a:xfrm>
          <a:prstGeom prst="rect">
            <a:avLst/>
          </a:prstGeom>
          <a:solidFill>
            <a:srgbClr val="1F5B4F"/>
          </a:solidFill>
          <a:ln w="12700">
            <a:solidFill>
              <a:srgbClr val="1F5B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218541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 WINNER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43230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— HYBRID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48256" y="241401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3.6 /5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268833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Keywords + Semantic 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 3.1 · 8B model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28416"/>
            <a:ext cx="25603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7D1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1985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 — BIG MODEL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48256" y="340156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 /5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36758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Keywords + Semantic 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 3.3 · 70B 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135331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QUALITY BY COVERAGE ZONE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1609344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darker = stronger answers on average  ·  rows = coverage zone, not individual questions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57800" y="186537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BM25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28232" y="186537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 8B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98664" y="186537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 70B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55848" y="2286000"/>
            <a:ext cx="237744" cy="237744"/>
          </a:xfrm>
          <a:prstGeom prst="ellipse">
            <a:avLst/>
          </a:prstGeom>
          <a:solidFill>
            <a:srgbClr val="163F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66744" y="215798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WELL COVERED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66744" y="241401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questions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94376" y="2212848"/>
            <a:ext cx="1024128" cy="402336"/>
          </a:xfrm>
          <a:prstGeom prst="rect">
            <a:avLst/>
          </a:prstGeom>
          <a:solidFill>
            <a:srgbClr val="8FA89F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64808" y="2212848"/>
            <a:ext cx="1024128" cy="402336"/>
          </a:xfrm>
          <a:prstGeom prst="rect">
            <a:avLst/>
          </a:prstGeom>
          <a:solidFill>
            <a:srgbClr val="1F5B4F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35240" y="2212848"/>
            <a:ext cx="1024128" cy="402336"/>
          </a:xfrm>
          <a:prstGeom prst="rect">
            <a:avLst/>
          </a:prstGeom>
          <a:solidFill>
            <a:srgbClr val="1F5B4F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55848" y="2944368"/>
            <a:ext cx="237744" cy="237744"/>
          </a:xfrm>
          <a:prstGeom prst="ellipse">
            <a:avLst/>
          </a:prstGeom>
          <a:solidFill>
            <a:srgbClr val="365B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66744" y="28163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 MATCH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66744" y="307238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question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294376" y="2871216"/>
            <a:ext cx="1024128" cy="402336"/>
          </a:xfrm>
          <a:prstGeom prst="rect">
            <a:avLst/>
          </a:prstGeom>
          <a:solidFill>
            <a:srgbClr val="D9DFDC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64808" y="2871216"/>
            <a:ext cx="1024128" cy="402336"/>
          </a:xfrm>
          <a:prstGeom prst="rect">
            <a:avLst/>
          </a:prstGeom>
          <a:solidFill>
            <a:srgbClr val="D9DFDC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35240" y="2871216"/>
            <a:ext cx="1024128" cy="402336"/>
          </a:xfrm>
          <a:prstGeom prst="rect">
            <a:avLst/>
          </a:prstGeom>
          <a:solidFill>
            <a:srgbClr val="8FA89F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55848" y="3602736"/>
            <a:ext cx="237744" cy="237744"/>
          </a:xfrm>
          <a:prstGeom prst="ellipse">
            <a:avLst/>
          </a:prstGeom>
          <a:solidFill>
            <a:srgbClr val="5F75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66744" y="34747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SPARSE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66744" y="37307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questions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294376" y="3529584"/>
            <a:ext cx="1024128" cy="402336"/>
          </a:xfrm>
          <a:prstGeom prst="rect">
            <a:avLst/>
          </a:prstGeom>
          <a:solidFill>
            <a:srgbClr val="8FA89F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64808" y="3529584"/>
            <a:ext cx="1024128" cy="402336"/>
          </a:xfrm>
          <a:prstGeom prst="rect">
            <a:avLst/>
          </a:prstGeom>
          <a:solidFill>
            <a:srgbClr val="8FA89F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35240" y="3529584"/>
            <a:ext cx="1024128" cy="402336"/>
          </a:xfrm>
          <a:prstGeom prst="rect">
            <a:avLst/>
          </a:prstGeom>
          <a:solidFill>
            <a:srgbClr val="D9DFDC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55848" y="4261104"/>
            <a:ext cx="237744" cy="237744"/>
          </a:xfrm>
          <a:prstGeom prst="ellipse">
            <a:avLst/>
          </a:prstGeom>
          <a:solidFill>
            <a:srgbClr val="7F8F8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66744" y="413308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OUTSIDE CORPUS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66744" y="438912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questions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94376" y="4187952"/>
            <a:ext cx="1024128" cy="402336"/>
          </a:xfrm>
          <a:prstGeom prst="rect">
            <a:avLst/>
          </a:prstGeom>
          <a:solidFill>
            <a:srgbClr val="D9DFDC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64808" y="4187952"/>
            <a:ext cx="1024128" cy="402336"/>
          </a:xfrm>
          <a:prstGeom prst="rect">
            <a:avLst/>
          </a:prstGeom>
          <a:solidFill>
            <a:srgbClr val="8FA89F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35240" y="4187952"/>
            <a:ext cx="1024128" cy="402336"/>
          </a:xfrm>
          <a:prstGeom prst="rect">
            <a:avLst/>
          </a:prstGeom>
          <a:solidFill>
            <a:srgbClr val="D9DFDC"/>
          </a:solidFill>
          <a:ln w="19050">
            <a:solidFill>
              <a:srgbClr val="F7F4E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37560" y="4956048"/>
            <a:ext cx="5577840" cy="566928"/>
          </a:xfrm>
          <a:prstGeom prst="rect">
            <a:avLst/>
          </a:prstGeom>
          <a:solidFill>
            <a:srgbClr val="1F5B4F">
              <a:alpha val="9000"/>
            </a:srgbClr>
          </a:solidFill>
          <a:ln w="19050">
            <a:solidFill>
              <a:srgbClr val="1F5B4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0" y="495604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5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wins at 3.6/5.  The 70B model does not outperform the 8B model.  Coverage zone predicts answer quality better than model size.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1F5B4F"/>
          </a:solidFill>
          <a:ln w="12700">
            <a:solidFill>
              <a:srgbClr val="1F5B4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736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matters most is whether the corpus actually contains relevant articles for the question asked.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5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system actually produces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971800"/>
          </a:xfrm>
          <a:prstGeom prst="rect">
            <a:avLst/>
          </a:prstGeom>
          <a:solidFill>
            <a:srgbClr val="265F53"/>
          </a:solidFill>
          <a:ln w="12700">
            <a:solidFill>
              <a:srgbClr val="3A7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1554480" cy="256032"/>
          </a:xfrm>
          <a:prstGeom prst="rect">
            <a:avLst/>
          </a:prstGeom>
          <a:solidFill>
            <a:srgbClr val="163F38"/>
          </a:solidFill>
          <a:ln w="12700">
            <a:solidFill>
              <a:srgbClr val="163F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WELL COVERED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84708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4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"Does a specific protein marker predict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8E4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 to treatment in cancer patients?"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5420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RETRIEVED PAPERS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79806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Protein marker score in tumour inhibitor studies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0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Genomic correlates of first-line treatment response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0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Biomarker comparison across sample types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6210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QUALITY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84048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645920" y="39502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5.0   ·   Strong corpus match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3931920" cy="2971800"/>
          </a:xfrm>
          <a:prstGeom prst="rect">
            <a:avLst/>
          </a:prstGeom>
          <a:solidFill>
            <a:srgbClr val="265F53"/>
          </a:solidFill>
          <a:ln w="12700">
            <a:solidFill>
              <a:srgbClr val="3A7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508760"/>
            <a:ext cx="1554480" cy="256032"/>
          </a:xfrm>
          <a:prstGeom prst="rect">
            <a:avLst/>
          </a:prstGeom>
          <a:solidFill>
            <a:srgbClr val="7F8F89"/>
          </a:solidFill>
          <a:ln w="12700">
            <a:solidFill>
              <a:srgbClr val="7F8F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508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OUTSIDE CORPUS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2040" y="184708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4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outcomes are expected after surgical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8E4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 of a rare eye condition?"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5420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RETRIEVED PAPERS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79806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Risk factors for surgical graft failure (global survey)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0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Corneal morphology changes after non-surgical treatment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0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Factors affecting corneal aberrations post-surgery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6210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QUALITY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384048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943600" y="39502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5.0   ·   No matching corpus cluster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Interactive demo: presentations/final/demo_app.html  —  all 8 questions with actual system outputs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goes from here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416052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D7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6304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9202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Re-embed with clean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223113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text was contaminating the embeddings. Re-running the index with abstract + introduction only takes ~30 min on a cloud GPU — the single highest-leverage fix.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64608" y="1389888"/>
            <a:ext cx="416052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D7D1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46304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 corpus coverage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23113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questions scored low simply because those topics are absent. Adding articles from those areas directly improves answers — no model changes needed.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416052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D7D1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980944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1792" y="34381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expert evaluation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" y="37490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AI-judge ratings are useful proxies. The next step: domain experts rate the same answers and test whether the system changes real decisions.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64608" y="2907792"/>
            <a:ext cx="416052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D7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980944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029200" y="34381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as a proper tool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7490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architecture is production-ready. Capstone II will add a proper interface, citation transparency, and evaluation on a much wider question set.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1F5B4F"/>
          </a:solidFill>
          <a:ln w="12700">
            <a:solidFill>
              <a:srgbClr val="1F5B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36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Cleaner embeddings and a broader corpus are the fastest path to improvement — before any model upgrades.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Q&amp;A Evaluation — Capstone I</dc:title>
  <dc:subject>PptxGenJS Presentation</dc:subject>
  <dc:creator>PptxGenJS</dc:creator>
  <cp:lastModifiedBy>PptxGenJS</cp:lastModifiedBy>
  <cp:revision>1</cp:revision>
  <dcterms:created xsi:type="dcterms:W3CDTF">2026-03-23T23:09:29Z</dcterms:created>
  <dcterms:modified xsi:type="dcterms:W3CDTF">2026-03-23T23:09:29Z</dcterms:modified>
</cp:coreProperties>
</file>