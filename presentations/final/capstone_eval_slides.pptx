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measured what "good" means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4048" y="1389888"/>
            <a:ext cx="35661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389888"/>
            <a:ext cx="3566160" cy="45720"/>
          </a:xfrm>
          <a:prstGeom prst="rect">
            <a:avLst/>
          </a:prstGeom>
          <a:solidFill>
            <a:srgbClr val="027070"/>
          </a:solidFill>
          <a:ln w="12700">
            <a:solidFill>
              <a:srgbClr val="027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PubMedQA Benchmark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3236976" cy="0"/>
          </a:xfrm>
          <a:prstGeom prst="line">
            <a:avLst/>
          </a:prstGeom>
          <a:noFill/>
          <a:ln w="10160">
            <a:solidFill>
              <a:srgbClr val="D9DF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2139696"/>
            <a:ext cx="3566160" cy="387706"/>
          </a:xfrm>
          <a:prstGeom prst="rect">
            <a:avLst/>
          </a:prstGeom>
          <a:solidFill>
            <a:srgbClr val="EEF7F7"/>
          </a:solidFill>
          <a:ln w="12700">
            <a:solidFill>
              <a:srgbClr val="EEF7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94560"/>
            <a:ext cx="10241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2194560"/>
            <a:ext cx="213969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 / No / Maybe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582266"/>
            <a:ext cx="10241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2582266"/>
            <a:ext cx="213969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" y="2915107"/>
            <a:ext cx="3566160" cy="387706"/>
          </a:xfrm>
          <a:prstGeom prst="rect">
            <a:avLst/>
          </a:prstGeom>
          <a:solidFill>
            <a:srgbClr val="EEF7F7"/>
          </a:solidFill>
          <a:ln w="12700">
            <a:solidFill>
              <a:srgbClr val="EEF7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69971"/>
            <a:ext cx="10241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2969971"/>
            <a:ext cx="213969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357677"/>
            <a:ext cx="10241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45920" y="3357677"/>
            <a:ext cx="213969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  (standard)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4048" y="3690518"/>
            <a:ext cx="3566160" cy="387706"/>
          </a:xfrm>
          <a:prstGeom prst="rect">
            <a:avLst/>
          </a:prstGeom>
          <a:solidFill>
            <a:srgbClr val="EEF7F7"/>
          </a:solidFill>
          <a:ln w="12700">
            <a:solidFill>
              <a:srgbClr val="EEF7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45382"/>
            <a:ext cx="10241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Difficulty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3745382"/>
            <a:ext cx="213969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93792" y="1389888"/>
            <a:ext cx="35661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93792" y="1389888"/>
            <a:ext cx="3566160" cy="45720"/>
          </a:xfrm>
          <a:prstGeom prst="rect">
            <a:avLst/>
          </a:prstGeom>
          <a:solidFill>
            <a:srgbClr val="B87000"/>
          </a:solidFill>
          <a:ln w="12700">
            <a:solidFill>
              <a:srgbClr val="B87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58384" y="148132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II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58384" y="1719072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Clinical Questions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358384" y="2084832"/>
            <a:ext cx="3236976" cy="0"/>
          </a:xfrm>
          <a:prstGeom prst="line">
            <a:avLst/>
          </a:prstGeom>
          <a:noFill/>
          <a:ln w="10160">
            <a:solidFill>
              <a:srgbClr val="D9DF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93792" y="2139696"/>
            <a:ext cx="3566160" cy="387706"/>
          </a:xfrm>
          <a:prstGeom prst="rect">
            <a:avLst/>
          </a:prstGeom>
          <a:solidFill>
            <a:srgbClr val="FDF8EE"/>
          </a:solidFill>
          <a:ln w="12700">
            <a:solidFill>
              <a:srgbClr val="FDF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58384" y="2194560"/>
            <a:ext cx="10241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55664" y="2194560"/>
            <a:ext cx="213969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free-text answer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58384" y="2582266"/>
            <a:ext cx="10241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55664" y="2582266"/>
            <a:ext cx="213969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paragraph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93792" y="2915107"/>
            <a:ext cx="3566160" cy="387706"/>
          </a:xfrm>
          <a:prstGeom prst="rect">
            <a:avLst/>
          </a:prstGeom>
          <a:solidFill>
            <a:srgbClr val="FDF8EE"/>
          </a:solidFill>
          <a:ln w="12700">
            <a:solidFill>
              <a:srgbClr val="FDF8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58384" y="2969971"/>
            <a:ext cx="10241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55664" y="2969971"/>
            <a:ext cx="213969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LLM raters  (1–5)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58384" y="3357677"/>
            <a:ext cx="10241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55664" y="3357677"/>
            <a:ext cx="213969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(custom)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93792" y="3690518"/>
            <a:ext cx="3566160" cy="387706"/>
          </a:xfrm>
          <a:prstGeom prst="rect">
            <a:avLst/>
          </a:prstGeom>
          <a:solidFill>
            <a:srgbClr val="FDF8EE"/>
          </a:solidFill>
          <a:ln w="12700">
            <a:solidFill>
              <a:srgbClr val="FDF8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58384" y="3745382"/>
            <a:ext cx="10241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Difficulty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55664" y="3745382"/>
            <a:ext cx="213969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078224" y="2852928"/>
            <a:ext cx="987552" cy="0"/>
          </a:xfrm>
          <a:prstGeom prst="line">
            <a:avLst/>
          </a:prstGeom>
          <a:noFill/>
          <a:ln w="19050">
            <a:solidFill>
              <a:srgbClr val="8FA89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19472" y="2752344"/>
            <a:ext cx="146304" cy="100584"/>
          </a:xfrm>
          <a:prstGeom prst="line">
            <a:avLst/>
          </a:prstGeom>
          <a:noFill/>
          <a:ln w="19050">
            <a:solidFill>
              <a:srgbClr val="8FA89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19472" y="2953512"/>
            <a:ext cx="146304" cy="-100584"/>
          </a:xfrm>
          <a:prstGeom prst="line">
            <a:avLst/>
          </a:prstGeom>
          <a:noFill/>
          <a:ln w="19050">
            <a:solidFill>
              <a:srgbClr val="8FA89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25786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1F5B4F"/>
          </a:solidFill>
          <a:ln w="12700">
            <a:solidFill>
              <a:srgbClr val="1F5B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I: retrieval recall.  Phase II: answer quality (1–5).  24 runs, zero errors.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CORPUS COVERAGE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every question is equal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560320" y="1792224"/>
            <a:ext cx="1664208" cy="1591056"/>
          </a:xfrm>
          <a:prstGeom prst="ellipse">
            <a:avLst/>
          </a:prstGeom>
          <a:solidFill>
            <a:srgbClr val="5B7FA8">
              <a:alpha val="12000"/>
            </a:srgbClr>
          </a:solidFill>
          <a:ln w="6350">
            <a:solidFill>
              <a:srgbClr val="9ABD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1444752"/>
            <a:ext cx="1591056" cy="1517904"/>
          </a:xfrm>
          <a:prstGeom prst="ellipse">
            <a:avLst/>
          </a:prstGeom>
          <a:solidFill>
            <a:srgbClr val="5B7FA8">
              <a:alpha val="12000"/>
            </a:srgbClr>
          </a:solidFill>
          <a:ln w="6350">
            <a:solidFill>
              <a:srgbClr val="9ABD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2615184"/>
            <a:ext cx="1554480" cy="1481328"/>
          </a:xfrm>
          <a:prstGeom prst="ellipse">
            <a:avLst/>
          </a:prstGeom>
          <a:solidFill>
            <a:srgbClr val="5B7FA8">
              <a:alpha val="12000"/>
            </a:srgbClr>
          </a:solidFill>
          <a:ln w="6350">
            <a:solidFill>
              <a:srgbClr val="9ABD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066544"/>
            <a:ext cx="1115568" cy="1060704"/>
          </a:xfrm>
          <a:prstGeom prst="ellipse">
            <a:avLst/>
          </a:prstGeom>
          <a:solidFill>
            <a:srgbClr val="5B7FA8">
              <a:alpha val="17000"/>
            </a:srgbClr>
          </a:solidFill>
          <a:ln w="6350">
            <a:solidFill>
              <a:srgbClr val="9ABD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13048" y="1755648"/>
            <a:ext cx="768096" cy="731520"/>
          </a:xfrm>
          <a:prstGeom prst="ellipse">
            <a:avLst/>
          </a:prstGeom>
          <a:solidFill>
            <a:srgbClr val="5B7FA8">
              <a:alpha val="22000"/>
            </a:srgbClr>
          </a:solidFill>
          <a:ln w="6350">
            <a:solidFill>
              <a:srgbClr val="9ABD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57016" y="2953512"/>
            <a:ext cx="585216" cy="548640"/>
          </a:xfrm>
          <a:prstGeom prst="ellipse">
            <a:avLst/>
          </a:prstGeom>
          <a:solidFill>
            <a:srgbClr val="5B7FA8">
              <a:alpha val="22000"/>
            </a:srgbClr>
          </a:solidFill>
          <a:ln w="6350">
            <a:solidFill>
              <a:srgbClr val="9ABD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2980944"/>
            <a:ext cx="749808" cy="0"/>
          </a:xfrm>
          <a:prstGeom prst="line">
            <a:avLst/>
          </a:prstGeom>
          <a:noFill/>
          <a:ln w="15240">
            <a:solidFill>
              <a:srgbClr val="C2BDB4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12648" y="3657600"/>
            <a:ext cx="603504" cy="-548640"/>
          </a:xfrm>
          <a:prstGeom prst="line">
            <a:avLst/>
          </a:prstGeom>
          <a:noFill/>
          <a:ln w="15240">
            <a:solidFill>
              <a:srgbClr val="C2BDB4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587752" y="2011680"/>
            <a:ext cx="402336" cy="402336"/>
          </a:xfrm>
          <a:prstGeom prst="ellipse">
            <a:avLst/>
          </a:prstGeom>
          <a:solidFill>
            <a:srgbClr val="163F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53512" y="2267712"/>
            <a:ext cx="402336" cy="402336"/>
          </a:xfrm>
          <a:prstGeom prst="ellipse">
            <a:avLst/>
          </a:prstGeom>
          <a:solidFill>
            <a:srgbClr val="163F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99032" y="2249424"/>
            <a:ext cx="402336" cy="402336"/>
          </a:xfrm>
          <a:prstGeom prst="ellipse">
            <a:avLst/>
          </a:prstGeom>
          <a:solidFill>
            <a:srgbClr val="163F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2212848"/>
            <a:ext cx="402336" cy="402336"/>
          </a:xfrm>
          <a:prstGeom prst="ellipse">
            <a:avLst/>
          </a:prstGeom>
          <a:solidFill>
            <a:srgbClr val="365B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75304" y="1956816"/>
            <a:ext cx="402336" cy="402336"/>
          </a:xfrm>
          <a:prstGeom prst="ellipse">
            <a:avLst/>
          </a:prstGeom>
          <a:solidFill>
            <a:srgbClr val="5F75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10712" y="2871216"/>
            <a:ext cx="402336" cy="402336"/>
          </a:xfrm>
          <a:prstGeom prst="ellipse">
            <a:avLst/>
          </a:prstGeom>
          <a:solidFill>
            <a:srgbClr val="5F75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" y="3547872"/>
            <a:ext cx="402336" cy="402336"/>
          </a:xfrm>
          <a:prstGeom prst="ellipse">
            <a:avLst/>
          </a:prstGeom>
          <a:solidFill>
            <a:srgbClr val="7F8F8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" y="2798064"/>
            <a:ext cx="402336" cy="402336"/>
          </a:xfrm>
          <a:prstGeom prst="ellipse">
            <a:avLst/>
          </a:prstGeom>
          <a:solidFill>
            <a:srgbClr val="7F8F8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157984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Oncology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37360" y="1792224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COVID-19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296265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Epidemiology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2322576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Dementia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76472" y="20116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ICU 5%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02152" y="309067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Surgery 3%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480" y="448056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blue-grey bubble = research topic cluster  ·  green dot = coverage zone of each question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15000" y="1417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 ZONES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15000" y="1837944"/>
            <a:ext cx="256032" cy="256032"/>
          </a:xfrm>
          <a:prstGeom prst="ellipse">
            <a:avLst/>
          </a:prstGeom>
          <a:solidFill>
            <a:srgbClr val="163F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62472" y="1783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WELL COVERED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62472" y="202082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questions — inside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major topic clusters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15000" y="2551176"/>
            <a:ext cx="256032" cy="256032"/>
          </a:xfrm>
          <a:prstGeom prst="ellipse">
            <a:avLst/>
          </a:prstGeom>
          <a:solidFill>
            <a:srgbClr val="365B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62472" y="2496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MATCH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62472" y="273405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question — between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clusters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15000" y="3264408"/>
            <a:ext cx="256032" cy="256032"/>
          </a:xfrm>
          <a:prstGeom prst="ellipse">
            <a:avLst/>
          </a:prstGeom>
          <a:solidFill>
            <a:srgbClr val="5F75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62472" y="3209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 MATCH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62472" y="34472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questions — near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clusters only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15000" y="3977640"/>
            <a:ext cx="256032" cy="256032"/>
          </a:xfrm>
          <a:prstGeom prst="ellipse">
            <a:avLst/>
          </a:prstGeom>
          <a:solidFill>
            <a:srgbClr val="7F8F8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62472" y="39227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OUTSIDE CORPUS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62472" y="41605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questions — 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matching cluster at all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23560" y="4727448"/>
            <a:ext cx="3337560" cy="566928"/>
          </a:xfrm>
          <a:prstGeom prst="rect">
            <a:avLst/>
          </a:prstGeom>
          <a:solidFill>
            <a:srgbClr val="1F5B4F">
              <a:alpha val="9000"/>
            </a:srgbClr>
          </a:solidFill>
          <a:ln w="19050">
            <a:solidFill>
              <a:srgbClr val="1F5B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472744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question + poorly matched corpus → weaker answer, regardless of model size.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1F5B4F"/>
          </a:solidFill>
          <a:ln w="12700">
            <a:solidFill>
              <a:srgbClr val="1F5B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 outside the corpus are harder to answer well — for every model, every time.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retrieval beats a bigger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25603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D7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910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 — BASELINE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48256" y="15727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 /5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31136"/>
            <a:ext cx="2560320" cy="749808"/>
          </a:xfrm>
          <a:prstGeom prst="rect">
            <a:avLst/>
          </a:prstGeom>
          <a:solidFill>
            <a:srgbClr val="F0F5F3"/>
          </a:solidFill>
          <a:ln w="25400">
            <a:solidFill>
              <a:srgbClr val="1F5B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2075688"/>
            <a:ext cx="1024128" cy="256032"/>
          </a:xfrm>
          <a:prstGeom prst="rect">
            <a:avLst/>
          </a:prstGeom>
          <a:solidFill>
            <a:srgbClr val="1F5B4F"/>
          </a:solidFill>
          <a:ln w="12700">
            <a:solidFill>
              <a:srgbClr val="1F5B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07568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 WINNER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I2 — HYBRID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48256" y="245059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3.6 /5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25603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D7D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467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I3 — BIG MODEL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48256" y="332841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 /5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135331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QUALITY BY COVERAGE ZONE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57800" y="164592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8232" y="164592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98664" y="164592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55848" y="2048256"/>
            <a:ext cx="237744" cy="237744"/>
          </a:xfrm>
          <a:prstGeom prst="ellipse">
            <a:avLst/>
          </a:prstGeom>
          <a:solidFill>
            <a:srgbClr val="163F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66744" y="19751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WELL COVERED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66744" y="22128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questions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94376" y="1975104"/>
            <a:ext cx="1024128" cy="420624"/>
          </a:xfrm>
          <a:prstGeom prst="rect">
            <a:avLst/>
          </a:prstGeom>
          <a:solidFill>
            <a:srgbClr val="8FA89F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4808" y="1975104"/>
            <a:ext cx="1024128" cy="420624"/>
          </a:xfrm>
          <a:prstGeom prst="rect">
            <a:avLst/>
          </a:prstGeom>
          <a:solidFill>
            <a:srgbClr val="1F5B4F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1975104"/>
            <a:ext cx="1024128" cy="420624"/>
          </a:xfrm>
          <a:prstGeom prst="rect">
            <a:avLst/>
          </a:prstGeom>
          <a:solidFill>
            <a:srgbClr val="1F5B4F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55848" y="2578608"/>
            <a:ext cx="237744" cy="237744"/>
          </a:xfrm>
          <a:prstGeom prst="ellipse">
            <a:avLst/>
          </a:prstGeom>
          <a:solidFill>
            <a:srgbClr val="365B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66744" y="25054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MATCH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66744" y="27432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question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94376" y="2505456"/>
            <a:ext cx="1024128" cy="420624"/>
          </a:xfrm>
          <a:prstGeom prst="rect">
            <a:avLst/>
          </a:prstGeom>
          <a:solidFill>
            <a:srgbClr val="D9DFDC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64808" y="2505456"/>
            <a:ext cx="1024128" cy="420624"/>
          </a:xfrm>
          <a:prstGeom prst="rect">
            <a:avLst/>
          </a:prstGeom>
          <a:solidFill>
            <a:srgbClr val="D9DFDC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2505456"/>
            <a:ext cx="1024128" cy="420624"/>
          </a:xfrm>
          <a:prstGeom prst="rect">
            <a:avLst/>
          </a:prstGeom>
          <a:solidFill>
            <a:srgbClr val="8FA89F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55848" y="3108960"/>
            <a:ext cx="237744" cy="237744"/>
          </a:xfrm>
          <a:prstGeom prst="ellipse">
            <a:avLst/>
          </a:prstGeom>
          <a:solidFill>
            <a:srgbClr val="5F75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66744" y="30358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66744" y="32735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questions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94376" y="3035808"/>
            <a:ext cx="1024128" cy="420624"/>
          </a:xfrm>
          <a:prstGeom prst="rect">
            <a:avLst/>
          </a:prstGeom>
          <a:solidFill>
            <a:srgbClr val="8FA89F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64808" y="3035808"/>
            <a:ext cx="1024128" cy="420624"/>
          </a:xfrm>
          <a:prstGeom prst="rect">
            <a:avLst/>
          </a:prstGeom>
          <a:solidFill>
            <a:srgbClr val="8FA89F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35240" y="3035808"/>
            <a:ext cx="1024128" cy="420624"/>
          </a:xfrm>
          <a:prstGeom prst="rect">
            <a:avLst/>
          </a:prstGeom>
          <a:solidFill>
            <a:srgbClr val="D9DFDC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55848" y="3639312"/>
            <a:ext cx="237744" cy="237744"/>
          </a:xfrm>
          <a:prstGeom prst="ellipse">
            <a:avLst/>
          </a:prstGeom>
          <a:solidFill>
            <a:srgbClr val="7F8F8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66744" y="35661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OUTSIDE CORPUS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66744" y="380390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questions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94376" y="3566160"/>
            <a:ext cx="1024128" cy="420624"/>
          </a:xfrm>
          <a:prstGeom prst="rect">
            <a:avLst/>
          </a:prstGeom>
          <a:solidFill>
            <a:srgbClr val="D9DFDC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64808" y="3566160"/>
            <a:ext cx="1024128" cy="420624"/>
          </a:xfrm>
          <a:prstGeom prst="rect">
            <a:avLst/>
          </a:prstGeom>
          <a:solidFill>
            <a:srgbClr val="8FA89F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35240" y="3566160"/>
            <a:ext cx="1024128" cy="420624"/>
          </a:xfrm>
          <a:prstGeom prst="rect">
            <a:avLst/>
          </a:prstGeom>
          <a:solidFill>
            <a:srgbClr val="D9DFDC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37560" y="4114800"/>
            <a:ext cx="5577840" cy="585216"/>
          </a:xfrm>
          <a:prstGeom prst="rect">
            <a:avLst/>
          </a:prstGeom>
          <a:solidFill>
            <a:srgbClr val="1F5B4F">
              <a:alpha val="9000"/>
            </a:srgbClr>
          </a:solidFill>
          <a:ln w="19050">
            <a:solidFill>
              <a:srgbClr val="1F5B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0" y="4114800"/>
            <a:ext cx="5394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I3 gains an edge only in WELL COVERED zones.  In SPARSE or OUTSIDE CORPUS, I3 drops below I1 baseline.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1F5B4F"/>
          </a:solidFill>
          <a:ln w="12700">
            <a:solidFill>
              <a:srgbClr val="1F5B4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matters most: whether your corpus contains the answer — not which model you use.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goes from here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2633472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7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6304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975104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 corpus coverage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2414016"/>
            <a:ext cx="2304288" cy="0"/>
          </a:xfrm>
          <a:prstGeom prst="line">
            <a:avLst/>
          </a:prstGeom>
          <a:noFill/>
          <a:ln w="10160">
            <a:solidFill>
              <a:srgbClr val="D9DF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505456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questions scored low simply because those topics are absent from the dataset. Adding targeted articles directly improves answer quality — no model changes needed.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46704" y="1353312"/>
            <a:ext cx="2633472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7D1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1296" y="146304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11296" y="1975104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expert evaluation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11296" y="2414016"/>
            <a:ext cx="2304288" cy="0"/>
          </a:xfrm>
          <a:prstGeom prst="line">
            <a:avLst/>
          </a:prstGeom>
          <a:noFill/>
          <a:ln w="10160">
            <a:solidFill>
              <a:srgbClr val="D9DF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1296" y="2505456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AI-judge ratings are a useful proxy, but the real test is whether domain experts agree — and whether the system's answers would actually influence clinical decisions.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6208" y="1353312"/>
            <a:ext cx="2633472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7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46304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1975104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Possible services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2414016"/>
            <a:ext cx="2304288" cy="0"/>
          </a:xfrm>
          <a:prstGeom prst="line">
            <a:avLst/>
          </a:prstGeom>
          <a:noFill/>
          <a:ln w="10160">
            <a:solidFill>
              <a:srgbClr val="D9DF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505456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retrieval-augmented architecture is modular and production-ready. Potential applications include clinical decision support, literature review assistance, and research Q&amp;A tooling.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1F5B4F"/>
          </a:solidFill>
          <a:ln w="12700">
            <a:solidFill>
              <a:srgbClr val="1F5B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 data coverage and real-world validation are the two levers that matter most going forward.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Q&amp;A Evaluation — Capstone I</dc:title>
  <dc:subject>PptxGenJS Presentation</dc:subject>
  <dc:creator>PptxGenJS</dc:creator>
  <cp:lastModifiedBy>PptxGenJS</cp:lastModifiedBy>
  <cp:revision>1</cp:revision>
  <dcterms:created xsi:type="dcterms:W3CDTF">2026-03-24T12:56:59Z</dcterms:created>
  <dcterms:modified xsi:type="dcterms:W3CDTF">2026-03-24T12:56:59Z</dcterms:modified>
</cp:coreProperties>
</file>